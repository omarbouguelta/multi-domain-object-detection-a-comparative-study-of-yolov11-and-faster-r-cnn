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 id="2147483742" r:id="rId2"/>
    <p:sldMasterId id="2147483754" r:id="rId3"/>
  </p:sldMasterIdLst>
  <p:notesMasterIdLst>
    <p:notesMasterId r:id="rId32"/>
  </p:notesMasterIdLst>
  <p:sldIdLst>
    <p:sldId id="269" r:id="rId4"/>
    <p:sldId id="271" r:id="rId5"/>
    <p:sldId id="256" r:id="rId6"/>
    <p:sldId id="272" r:id="rId7"/>
    <p:sldId id="257" r:id="rId8"/>
    <p:sldId id="295" r:id="rId9"/>
    <p:sldId id="273" r:id="rId10"/>
    <p:sldId id="274" r:id="rId11"/>
    <p:sldId id="275" r:id="rId12"/>
    <p:sldId id="276" r:id="rId13"/>
    <p:sldId id="277" r:id="rId14"/>
    <p:sldId id="278" r:id="rId15"/>
    <p:sldId id="279" r:id="rId16"/>
    <p:sldId id="280" r:id="rId17"/>
    <p:sldId id="297" r:id="rId18"/>
    <p:sldId id="282" r:id="rId19"/>
    <p:sldId id="286" r:id="rId20"/>
    <p:sldId id="283" r:id="rId21"/>
    <p:sldId id="284" r:id="rId22"/>
    <p:sldId id="285" r:id="rId23"/>
    <p:sldId id="287" r:id="rId24"/>
    <p:sldId id="288" r:id="rId25"/>
    <p:sldId id="289" r:id="rId26"/>
    <p:sldId id="291" r:id="rId27"/>
    <p:sldId id="290" r:id="rId28"/>
    <p:sldId id="293" r:id="rId29"/>
    <p:sldId id="294" r:id="rId30"/>
    <p:sldId id="296" r:id="rId3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06CE"/>
    <a:srgbClr val="1CA6DB"/>
    <a:srgbClr val="91C1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382DEA-9B3D-4DE3-BC8E-EE75CF32D5FE}" type="datetimeFigureOut">
              <a:rPr lang="fr-FR" smtClean="0"/>
              <a:t>24/03/2026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FF56C-67AD-4B43-A69C-AFDA004783CF}" type="slidenum">
              <a:rPr lang="fr-FR" smtClean="0"/>
              <a:t>‹N°›</a:t>
            </a:fld>
            <a:endParaRPr lang="fr-FR"/>
          </a:p>
        </p:txBody>
      </p:sp>
    </p:spTree>
    <p:extLst>
      <p:ext uri="{BB962C8B-B14F-4D97-AF65-F5344CB8AC3E}">
        <p14:creationId xmlns:p14="http://schemas.microsoft.com/office/powerpoint/2010/main" val="932265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372FF660-2E5C-4A5D-91E2-BF2F9B1AAC7E}" type="slidenum">
              <a:rPr lang="fr-FR" smtClean="0"/>
              <a:pPr/>
              <a:t>1</a:t>
            </a:fld>
            <a:endParaRPr lang="fr-FR" dirty="0"/>
          </a:p>
        </p:txBody>
      </p:sp>
    </p:spTree>
    <p:extLst>
      <p:ext uri="{BB962C8B-B14F-4D97-AF65-F5344CB8AC3E}">
        <p14:creationId xmlns:p14="http://schemas.microsoft.com/office/powerpoint/2010/main" val="906459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372FF660-2E5C-4A5D-91E2-BF2F9B1AAC7E}" type="slidenum">
              <a:rPr lang="fr-FR" smtClean="0"/>
              <a:pPr/>
              <a:t>2</a:t>
            </a:fld>
            <a:endParaRPr lang="fr-FR" dirty="0"/>
          </a:p>
        </p:txBody>
      </p:sp>
    </p:spTree>
    <p:extLst>
      <p:ext uri="{BB962C8B-B14F-4D97-AF65-F5344CB8AC3E}">
        <p14:creationId xmlns:p14="http://schemas.microsoft.com/office/powerpoint/2010/main" val="523357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A0FF56C-67AD-4B43-A69C-AFDA004783CF}" type="slidenum">
              <a:rPr lang="fr-FR" smtClean="0"/>
              <a:t>22</a:t>
            </a:fld>
            <a:endParaRPr lang="fr-FR"/>
          </a:p>
        </p:txBody>
      </p:sp>
    </p:spTree>
    <p:extLst>
      <p:ext uri="{BB962C8B-B14F-4D97-AF65-F5344CB8AC3E}">
        <p14:creationId xmlns:p14="http://schemas.microsoft.com/office/powerpoint/2010/main" val="1773214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83BEE-A3B5-F0CD-01D8-E2CC7E5AF1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92EED906-2E0D-F6AF-3DD9-D0481FBCB3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3307C7C0-4210-EE85-33A1-F2587B87CCDA}"/>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5" name="Footer Placeholder 4">
            <a:extLst>
              <a:ext uri="{FF2B5EF4-FFF2-40B4-BE49-F238E27FC236}">
                <a16:creationId xmlns:a16="http://schemas.microsoft.com/office/drawing/2014/main" id="{5F7CDBED-CB3E-1579-FAF2-01EA0492679B}"/>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539601C6-1CF6-7B53-A851-CA6AB57C8C56}"/>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3232582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BA91B-1C03-D319-3463-E9D243B2CCE1}"/>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12E61F62-EAC3-3EB7-2EE5-E202A9D500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872FB5F9-3377-BD49-CE2B-A3AE523D7300}"/>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5" name="Footer Placeholder 4">
            <a:extLst>
              <a:ext uri="{FF2B5EF4-FFF2-40B4-BE49-F238E27FC236}">
                <a16:creationId xmlns:a16="http://schemas.microsoft.com/office/drawing/2014/main" id="{15E587EA-6F85-AA1E-13D5-92DCDB0847D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B550B27A-3BEF-9DFF-B5AB-4B571AAFE19E}"/>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2081960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D50DD-425D-7660-DE5B-65DD092683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52B82338-3928-2E38-4E64-36CDD76277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E2776E-CA86-7C86-3DBE-7B77047760C6}"/>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5" name="Footer Placeholder 4">
            <a:extLst>
              <a:ext uri="{FF2B5EF4-FFF2-40B4-BE49-F238E27FC236}">
                <a16:creationId xmlns:a16="http://schemas.microsoft.com/office/drawing/2014/main" id="{5EBA2B9E-A20D-903A-D041-51BBDEE1A96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B1F0C926-F042-F5B1-B4C3-05D94B153FCB}"/>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3407278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D8B44-52F7-CD84-105D-2EC8BF1B54E6}"/>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462B4F01-1B6B-7533-3748-1C20664D9F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47A20D97-D94E-B4A3-24F8-B2AB18C864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50BE1B86-4E11-48FE-551B-896BEBC98535}"/>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6" name="Footer Placeholder 5">
            <a:extLst>
              <a:ext uri="{FF2B5EF4-FFF2-40B4-BE49-F238E27FC236}">
                <a16:creationId xmlns:a16="http://schemas.microsoft.com/office/drawing/2014/main" id="{D8415062-DCE9-687A-D7FC-8E0D9CC1B64A}"/>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BC1B04BC-22F2-08E9-387B-A235ADD5C7AA}"/>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4024117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231D-BB1A-F308-5635-8DF387D2F898}"/>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317F57FA-DD24-B1BE-E037-F03117A9EB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5AA34B-8DA3-41A5-0F9B-AB8CDE5476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24B18CD6-61CA-F711-88CF-0B712BB9D9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FA4DEF-7A73-B063-985A-DB6D6D8C08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1A038C16-B043-BAE9-3C6F-8B8DCBFB7A12}"/>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8" name="Footer Placeholder 7">
            <a:extLst>
              <a:ext uri="{FF2B5EF4-FFF2-40B4-BE49-F238E27FC236}">
                <a16:creationId xmlns:a16="http://schemas.microsoft.com/office/drawing/2014/main" id="{C41B6567-2C5E-0C2D-F5AB-073F60D69229}"/>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9504A4F0-40F1-911A-3DB6-44BF55393410}"/>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1989694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56544-087E-17C4-9759-9F35682E3AEC}"/>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AFF6529C-BA58-2023-1AA3-1757EBE88373}"/>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4" name="Footer Placeholder 3">
            <a:extLst>
              <a:ext uri="{FF2B5EF4-FFF2-40B4-BE49-F238E27FC236}">
                <a16:creationId xmlns:a16="http://schemas.microsoft.com/office/drawing/2014/main" id="{356FD45C-39C3-B55E-A967-26D173B27FC4}"/>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E138411D-12DA-DE5C-35C4-2897E8D6A5A5}"/>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338919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3729B7-CB7B-3ADD-2423-C166CA491D86}"/>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3" name="Footer Placeholder 2">
            <a:extLst>
              <a:ext uri="{FF2B5EF4-FFF2-40B4-BE49-F238E27FC236}">
                <a16:creationId xmlns:a16="http://schemas.microsoft.com/office/drawing/2014/main" id="{407585B6-890A-A0A8-23FB-C75FF372BCDB}"/>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CB36E893-FFFC-A0DA-975A-37D38F579692}"/>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1804656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8D45-939E-633A-1D03-CCA1CF6900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A1DEE6B7-CB6A-04F1-E090-D0993DC501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2A3102C4-B4A3-452B-39DA-048F9137A6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57BF9D-D591-D6FC-9DB4-8DD0EA4486AE}"/>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6" name="Footer Placeholder 5">
            <a:extLst>
              <a:ext uri="{FF2B5EF4-FFF2-40B4-BE49-F238E27FC236}">
                <a16:creationId xmlns:a16="http://schemas.microsoft.com/office/drawing/2014/main" id="{5040BA0A-F044-1595-4F90-62018157900A}"/>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31DFBD7F-A6B2-BF07-8F67-B04BB4FF84FF}"/>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90830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86537-C1ED-5E4C-016B-F26DB553E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19AA40CD-5299-6009-575F-15EE712A7D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B988CB02-478F-BBDE-2D60-F818DC7963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DDD658-A0C5-96B3-4FF9-1C5046FADB9A}"/>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6" name="Footer Placeholder 5">
            <a:extLst>
              <a:ext uri="{FF2B5EF4-FFF2-40B4-BE49-F238E27FC236}">
                <a16:creationId xmlns:a16="http://schemas.microsoft.com/office/drawing/2014/main" id="{27319192-FF67-BE7C-EEE9-DF1413FDA512}"/>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0C9DE15C-1536-D78F-81BF-C3DD46E74C58}"/>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3324035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1B274-AEAC-1EBE-14E3-056E5BF023CC}"/>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EC990319-C656-9DB6-5CAF-EA42A24658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C86A67CC-1B66-660F-E6DA-EA887550697D}"/>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5" name="Footer Placeholder 4">
            <a:extLst>
              <a:ext uri="{FF2B5EF4-FFF2-40B4-BE49-F238E27FC236}">
                <a16:creationId xmlns:a16="http://schemas.microsoft.com/office/drawing/2014/main" id="{9509C957-DEE6-60D8-2CBD-750639BC0F3A}"/>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5FC5375D-60AA-0FD7-3DBC-C3212B13C392}"/>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547637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6E5EF3-ADF0-6B3F-A2FF-3CF33D3410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AF346DD6-B880-204E-73B3-2AA434AC3B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4C9C4F05-EBF5-9038-345D-37E6D9511963}"/>
              </a:ext>
            </a:extLst>
          </p:cNvPr>
          <p:cNvSpPr>
            <a:spLocks noGrp="1"/>
          </p:cNvSpPr>
          <p:nvPr>
            <p:ph type="dt" sz="half" idx="10"/>
          </p:nvPr>
        </p:nvSpPr>
        <p:spPr/>
        <p:txBody>
          <a:bodyPr/>
          <a:lstStyle/>
          <a:p>
            <a:fld id="{23E869ED-6141-48C2-AA28-F4B8A95FB244}" type="datetimeFigureOut">
              <a:rPr lang="fr-FR" smtClean="0"/>
              <a:t>24/03/2026</a:t>
            </a:fld>
            <a:endParaRPr lang="fr-FR"/>
          </a:p>
        </p:txBody>
      </p:sp>
      <p:sp>
        <p:nvSpPr>
          <p:cNvPr id="5" name="Footer Placeholder 4">
            <a:extLst>
              <a:ext uri="{FF2B5EF4-FFF2-40B4-BE49-F238E27FC236}">
                <a16:creationId xmlns:a16="http://schemas.microsoft.com/office/drawing/2014/main" id="{58BE03C1-FFA8-5804-8291-54911462A733}"/>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3418BAD-DA96-D7F6-FEFA-EE8712FA98C9}"/>
              </a:ext>
            </a:extLst>
          </p:cNvPr>
          <p:cNvSpPr>
            <a:spLocks noGrp="1"/>
          </p:cNvSpPr>
          <p:nvPr>
            <p:ph type="sldNum" sz="quarter" idx="12"/>
          </p:nvPr>
        </p:nvSpPr>
        <p:spPr/>
        <p:txBody>
          <a:bodyPr/>
          <a:lstStyle/>
          <a:p>
            <a:fld id="{25507717-424E-48F3-9DCD-B2C121DEBBB9}" type="slidenum">
              <a:rPr lang="fr-FR" smtClean="0"/>
              <a:t>‹N°›</a:t>
            </a:fld>
            <a:endParaRPr lang="fr-FR"/>
          </a:p>
        </p:txBody>
      </p:sp>
    </p:spTree>
    <p:extLst>
      <p:ext uri="{BB962C8B-B14F-4D97-AF65-F5344CB8AC3E}">
        <p14:creationId xmlns:p14="http://schemas.microsoft.com/office/powerpoint/2010/main" val="980637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C5786-E240-2F26-ADCE-C2F4169946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4A59719D-8771-5B6D-350F-AD11D6E486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EE7100ED-524A-CBFD-D70B-4BA55DD8EF9F}"/>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a:extLst>
              <a:ext uri="{FF2B5EF4-FFF2-40B4-BE49-F238E27FC236}">
                <a16:creationId xmlns:a16="http://schemas.microsoft.com/office/drawing/2014/main" id="{C49E9BE2-96C0-1D87-C4DD-05EFF0269125}"/>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FF110FA-C104-5E09-2A21-88ED205E32F7}"/>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920086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DF824-99EC-CF1F-634B-9E440717D789}"/>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92537723-C4D1-FF29-F950-109EC1A7D0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0D8FACF4-A4B4-0CFE-D563-EF2B22D4FF3D}"/>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a:extLst>
              <a:ext uri="{FF2B5EF4-FFF2-40B4-BE49-F238E27FC236}">
                <a16:creationId xmlns:a16="http://schemas.microsoft.com/office/drawing/2014/main" id="{C94EBEF7-245E-C73A-A26E-6B840302804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FF7EBBA-B08B-5C49-0BFA-A771C064B079}"/>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4618806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4D6D0-F9A4-EA94-CF5D-C77649E4C7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8FE79349-8921-6526-8F39-B370D64583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F3100-84A1-45A3-5E93-1165DCB7DF97}"/>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a:extLst>
              <a:ext uri="{FF2B5EF4-FFF2-40B4-BE49-F238E27FC236}">
                <a16:creationId xmlns:a16="http://schemas.microsoft.com/office/drawing/2014/main" id="{EF2D58CB-DFB5-F4D1-97D8-E9A0212E30B1}"/>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BAD3D288-C102-2BF1-3D11-CE3D57218A19}"/>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4025482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6DED8-82E4-A4DD-2424-AECBD0AAD8C5}"/>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24D457BC-4186-1016-AA37-CD8E0C57D3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8CF54792-02E7-266F-0294-329C6DEA14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1ACFCF3F-285D-DD52-639F-AFEA8936C87D}"/>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6" name="Footer Placeholder 5">
            <a:extLst>
              <a:ext uri="{FF2B5EF4-FFF2-40B4-BE49-F238E27FC236}">
                <a16:creationId xmlns:a16="http://schemas.microsoft.com/office/drawing/2014/main" id="{EB1BA76F-FB51-36A0-540B-B4735F91056B}"/>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B7C4C2D7-DF01-EB7C-DE83-7A9E8D6D8270}"/>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20731621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D8A7E-2D8E-94D0-D37B-1C0EEA5D57E2}"/>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D7662F11-6AAB-FB6E-2055-0B388D0159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01C81D-B0AB-1E1E-8D95-D86086849F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DBF21BB9-52C7-0A2C-4C1E-5AE0F99366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E542B5-641C-72BF-D4FC-A8A082BE16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4A5B4CBD-1F58-AEAF-3958-B84FF392C4A1}"/>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8" name="Footer Placeholder 7">
            <a:extLst>
              <a:ext uri="{FF2B5EF4-FFF2-40B4-BE49-F238E27FC236}">
                <a16:creationId xmlns:a16="http://schemas.microsoft.com/office/drawing/2014/main" id="{B67D30A7-F8BF-9F8A-CC57-53DAA7590400}"/>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35F9B339-5BD6-DE22-87A4-7A6CC3AA5224}"/>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11552220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B9F-A2B1-B33A-7854-0AA4D5E24022}"/>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FBD77AF6-35C6-52AF-1D26-5BFC1644E96C}"/>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4" name="Footer Placeholder 3">
            <a:extLst>
              <a:ext uri="{FF2B5EF4-FFF2-40B4-BE49-F238E27FC236}">
                <a16:creationId xmlns:a16="http://schemas.microsoft.com/office/drawing/2014/main" id="{188A7016-5343-6219-D6CD-105F9745D8BE}"/>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8A089C6A-FE5E-A3E8-3965-5F95A8830328}"/>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1545863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C4A83-E073-6689-14CD-5E2EA6A3AEBA}"/>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3" name="Footer Placeholder 2">
            <a:extLst>
              <a:ext uri="{FF2B5EF4-FFF2-40B4-BE49-F238E27FC236}">
                <a16:creationId xmlns:a16="http://schemas.microsoft.com/office/drawing/2014/main" id="{64BCA0B2-EA40-7269-A790-F2DD7D754E73}"/>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1E333C9A-7B89-F57F-F31C-C3F2F140D207}"/>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6792219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4206A-46EE-EF9F-4E19-2664C20DE1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EB893DEB-E4EF-8D86-735E-21FD521B30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F525FCEB-21EE-8A53-9DAB-3A55DD124B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D5430C-C745-7DE6-03E5-C5141634403E}"/>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6" name="Footer Placeholder 5">
            <a:extLst>
              <a:ext uri="{FF2B5EF4-FFF2-40B4-BE49-F238E27FC236}">
                <a16:creationId xmlns:a16="http://schemas.microsoft.com/office/drawing/2014/main" id="{864804E3-29D6-A681-8925-DC0C23554DAE}"/>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BC123BF8-A988-2795-F733-487C2DB407CE}"/>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354162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EE7C4-4D76-BAB6-AB18-21A5BD5221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9790384D-D48E-00FD-7160-FE7D127D07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17289CA6-913F-50E9-60D5-A058B70285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53FBCE-8C65-797F-5D78-FEBF7EA97629}"/>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6" name="Footer Placeholder 5">
            <a:extLst>
              <a:ext uri="{FF2B5EF4-FFF2-40B4-BE49-F238E27FC236}">
                <a16:creationId xmlns:a16="http://schemas.microsoft.com/office/drawing/2014/main" id="{86201017-17B0-3458-61E7-FDD46BED8AB4}"/>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4329660A-FE11-3DCE-6039-EBC16365285C}"/>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0558160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10EFD-A150-BE59-A260-365582B9F511}"/>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A4BE1F13-A7B6-5034-1FB7-313BC174C1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A31B393A-61B2-B3F3-469A-256DBDC6E2F0}"/>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a:extLst>
              <a:ext uri="{FF2B5EF4-FFF2-40B4-BE49-F238E27FC236}">
                <a16:creationId xmlns:a16="http://schemas.microsoft.com/office/drawing/2014/main" id="{10ECB882-F183-A304-C519-7CFDD65FA6DD}"/>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A6DC5AC7-5EDB-F979-6961-0F77CEBDDA12}"/>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571121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94E853-5326-9B95-42E6-A7BBC4DB1A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3B718A59-5F30-C329-8D14-A2ED4398A8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BCB8DB24-F37B-4675-4050-155BB48E836D}"/>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a:extLst>
              <a:ext uri="{FF2B5EF4-FFF2-40B4-BE49-F238E27FC236}">
                <a16:creationId xmlns:a16="http://schemas.microsoft.com/office/drawing/2014/main" id="{3840D6F0-57B9-7484-8CBE-2CE1FA7F413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51DDD4E-6B32-CF69-70D6-078EEA85CA4A}"/>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0074368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345C7-6257-B8A8-D873-44B48A9CD8EC}"/>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E0B63FA3-ECB8-281F-04FF-515CF5B89C60}"/>
              </a:ext>
            </a:extLst>
          </p:cNvPr>
          <p:cNvSpPr>
            <a:spLocks noGrp="1"/>
          </p:cNvSpPr>
          <p:nvPr>
            <p:ph type="dt" sz="half" idx="10"/>
          </p:nvPr>
        </p:nvSpPr>
        <p:spPr/>
        <p:txBody>
          <a:bodyPr/>
          <a:lstStyle/>
          <a:p>
            <a:fld id="{18D3648E-E53C-4517-BCC5-31D82A8367B9}" type="datetimeFigureOut">
              <a:rPr lang="fr-FR" smtClean="0"/>
              <a:t>24/03/2026</a:t>
            </a:fld>
            <a:endParaRPr lang="fr-FR"/>
          </a:p>
        </p:txBody>
      </p:sp>
      <p:sp>
        <p:nvSpPr>
          <p:cNvPr id="4" name="Footer Placeholder 3">
            <a:extLst>
              <a:ext uri="{FF2B5EF4-FFF2-40B4-BE49-F238E27FC236}">
                <a16:creationId xmlns:a16="http://schemas.microsoft.com/office/drawing/2014/main" id="{BE76557A-E08C-B699-2936-B29678FD07B4}"/>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02838069-370F-B893-43F8-9753477BDD85}"/>
              </a:ext>
            </a:extLst>
          </p:cNvPr>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2256932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3958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063433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27848831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2099371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D3648E-E53C-4517-BCC5-31D82A8367B9}" type="datetimeFigureOut">
              <a:rPr lang="fr-FR" smtClean="0"/>
              <a:t>24/03/2026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23101608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D3648E-E53C-4517-BCC5-31D82A8367B9}" type="datetimeFigureOut">
              <a:rPr lang="fr-FR" smtClean="0"/>
              <a:t>24/03/2026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6929429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D3648E-E53C-4517-BCC5-31D82A8367B9}" type="datetimeFigureOut">
              <a:rPr lang="fr-FR" smtClean="0"/>
              <a:t>24/03/2026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8761496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3648E-E53C-4517-BCC5-31D82A8367B9}" type="datetimeFigureOut">
              <a:rPr lang="fr-FR" smtClean="0"/>
              <a:t>24/03/2026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13121410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D3648E-E53C-4517-BCC5-31D82A8367B9}" type="datetimeFigureOut">
              <a:rPr lang="fr-FR" smtClean="0"/>
              <a:t>24/03/2026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3322873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3648E-E53C-4517-BCC5-31D82A8367B9}" type="datetimeFigureOut">
              <a:rPr lang="fr-FR" smtClean="0"/>
              <a:t>24/03/2026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7302986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7878385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AFDDBCF-F77B-46CB-9A3C-A81667A56C27}"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844880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41918170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AFDDBCF-F77B-46CB-9A3C-A81667A56C27}"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066195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18192653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24332016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D3648E-E53C-4517-BCC5-31D82A8367B9}" type="datetimeFigureOut">
              <a:rPr lang="fr-FR" smtClean="0"/>
              <a:t>24/03/2026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AFDDBCF-F77B-46CB-9A3C-A81667A56C27}" type="slidenum">
              <a:rPr lang="fr-FR" smtClean="0"/>
              <a:t>‹N°›</a:t>
            </a:fld>
            <a:endParaRPr lang="fr-FR"/>
          </a:p>
        </p:txBody>
      </p:sp>
    </p:spTree>
    <p:extLst>
      <p:ext uri="{BB962C8B-B14F-4D97-AF65-F5344CB8AC3E}">
        <p14:creationId xmlns:p14="http://schemas.microsoft.com/office/powerpoint/2010/main" val="3244457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31B400-4F5A-D666-A7F5-D28562A46A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EFA6B7A2-BBDE-648F-A7CA-549EDB6E27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381162C4-64E7-B0CD-F6A7-D30BE3931B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E869ED-6141-48C2-AA28-F4B8A95FB244}" type="datetimeFigureOut">
              <a:rPr lang="fr-FR" smtClean="0"/>
              <a:t>24/03/2026</a:t>
            </a:fld>
            <a:endParaRPr lang="fr-FR"/>
          </a:p>
        </p:txBody>
      </p:sp>
      <p:sp>
        <p:nvSpPr>
          <p:cNvPr id="5" name="Footer Placeholder 4">
            <a:extLst>
              <a:ext uri="{FF2B5EF4-FFF2-40B4-BE49-F238E27FC236}">
                <a16:creationId xmlns:a16="http://schemas.microsoft.com/office/drawing/2014/main" id="{16D9786B-01BB-D145-30F6-ACBA739912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5A976C22-FDF3-F086-07C6-E4D03C8457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507717-424E-48F3-9DCD-B2C121DEBBB9}" type="slidenum">
              <a:rPr lang="fr-FR" smtClean="0"/>
              <a:t>‹N°›</a:t>
            </a:fld>
            <a:endParaRPr lang="fr-FR"/>
          </a:p>
        </p:txBody>
      </p:sp>
    </p:spTree>
    <p:extLst>
      <p:ext uri="{BB962C8B-B14F-4D97-AF65-F5344CB8AC3E}">
        <p14:creationId xmlns:p14="http://schemas.microsoft.com/office/powerpoint/2010/main" val="287328768"/>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99E90A-A81D-A501-B718-6E4E5127BF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DE4A4A7E-2534-0C19-3C44-34487C3315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189F893F-A840-6F1A-A4AD-A94C2AA31C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3648E-E53C-4517-BCC5-31D82A8367B9}" type="datetimeFigureOut">
              <a:rPr lang="fr-FR" smtClean="0"/>
              <a:t>24/03/2026</a:t>
            </a:fld>
            <a:endParaRPr lang="fr-FR"/>
          </a:p>
        </p:txBody>
      </p:sp>
      <p:sp>
        <p:nvSpPr>
          <p:cNvPr id="5" name="Footer Placeholder 4">
            <a:extLst>
              <a:ext uri="{FF2B5EF4-FFF2-40B4-BE49-F238E27FC236}">
                <a16:creationId xmlns:a16="http://schemas.microsoft.com/office/drawing/2014/main" id="{1608EC9E-8F88-E178-FF98-B0C32C11AC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7538CA11-EE84-F4C8-2B01-46A072971A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FDDBCF-F77B-46CB-9A3C-A81667A56C27}" type="slidenum">
              <a:rPr lang="fr-FR" smtClean="0"/>
              <a:t>‹N°›</a:t>
            </a:fld>
            <a:endParaRPr lang="fr-FR"/>
          </a:p>
        </p:txBody>
      </p:sp>
    </p:spTree>
    <p:extLst>
      <p:ext uri="{BB962C8B-B14F-4D97-AF65-F5344CB8AC3E}">
        <p14:creationId xmlns:p14="http://schemas.microsoft.com/office/powerpoint/2010/main" val="2000154224"/>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7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3E869ED-6141-48C2-AA28-F4B8A95FB244}" type="datetimeFigureOut">
              <a:rPr lang="fr-FR" smtClean="0"/>
              <a:t>24/03/2026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5507717-424E-48F3-9DCD-B2C121DEBBB9}" type="slidenum">
              <a:rPr lang="fr-FR" smtClean="0"/>
              <a:t>‹N°›</a:t>
            </a:fld>
            <a:endParaRPr lang="fr-FR"/>
          </a:p>
        </p:txBody>
      </p:sp>
    </p:spTree>
    <p:extLst>
      <p:ext uri="{BB962C8B-B14F-4D97-AF65-F5344CB8AC3E}">
        <p14:creationId xmlns:p14="http://schemas.microsoft.com/office/powerpoint/2010/main" val="186940074"/>
      </p:ext>
    </p:extLst>
  </p:cSld>
  <p:clrMap bg1="lt1" tx1="dk1" bg2="lt2" tx2="dk2" accent1="accent1" accent2="accent2" accent3="accent3" accent4="accent4" accent5="accent5" accent6="accent6" hlink="hlink" folHlink="folHlink"/>
  <p:sldLayoutIdLst>
    <p:sldLayoutId id="2147483772"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61">
            <a:extLst>
              <a:ext uri="{FF2B5EF4-FFF2-40B4-BE49-F238E27FC236}">
                <a16:creationId xmlns:a16="http://schemas.microsoft.com/office/drawing/2014/main" id="{52BF1CB9-C326-4A39-9170-D955C95AD921}"/>
              </a:ext>
            </a:extLst>
          </p:cNvPr>
          <p:cNvPicPr>
            <a:picLocks noChangeAspect="1"/>
          </p:cNvPicPr>
          <p:nvPr/>
        </p:nvPicPr>
        <p:blipFill>
          <a:blip r:embed="rId3"/>
          <a:stretch>
            <a:fillRect/>
          </a:stretch>
        </p:blipFill>
        <p:spPr>
          <a:xfrm>
            <a:off x="0" y="0"/>
            <a:ext cx="9700138" cy="6858000"/>
          </a:xfrm>
          <a:prstGeom prst="rect">
            <a:avLst/>
          </a:prstGeom>
          <a:noFill/>
          <a:ln cap="flat">
            <a:noFill/>
          </a:ln>
        </p:spPr>
      </p:pic>
      <p:sp>
        <p:nvSpPr>
          <p:cNvPr id="3" name="ZoneTexte 63">
            <a:extLst>
              <a:ext uri="{FF2B5EF4-FFF2-40B4-BE49-F238E27FC236}">
                <a16:creationId xmlns:a16="http://schemas.microsoft.com/office/drawing/2014/main" id="{5F5C0973-DCB0-4C99-AC42-3942E86E8367}"/>
              </a:ext>
            </a:extLst>
          </p:cNvPr>
          <p:cNvSpPr txBox="1"/>
          <p:nvPr/>
        </p:nvSpPr>
        <p:spPr>
          <a:xfrm>
            <a:off x="1120880" y="0"/>
            <a:ext cx="9468465" cy="2217915"/>
          </a:xfrm>
          <a:prstGeom prst="rect">
            <a:avLst/>
          </a:prstGeom>
          <a:noFill/>
          <a:ln cap="flat">
            <a:noFill/>
          </a:ln>
        </p:spPr>
        <p:txBody>
          <a:bodyPr vert="horz" wrap="square" lIns="91440" tIns="45720" rIns="91440" bIns="45720" anchor="t" anchorCtr="1" compatLnSpc="1">
            <a:spAutoFit/>
          </a:bodyPr>
          <a:lstStyle/>
          <a:p>
            <a:pPr marL="0" marR="1085850" lvl="0" indent="0" algn="ct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ar-DZ" sz="1600" b="1" i="0" u="none" strike="noStrike" kern="1200" cap="none" spc="0" baseline="0" dirty="0">
                <a:solidFill>
                  <a:srgbClr val="000000"/>
                </a:solidFill>
                <a:uFillTx/>
                <a:latin typeface="Cambria" pitchFamily="18"/>
                <a:ea typeface="Times New Roman" pitchFamily="18"/>
                <a:cs typeface="Times New Roman" pitchFamily="18"/>
              </a:rPr>
              <a:t>الجمهوريــــــــــــــــــــــة الجزائريـــــــــــة الديمقراطيـــــــــة الشعبيـــــــة</a:t>
            </a:r>
            <a:endParaRPr lang="fr-FR" sz="1600" b="0" i="0" u="none" strike="noStrike" kern="1200" cap="none" spc="0" baseline="0" dirty="0">
              <a:solidFill>
                <a:srgbClr val="000000"/>
              </a:solidFill>
              <a:uFillTx/>
              <a:latin typeface="Cambria" pitchFamily="18"/>
              <a:ea typeface="Times New Roman" pitchFamily="18"/>
              <a:cs typeface="Times New Roman" pitchFamily="18"/>
            </a:endParaRPr>
          </a:p>
          <a:p>
            <a:pPr marL="0" marR="1085850" lvl="0" indent="0" algn="ct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ar-DZ" sz="1600" b="1" i="0" u="none" strike="noStrike" kern="1200" cap="none" spc="0" baseline="0" dirty="0">
                <a:solidFill>
                  <a:srgbClr val="000000"/>
                </a:solidFill>
                <a:uFillTx/>
                <a:latin typeface="Calibri" pitchFamily="34"/>
                <a:ea typeface="Calibri" pitchFamily="34"/>
                <a:cs typeface="Times New Roman" pitchFamily="18"/>
              </a:rPr>
              <a:t>وزارة التعليـــــــــــم العـــــــــــالي والبحـــــــــث  العلـــــــمي</a:t>
            </a:r>
            <a:endParaRPr lang="fr-FR" sz="1400" b="0" i="0" u="none" strike="noStrike" kern="1200" cap="none" spc="0" baseline="0" dirty="0">
              <a:solidFill>
                <a:srgbClr val="000000"/>
              </a:solidFill>
              <a:uFillTx/>
              <a:latin typeface="Calibri" pitchFamily="34"/>
              <a:ea typeface="Calibri" pitchFamily="34"/>
            </a:endParaRPr>
          </a:p>
          <a:p>
            <a:pPr marL="0" marR="1085850" lvl="0" indent="0" algn="ct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ar-DZ" sz="1600" b="1" i="0" u="none" strike="noStrike" kern="1200" cap="none" spc="0" baseline="0" dirty="0">
                <a:solidFill>
                  <a:srgbClr val="000000"/>
                </a:solidFill>
                <a:uFillTx/>
                <a:latin typeface="Calibri" pitchFamily="34"/>
                <a:ea typeface="Calibri" pitchFamily="34"/>
                <a:cs typeface="Times New Roman" pitchFamily="18"/>
              </a:rPr>
              <a:t>جامعة وهران للعلوم والتكنولوجيا محمد بوضياف</a:t>
            </a:r>
            <a:endParaRPr lang="fr-FR" sz="1400" b="0" i="0" u="none" strike="noStrike" kern="1200" cap="none" spc="0" baseline="0" dirty="0">
              <a:solidFill>
                <a:srgbClr val="000000"/>
              </a:solidFill>
              <a:uFillTx/>
              <a:latin typeface="Calibri" pitchFamily="34"/>
              <a:ea typeface="Calibri" pitchFamily="34"/>
            </a:endParaRPr>
          </a:p>
          <a:p>
            <a:pPr marL="0" marR="1085850" lvl="0" indent="0" algn="ct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ar-DZ" sz="1600" b="1" i="0" u="none" strike="noStrike" kern="1200" cap="none" spc="0" baseline="0" dirty="0">
                <a:solidFill>
                  <a:srgbClr val="000000"/>
                </a:solidFill>
                <a:uFillTx/>
                <a:latin typeface="Calibri" pitchFamily="34"/>
                <a:ea typeface="Calibri" pitchFamily="34"/>
                <a:cs typeface="Times New Roman" pitchFamily="18"/>
              </a:rPr>
              <a:t>كلية الرياضيات والاعلام الالي </a:t>
            </a:r>
            <a:endParaRPr lang="fr-FR" sz="1400" b="0" i="0" u="none" strike="noStrike" kern="1200" cap="none" spc="0" baseline="0" dirty="0">
              <a:solidFill>
                <a:srgbClr val="000000"/>
              </a:solidFill>
              <a:uFillTx/>
              <a:latin typeface="Calibri" pitchFamily="34"/>
              <a:ea typeface="Calibri" pitchFamily="34"/>
            </a:endParaRPr>
          </a:p>
          <a:p>
            <a:pPr marL="1576068" marR="1714500" lvl="0" indent="30476" algn="ct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ar-SA" sz="1600" b="1" i="0" u="none" strike="noStrike" kern="1200" cap="none" spc="0" baseline="0" dirty="0">
                <a:solidFill>
                  <a:srgbClr val="000000"/>
                </a:solidFill>
                <a:uFillTx/>
                <a:latin typeface="Calibri" pitchFamily="34"/>
                <a:ea typeface="Calibri" pitchFamily="34"/>
                <a:cs typeface="Times New Roman" pitchFamily="18"/>
              </a:rPr>
              <a:t>			 </a:t>
            </a:r>
            <a:endParaRPr lang="fr-FR" sz="1400" b="0" i="0" u="none" strike="noStrike" kern="1200" cap="none" spc="0" baseline="0" dirty="0">
              <a:solidFill>
                <a:srgbClr val="000000"/>
              </a:solidFill>
              <a:uFillTx/>
              <a:latin typeface="Calibri" pitchFamily="34"/>
              <a:ea typeface="Calibri" pitchFamily="34"/>
            </a:endParaRPr>
          </a:p>
          <a:p>
            <a:pPr marL="2524128" marR="1250954" lvl="0" indent="0" algn="ctr" defTabSz="914400" rtl="0" fontAlgn="auto" hangingPunct="1">
              <a:lnSpc>
                <a:spcPts val="1260"/>
              </a:lnSpc>
              <a:spcBef>
                <a:spcPts val="0"/>
              </a:spcBef>
              <a:spcAft>
                <a:spcPts val="0"/>
              </a:spcAft>
              <a:buNone/>
              <a:tabLst/>
              <a:defRPr sz="1800" b="0" i="0" u="none" strike="noStrike" kern="0" cap="none" spc="0" baseline="0">
                <a:solidFill>
                  <a:srgbClr val="000000"/>
                </a:solidFill>
                <a:uFillTx/>
              </a:defRPr>
            </a:pPr>
            <a:r>
              <a:rPr lang="fr-FR" sz="1400" b="1" i="0" u="none" strike="noStrike" kern="1200" cap="none" spc="0" baseline="0" dirty="0">
                <a:solidFill>
                  <a:srgbClr val="000000"/>
                </a:solidFill>
                <a:uFillTx/>
                <a:latin typeface="Times New Roman" pitchFamily="18"/>
                <a:ea typeface="Calibri" pitchFamily="34"/>
                <a:cs typeface="Calibri" pitchFamily="34"/>
              </a:rPr>
              <a:t>République</a:t>
            </a:r>
            <a:r>
              <a:rPr lang="fr-FR" sz="1400" b="1" i="0" u="none" strike="noStrike" kern="1200" cap="none" spc="-20"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Algérienne</a:t>
            </a:r>
            <a:r>
              <a:rPr lang="fr-FR" sz="1400" b="1" i="0" u="none" strike="noStrike" kern="1200" cap="none" spc="-25"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Démocratique</a:t>
            </a:r>
            <a:r>
              <a:rPr lang="fr-FR" sz="1400" b="1" i="0" u="none" strike="noStrike" kern="1200" cap="none" spc="-25"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et</a:t>
            </a:r>
            <a:r>
              <a:rPr lang="fr-FR" sz="1400" b="1" i="0" u="none" strike="noStrike" kern="1200" cap="none" spc="-30"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Populaire</a:t>
            </a:r>
            <a:endParaRPr lang="fr-FR" sz="1400" b="0" i="0" u="none" strike="noStrike" kern="1200" cap="none" spc="0" baseline="0" dirty="0">
              <a:solidFill>
                <a:srgbClr val="000000"/>
              </a:solidFill>
              <a:uFillTx/>
              <a:latin typeface="Calibri" pitchFamily="34"/>
              <a:ea typeface="Calibri" pitchFamily="34"/>
            </a:endParaRPr>
          </a:p>
          <a:p>
            <a:pPr marL="1849117" marR="568327" lvl="0" indent="-6345" algn="ctr" defTabSz="914400" rtl="0" fontAlgn="auto" hangingPunct="1">
              <a:lnSpc>
                <a:spcPct val="107000"/>
              </a:lnSpc>
              <a:spcBef>
                <a:spcPts val="95"/>
              </a:spcBef>
              <a:spcAft>
                <a:spcPts val="0"/>
              </a:spcAft>
              <a:buNone/>
              <a:tabLst/>
              <a:defRPr sz="1800" b="0" i="0" u="none" strike="noStrike" kern="0" cap="none" spc="0" baseline="0">
                <a:solidFill>
                  <a:srgbClr val="000000"/>
                </a:solidFill>
                <a:uFillTx/>
              </a:defRPr>
            </a:pPr>
            <a:r>
              <a:rPr lang="fr-FR" sz="1400" b="1" i="0" u="none" strike="noStrike" kern="1200" cap="none" spc="0" baseline="0" dirty="0">
                <a:solidFill>
                  <a:srgbClr val="000000"/>
                </a:solidFill>
                <a:uFillTx/>
                <a:latin typeface="Times New Roman" pitchFamily="18"/>
                <a:ea typeface="Calibri" pitchFamily="34"/>
                <a:cs typeface="Calibri" pitchFamily="34"/>
              </a:rPr>
              <a:t>Ministère de l’Enseignement Supérieur Et de la Recherche Scientifique</a:t>
            </a:r>
            <a:r>
              <a:rPr lang="fr-FR" sz="1400" b="1" i="0" u="none" strike="noStrike" kern="1200" cap="none" spc="5"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Université</a:t>
            </a:r>
            <a:r>
              <a:rPr lang="fr-FR" sz="1400" b="1" i="0" u="none" strike="noStrike" kern="1200" cap="none" spc="-15"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des</a:t>
            </a:r>
            <a:r>
              <a:rPr lang="fr-FR" sz="1400" b="1" i="0" u="none" strike="noStrike" kern="1200" cap="none" spc="-10"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Sciences</a:t>
            </a:r>
            <a:r>
              <a:rPr lang="fr-FR" sz="1400" b="1" i="0" u="none" strike="noStrike" kern="1200" cap="none" spc="-5"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et</a:t>
            </a:r>
            <a:r>
              <a:rPr lang="fr-FR" sz="1400" b="1" i="0" u="none" strike="noStrike" kern="1200" cap="none" spc="-15"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de</a:t>
            </a:r>
            <a:r>
              <a:rPr lang="fr-FR" sz="1400" b="1" i="0" u="none" strike="noStrike" kern="1200" cap="none" spc="-15"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la</a:t>
            </a:r>
            <a:r>
              <a:rPr lang="fr-FR" sz="1400" b="1" i="0" u="none" strike="noStrike" kern="1200" cap="none" spc="-30"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Technologie</a:t>
            </a:r>
            <a:r>
              <a:rPr lang="fr-FR" sz="1400" b="1" i="0" u="none" strike="noStrike" kern="1200" cap="none" spc="-15"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d’Oran</a:t>
            </a:r>
            <a:r>
              <a:rPr lang="fr-FR" sz="1400" b="1" i="0" u="none" strike="noStrike" kern="1200" cap="none" spc="-15"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Mohamed</a:t>
            </a:r>
            <a:r>
              <a:rPr lang="fr-FR" sz="1400" b="1" i="0" u="none" strike="noStrike" kern="1200" cap="none" spc="-20"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BOUDIAF</a:t>
            </a:r>
            <a:endParaRPr lang="fr-FR" sz="1400" b="0" i="0" u="none" strike="noStrike" kern="1200" cap="none" spc="0" baseline="0" dirty="0">
              <a:solidFill>
                <a:srgbClr val="000000"/>
              </a:solidFill>
              <a:uFillTx/>
              <a:latin typeface="Calibri" pitchFamily="34"/>
              <a:ea typeface="Calibri" pitchFamily="34"/>
            </a:endParaRPr>
          </a:p>
          <a:p>
            <a:pPr marL="2494282" marR="1250954" lvl="0" indent="0" algn="ctr" defTabSz="914400" rtl="0" fontAlgn="auto" hangingPunct="1">
              <a:lnSpc>
                <a:spcPct val="100000"/>
              </a:lnSpc>
              <a:spcBef>
                <a:spcPts val="345"/>
              </a:spcBef>
              <a:spcAft>
                <a:spcPts val="0"/>
              </a:spcAft>
              <a:buNone/>
              <a:tabLst/>
              <a:defRPr sz="1800" b="0" i="0" u="none" strike="noStrike" kern="0" cap="none" spc="0" baseline="0">
                <a:solidFill>
                  <a:srgbClr val="000000"/>
                </a:solidFill>
                <a:uFillTx/>
              </a:defRPr>
            </a:pPr>
            <a:r>
              <a:rPr lang="fr-FR" sz="1400" b="1" i="0" u="none" strike="noStrike" kern="1200" cap="none" spc="0" baseline="0" dirty="0">
                <a:solidFill>
                  <a:srgbClr val="000000"/>
                </a:solidFill>
                <a:uFillTx/>
                <a:latin typeface="Times New Roman" pitchFamily="18"/>
                <a:ea typeface="Calibri" pitchFamily="34"/>
                <a:cs typeface="Calibri" pitchFamily="34"/>
              </a:rPr>
              <a:t>Faculté</a:t>
            </a:r>
            <a:r>
              <a:rPr lang="fr-FR" sz="1400" b="1" i="0" u="none" strike="noStrike" kern="1200" cap="none" spc="-55"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des</a:t>
            </a:r>
            <a:r>
              <a:rPr lang="fr-FR" sz="1400" b="1" i="0" u="none" strike="noStrike" kern="1200" cap="none" spc="-20"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Mathématiques et</a:t>
            </a:r>
            <a:r>
              <a:rPr lang="fr-FR" sz="1400" b="1" i="0" u="none" strike="noStrike" kern="1200" cap="none" spc="-30" baseline="0" dirty="0">
                <a:solidFill>
                  <a:srgbClr val="000000"/>
                </a:solidFill>
                <a:uFillTx/>
                <a:latin typeface="Times New Roman" pitchFamily="18"/>
                <a:ea typeface="Calibri" pitchFamily="34"/>
                <a:cs typeface="Calibri" pitchFamily="34"/>
              </a:rPr>
              <a:t> </a:t>
            </a:r>
            <a:r>
              <a:rPr lang="fr-FR" sz="1400" b="1" i="0" u="none" strike="noStrike" kern="1200" cap="none" spc="0" baseline="0" dirty="0">
                <a:solidFill>
                  <a:srgbClr val="000000"/>
                </a:solidFill>
                <a:uFillTx/>
                <a:latin typeface="Times New Roman" pitchFamily="18"/>
                <a:ea typeface="Calibri" pitchFamily="34"/>
                <a:cs typeface="Calibri" pitchFamily="34"/>
              </a:rPr>
              <a:t>Informatique</a:t>
            </a:r>
            <a:endParaRPr lang="fr-FR" sz="1400" b="0" i="0" u="none" strike="noStrike" kern="1200" cap="none" spc="0" baseline="0" dirty="0">
              <a:solidFill>
                <a:srgbClr val="000000"/>
              </a:solidFill>
              <a:uFillTx/>
              <a:latin typeface="Calibri" pitchFamily="34"/>
              <a:ea typeface="Calibri" pitchFamily="34"/>
            </a:endParaRPr>
          </a:p>
        </p:txBody>
      </p:sp>
      <p:sp>
        <p:nvSpPr>
          <p:cNvPr id="4" name="object 60">
            <a:extLst>
              <a:ext uri="{FF2B5EF4-FFF2-40B4-BE49-F238E27FC236}">
                <a16:creationId xmlns:a16="http://schemas.microsoft.com/office/drawing/2014/main" id="{B158EB19-9FA0-4001-B2CB-090E610704EC}"/>
              </a:ext>
            </a:extLst>
          </p:cNvPr>
          <p:cNvSpPr txBox="1"/>
          <p:nvPr/>
        </p:nvSpPr>
        <p:spPr>
          <a:xfrm>
            <a:off x="174120" y="4244909"/>
            <a:ext cx="2578909" cy="289179"/>
          </a:xfrm>
          <a:prstGeom prst="rect">
            <a:avLst/>
          </a:prstGeom>
          <a:noFill/>
          <a:ln cap="flat">
            <a:noFill/>
          </a:ln>
        </p:spPr>
        <p:txBody>
          <a:bodyPr vert="horz" wrap="square" lIns="0" tIns="12060" rIns="0" bIns="0" anchor="t" anchorCtr="0" compatLnSpc="1">
            <a:spAutoFit/>
          </a:bodyPr>
          <a:lstStyle/>
          <a:p>
            <a:pPr marL="12701" marR="0" lvl="0" indent="0" algn="l" defTabSz="914400" rtl="0" fontAlgn="auto" hangingPunct="1">
              <a:lnSpc>
                <a:spcPct val="100000"/>
              </a:lnSpc>
              <a:spcBef>
                <a:spcPts val="95"/>
              </a:spcBef>
              <a:spcAft>
                <a:spcPts val="0"/>
              </a:spcAft>
              <a:buNone/>
              <a:tabLst/>
              <a:defRPr sz="1800" b="0" i="0" u="none" strike="noStrike" kern="0" cap="none" spc="0" baseline="0">
                <a:solidFill>
                  <a:srgbClr val="000000"/>
                </a:solidFill>
                <a:uFillTx/>
              </a:defRPr>
            </a:pPr>
            <a:r>
              <a:rPr lang="en-US" sz="1800" b="1" i="0" u="none" strike="noStrike" kern="1200" cap="none" spc="-5" baseline="0" dirty="0" err="1">
                <a:solidFill>
                  <a:srgbClr val="FFFFFF"/>
                </a:solidFill>
                <a:uFillTx/>
                <a:latin typeface="Cambria"/>
                <a:cs typeface="Cambria"/>
              </a:rPr>
              <a:t>Mémoire</a:t>
            </a:r>
            <a:r>
              <a:rPr lang="en-US" sz="1800" b="1" i="0" u="none" strike="noStrike" kern="1200" cap="none" spc="-5" baseline="0" dirty="0">
                <a:solidFill>
                  <a:srgbClr val="FFFFFF"/>
                </a:solidFill>
                <a:uFillTx/>
                <a:latin typeface="Cambria"/>
                <a:cs typeface="Cambria"/>
              </a:rPr>
              <a:t> </a:t>
            </a:r>
            <a:r>
              <a:rPr lang="en-US" sz="1800" b="1" i="0" u="none" strike="noStrike" kern="1200" cap="none" spc="-10" baseline="0" dirty="0">
                <a:solidFill>
                  <a:srgbClr val="FFFFFF"/>
                </a:solidFill>
                <a:uFillTx/>
                <a:latin typeface="Cambria"/>
                <a:cs typeface="Cambria"/>
              </a:rPr>
              <a:t>de</a:t>
            </a:r>
            <a:r>
              <a:rPr lang="en-US" sz="1800" b="1" i="0" u="none" strike="noStrike" kern="1200" cap="none" spc="-30" baseline="0" dirty="0">
                <a:solidFill>
                  <a:srgbClr val="FFFFFF"/>
                </a:solidFill>
                <a:uFillTx/>
                <a:latin typeface="Cambria"/>
                <a:cs typeface="Cambria"/>
              </a:rPr>
              <a:t> </a:t>
            </a:r>
            <a:r>
              <a:rPr lang="en-US" sz="1800" b="1" i="0" u="none" strike="noStrike" kern="1200" cap="none" spc="-5" baseline="0" dirty="0">
                <a:solidFill>
                  <a:srgbClr val="FFFFFF"/>
                </a:solidFill>
                <a:uFillTx/>
                <a:latin typeface="Cambria"/>
                <a:cs typeface="Cambria"/>
              </a:rPr>
              <a:t>fin</a:t>
            </a:r>
            <a:r>
              <a:rPr lang="en-US" sz="1800" b="1" i="0" u="none" strike="noStrike" kern="1200" cap="none" spc="-30" baseline="0" dirty="0">
                <a:solidFill>
                  <a:srgbClr val="FFFFFF"/>
                </a:solidFill>
                <a:uFillTx/>
                <a:latin typeface="Cambria"/>
                <a:cs typeface="Cambria"/>
              </a:rPr>
              <a:t> </a:t>
            </a:r>
            <a:r>
              <a:rPr lang="en-US" sz="1800" b="1" i="0" u="none" strike="noStrike" kern="1200" cap="none" spc="-5" baseline="0" dirty="0" err="1">
                <a:solidFill>
                  <a:srgbClr val="FFFFFF"/>
                </a:solidFill>
                <a:uFillTx/>
                <a:latin typeface="Cambria"/>
                <a:cs typeface="Cambria"/>
              </a:rPr>
              <a:t>d’études</a:t>
            </a:r>
            <a:endParaRPr lang="en-US" sz="1800" b="0" i="0" u="none" strike="noStrike" kern="1200" cap="none" spc="0" baseline="0" dirty="0">
              <a:solidFill>
                <a:srgbClr val="000000"/>
              </a:solidFill>
              <a:uFillTx/>
              <a:latin typeface="Cambria"/>
              <a:cs typeface="Cambria"/>
            </a:endParaRPr>
          </a:p>
        </p:txBody>
      </p:sp>
      <p:sp>
        <p:nvSpPr>
          <p:cNvPr id="5" name="ZoneTexte 66">
            <a:extLst>
              <a:ext uri="{FF2B5EF4-FFF2-40B4-BE49-F238E27FC236}">
                <a16:creationId xmlns:a16="http://schemas.microsoft.com/office/drawing/2014/main" id="{E1D645D6-0695-4C62-B993-E11D8AEB66F7}"/>
              </a:ext>
            </a:extLst>
          </p:cNvPr>
          <p:cNvSpPr txBox="1"/>
          <p:nvPr/>
        </p:nvSpPr>
        <p:spPr>
          <a:xfrm>
            <a:off x="3615610" y="2824663"/>
            <a:ext cx="6188787" cy="369335"/>
          </a:xfrm>
          <a:prstGeom prst="rect">
            <a:avLst/>
          </a:prstGeom>
          <a:noFill/>
          <a:ln cap="flat">
            <a:noFill/>
          </a:ln>
        </p:spPr>
        <p:txBody>
          <a:bodyPr vert="horz" wrap="square" lIns="91440" tIns="45720" rIns="91440" bIns="45720" anchor="t" anchorCtr="0" compatLnSpc="1">
            <a:spAutoFit/>
          </a:bodyPr>
          <a:lstStyle/>
          <a:p>
            <a:pPr marL="1149986"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1" i="1" u="none" strike="noStrike" kern="1200" cap="none" spc="-5" baseline="0" dirty="0">
                <a:solidFill>
                  <a:srgbClr val="000000"/>
                </a:solidFill>
                <a:uFillTx/>
                <a:latin typeface="Cambria"/>
                <a:cs typeface="Cambria"/>
              </a:rPr>
              <a:t>Département</a:t>
            </a:r>
            <a:r>
              <a:rPr lang="fr-FR" sz="1800" b="1" i="1" u="none" strike="noStrike" kern="1200" cap="none" spc="-15" baseline="0" dirty="0">
                <a:solidFill>
                  <a:srgbClr val="000000"/>
                </a:solidFill>
                <a:uFillTx/>
                <a:latin typeface="Cambria"/>
                <a:cs typeface="Cambria"/>
              </a:rPr>
              <a:t> </a:t>
            </a:r>
            <a:r>
              <a:rPr lang="fr-FR" sz="1800" b="0" i="1" u="none" strike="noStrike" kern="1200" cap="none" spc="-5" baseline="0" dirty="0">
                <a:solidFill>
                  <a:srgbClr val="000000"/>
                </a:solidFill>
                <a:uFillTx/>
                <a:latin typeface="Cambria"/>
                <a:cs typeface="Cambria"/>
              </a:rPr>
              <a:t>:</a:t>
            </a:r>
            <a:r>
              <a:rPr lang="fr-FR" sz="1800" b="0" i="1" u="none" strike="noStrike" kern="1200" cap="none" spc="-30" baseline="0" dirty="0">
                <a:solidFill>
                  <a:srgbClr val="000000"/>
                </a:solidFill>
                <a:uFillTx/>
                <a:latin typeface="Cambria"/>
                <a:cs typeface="Cambria"/>
              </a:rPr>
              <a:t> </a:t>
            </a:r>
            <a:r>
              <a:rPr lang="fr-FR" sz="1800" b="0" i="1" u="none" strike="noStrike" kern="1200" cap="none" spc="-10" baseline="0" dirty="0">
                <a:solidFill>
                  <a:srgbClr val="000000"/>
                </a:solidFill>
                <a:uFillTx/>
                <a:latin typeface="Cambria"/>
                <a:cs typeface="Cambria"/>
              </a:rPr>
              <a:t>Informatique</a:t>
            </a:r>
            <a:endParaRPr lang="fr-FR" sz="1800" b="0" i="0" u="none" strike="noStrike" kern="1200" cap="none" spc="0" baseline="0" dirty="0">
              <a:solidFill>
                <a:srgbClr val="000000"/>
              </a:solidFill>
              <a:uFillTx/>
              <a:latin typeface="Cambria"/>
              <a:cs typeface="Cambria"/>
            </a:endParaRPr>
          </a:p>
        </p:txBody>
      </p:sp>
      <p:sp>
        <p:nvSpPr>
          <p:cNvPr id="7" name="object 61">
            <a:extLst>
              <a:ext uri="{FF2B5EF4-FFF2-40B4-BE49-F238E27FC236}">
                <a16:creationId xmlns:a16="http://schemas.microsoft.com/office/drawing/2014/main" id="{925A5001-0622-43C6-B0BC-D7C4FBA2FD15}"/>
              </a:ext>
            </a:extLst>
          </p:cNvPr>
          <p:cNvSpPr txBox="1"/>
          <p:nvPr/>
        </p:nvSpPr>
        <p:spPr>
          <a:xfrm>
            <a:off x="500158" y="4717261"/>
            <a:ext cx="2417294" cy="527328"/>
          </a:xfrm>
          <a:prstGeom prst="rect">
            <a:avLst/>
          </a:prstGeom>
          <a:noFill/>
          <a:ln cap="flat">
            <a:noFill/>
          </a:ln>
        </p:spPr>
        <p:txBody>
          <a:bodyPr vert="horz" wrap="square" lIns="0" tIns="10799" rIns="0" bIns="0" anchor="t" anchorCtr="0" compatLnSpc="1">
            <a:spAutoFit/>
          </a:bodyPr>
          <a:lstStyle/>
          <a:p>
            <a:pPr marL="497205" marR="5084" lvl="0" indent="-485144" algn="l" defTabSz="914400" rtl="0" fontAlgn="auto" hangingPunct="1">
              <a:lnSpc>
                <a:spcPct val="109400"/>
              </a:lnSpc>
              <a:spcBef>
                <a:spcPts val="85"/>
              </a:spcBef>
              <a:spcAft>
                <a:spcPts val="0"/>
              </a:spcAft>
              <a:buNone/>
              <a:tabLst/>
              <a:defRPr sz="1800" b="0" i="0" u="none" strike="noStrike" kern="0" cap="none" spc="0" baseline="0">
                <a:solidFill>
                  <a:srgbClr val="000000"/>
                </a:solidFill>
                <a:uFillTx/>
              </a:defRPr>
            </a:pPr>
            <a:r>
              <a:rPr lang="fr-FR" sz="1400" b="0" i="1" u="none" strike="noStrike" kern="1200" cap="none" spc="-5" baseline="0" dirty="0">
                <a:solidFill>
                  <a:srgbClr val="000000"/>
                </a:solidFill>
                <a:uFillTx/>
                <a:latin typeface="Cambria"/>
                <a:cs typeface="Cambria"/>
              </a:rPr>
              <a:t>Pour </a:t>
            </a:r>
            <a:r>
              <a:rPr lang="fr-FR" sz="1600" b="0" i="1" u="none" strike="noStrike" kern="1200" cap="none" spc="-5" baseline="0" dirty="0">
                <a:solidFill>
                  <a:srgbClr val="000000"/>
                </a:solidFill>
                <a:uFillTx/>
                <a:latin typeface="Cambria"/>
                <a:cs typeface="Cambria"/>
              </a:rPr>
              <a:t>l’obtention</a:t>
            </a:r>
            <a:r>
              <a:rPr lang="fr-FR" sz="1400" b="0" i="1" u="none" strike="noStrike" kern="1200" cap="none" spc="-5" baseline="0" dirty="0">
                <a:solidFill>
                  <a:srgbClr val="000000"/>
                </a:solidFill>
                <a:uFillTx/>
                <a:latin typeface="Cambria"/>
                <a:cs typeface="Cambria"/>
              </a:rPr>
              <a:t> du diplôme </a:t>
            </a:r>
            <a:r>
              <a:rPr lang="fr-FR" sz="1400" b="0" i="1" u="none" strike="noStrike" kern="1200" cap="none" spc="-250" baseline="0" dirty="0">
                <a:solidFill>
                  <a:srgbClr val="000000"/>
                </a:solidFill>
                <a:uFillTx/>
                <a:latin typeface="Cambria"/>
                <a:cs typeface="Cambria"/>
              </a:rPr>
              <a:t> </a:t>
            </a:r>
            <a:r>
              <a:rPr lang="fr-FR" sz="1400" b="0" i="1" u="none" strike="noStrike" kern="1200" cap="none" spc="-5" baseline="0" dirty="0">
                <a:solidFill>
                  <a:srgbClr val="000000"/>
                </a:solidFill>
                <a:uFillTx/>
                <a:latin typeface="Cambria"/>
                <a:cs typeface="Cambria"/>
              </a:rPr>
              <a:t>de </a:t>
            </a:r>
            <a:r>
              <a:rPr lang="fr-FR" sz="1600" b="1" spc="-10" dirty="0">
                <a:solidFill>
                  <a:srgbClr val="000000"/>
                </a:solidFill>
                <a:latin typeface="Cambria"/>
                <a:cs typeface="Cambria"/>
              </a:rPr>
              <a:t>Master</a:t>
            </a:r>
            <a:endParaRPr lang="fr-FR" sz="1600" b="0" i="0" u="none" strike="noStrike" kern="1200" cap="none" spc="0" baseline="0" dirty="0">
              <a:solidFill>
                <a:srgbClr val="000000"/>
              </a:solidFill>
              <a:uFillTx/>
              <a:latin typeface="Cambria"/>
              <a:cs typeface="Cambria"/>
            </a:endParaRPr>
          </a:p>
        </p:txBody>
      </p:sp>
      <p:sp>
        <p:nvSpPr>
          <p:cNvPr id="8" name="object 62">
            <a:extLst>
              <a:ext uri="{FF2B5EF4-FFF2-40B4-BE49-F238E27FC236}">
                <a16:creationId xmlns:a16="http://schemas.microsoft.com/office/drawing/2014/main" id="{9161F386-671C-47E3-AFDE-16CC61D05364}"/>
              </a:ext>
            </a:extLst>
          </p:cNvPr>
          <p:cNvSpPr txBox="1"/>
          <p:nvPr/>
        </p:nvSpPr>
        <p:spPr>
          <a:xfrm>
            <a:off x="500157" y="5394841"/>
            <a:ext cx="3717165" cy="956673"/>
          </a:xfrm>
          <a:prstGeom prst="rect">
            <a:avLst/>
          </a:prstGeom>
          <a:noFill/>
          <a:ln cap="flat">
            <a:noFill/>
          </a:ln>
        </p:spPr>
        <p:txBody>
          <a:bodyPr vert="horz" wrap="square" lIns="0" tIns="104141" rIns="0" bIns="0" anchor="t" anchorCtr="0" compatLnSpc="1">
            <a:spAutoFit/>
          </a:bodyPr>
          <a:lstStyle/>
          <a:p>
            <a:pPr marL="12701" marR="0" lvl="0" indent="0" algn="l" defTabSz="914400" rtl="0" fontAlgn="auto" hangingPunct="1">
              <a:lnSpc>
                <a:spcPct val="100000"/>
              </a:lnSpc>
              <a:spcBef>
                <a:spcPts val="820"/>
              </a:spcBef>
              <a:spcAft>
                <a:spcPts val="0"/>
              </a:spcAft>
              <a:buNone/>
              <a:tabLst>
                <a:tab pos="826132" algn="l"/>
              </a:tabLst>
              <a:defRPr sz="1800" b="0" i="0" u="none" strike="noStrike" kern="0" cap="none" spc="0" baseline="0">
                <a:solidFill>
                  <a:srgbClr val="000000"/>
                </a:solidFill>
                <a:uFillTx/>
              </a:defRPr>
            </a:pPr>
            <a:r>
              <a:rPr lang="fr-FR" sz="1400" b="0" i="0" u="sng" strike="noStrike" kern="1200" cap="none" spc="-5" baseline="0" dirty="0">
                <a:solidFill>
                  <a:srgbClr val="000000"/>
                </a:solidFill>
                <a:uFill>
                  <a:solidFill>
                    <a:srgbClr val="000000"/>
                  </a:solidFill>
                </a:uFill>
                <a:latin typeface="Cambria"/>
                <a:cs typeface="Cambria"/>
              </a:rPr>
              <a:t>Domaine	:</a:t>
            </a:r>
            <a:r>
              <a:rPr lang="fr-FR" sz="1400" b="0" i="0" u="none" strike="noStrike" kern="1200" cap="none" spc="-10" baseline="0" dirty="0">
                <a:solidFill>
                  <a:srgbClr val="000000"/>
                </a:solidFill>
                <a:uFillTx/>
                <a:latin typeface="Cambria"/>
                <a:cs typeface="Cambria"/>
              </a:rPr>
              <a:t> </a:t>
            </a:r>
            <a:r>
              <a:rPr lang="fr-FR" sz="1400" b="1" i="0" u="none" strike="noStrike" kern="1200" cap="none" spc="-5" baseline="0" dirty="0">
                <a:solidFill>
                  <a:srgbClr val="000000"/>
                </a:solidFill>
                <a:uFillTx/>
                <a:latin typeface="Cambria"/>
                <a:cs typeface="Cambria"/>
              </a:rPr>
              <a:t>Mathématiques</a:t>
            </a:r>
            <a:r>
              <a:rPr lang="fr-FR" sz="1400" b="1" i="0" u="none" strike="noStrike" kern="1200" cap="none" spc="10" baseline="0" dirty="0">
                <a:solidFill>
                  <a:srgbClr val="000000"/>
                </a:solidFill>
                <a:uFillTx/>
                <a:latin typeface="Cambria"/>
                <a:cs typeface="Cambria"/>
              </a:rPr>
              <a:t> </a:t>
            </a:r>
            <a:r>
              <a:rPr lang="fr-FR" sz="1400" b="1" i="0" u="none" strike="noStrike" kern="1200" cap="none" spc="-5" baseline="0" dirty="0">
                <a:solidFill>
                  <a:srgbClr val="000000"/>
                </a:solidFill>
                <a:uFillTx/>
                <a:latin typeface="Cambria"/>
                <a:cs typeface="Cambria"/>
              </a:rPr>
              <a:t>– </a:t>
            </a:r>
            <a:r>
              <a:rPr lang="fr-FR" sz="1400" b="1" i="0" u="none" strike="noStrike" kern="1200" cap="none" spc="-10" baseline="0" dirty="0">
                <a:solidFill>
                  <a:srgbClr val="000000"/>
                </a:solidFill>
                <a:uFillTx/>
                <a:latin typeface="Cambria"/>
                <a:cs typeface="Cambria"/>
              </a:rPr>
              <a:t>Informatique</a:t>
            </a:r>
            <a:endParaRPr lang="fr-FR" sz="1400" b="0" i="0" u="none" strike="noStrike" kern="1200" cap="none" spc="0" baseline="0" dirty="0">
              <a:solidFill>
                <a:srgbClr val="000000"/>
              </a:solidFill>
              <a:uFillTx/>
              <a:latin typeface="Cambria"/>
              <a:cs typeface="Cambria"/>
            </a:endParaRPr>
          </a:p>
          <a:p>
            <a:pPr marL="12701" marR="0" lvl="0" indent="0" algn="l" defTabSz="914400" rtl="0" fontAlgn="auto" hangingPunct="1">
              <a:lnSpc>
                <a:spcPct val="100000"/>
              </a:lnSpc>
              <a:spcBef>
                <a:spcPts val="720"/>
              </a:spcBef>
              <a:spcAft>
                <a:spcPts val="0"/>
              </a:spcAft>
              <a:buNone/>
              <a:tabLst>
                <a:tab pos="786768" algn="l"/>
              </a:tabLst>
              <a:defRPr sz="1800" b="0" i="0" u="none" strike="noStrike" kern="0" cap="none" spc="0" baseline="0">
                <a:solidFill>
                  <a:srgbClr val="000000"/>
                </a:solidFill>
                <a:uFillTx/>
              </a:defRPr>
            </a:pPr>
            <a:r>
              <a:rPr lang="fr-FR" sz="1400" b="0" i="0" u="sng" strike="noStrike" kern="1200" cap="none" spc="-5" baseline="0" dirty="0">
                <a:solidFill>
                  <a:srgbClr val="000000"/>
                </a:solidFill>
                <a:uFill>
                  <a:solidFill>
                    <a:srgbClr val="000000"/>
                  </a:solidFill>
                </a:uFill>
                <a:latin typeface="Cambria"/>
                <a:cs typeface="Cambria"/>
              </a:rPr>
              <a:t>Filière	:</a:t>
            </a:r>
            <a:r>
              <a:rPr lang="fr-FR" sz="1400" b="0" i="0" u="none" strike="noStrike" kern="1200" cap="none" spc="215" baseline="0" dirty="0">
                <a:solidFill>
                  <a:srgbClr val="000000"/>
                </a:solidFill>
                <a:uFillTx/>
                <a:latin typeface="Cambria"/>
                <a:cs typeface="Cambria"/>
              </a:rPr>
              <a:t> </a:t>
            </a:r>
            <a:r>
              <a:rPr lang="fr-FR" sz="1400" b="1" i="0" u="none" strike="noStrike" kern="1200" cap="none" spc="-5" baseline="0" dirty="0">
                <a:solidFill>
                  <a:srgbClr val="000000"/>
                </a:solidFill>
                <a:uFillTx/>
                <a:latin typeface="Cambria"/>
                <a:cs typeface="Cambria"/>
              </a:rPr>
              <a:t>Informatique.</a:t>
            </a:r>
            <a:endParaRPr lang="fr-FR" sz="1400" b="0" i="0" u="none" strike="noStrike" kern="1200" cap="none" spc="0" baseline="0" dirty="0">
              <a:solidFill>
                <a:srgbClr val="000000"/>
              </a:solidFill>
              <a:uFillTx/>
              <a:latin typeface="Cambria"/>
              <a:cs typeface="Cambria"/>
            </a:endParaRPr>
          </a:p>
          <a:p>
            <a:pPr marL="12701" marR="0" lvl="0" indent="0" algn="l" defTabSz="914400" rtl="0" fontAlgn="auto" hangingPunct="1">
              <a:lnSpc>
                <a:spcPct val="100000"/>
              </a:lnSpc>
              <a:spcBef>
                <a:spcPts val="885"/>
              </a:spcBef>
              <a:spcAft>
                <a:spcPts val="0"/>
              </a:spcAft>
              <a:buNone/>
              <a:tabLst/>
              <a:defRPr sz="1800" b="0" i="0" u="none" strike="noStrike" kern="0" cap="none" spc="0" baseline="0">
                <a:solidFill>
                  <a:srgbClr val="000000"/>
                </a:solidFill>
                <a:uFillTx/>
              </a:defRPr>
            </a:pPr>
            <a:r>
              <a:rPr lang="fr-FR" sz="1400" b="0" i="0" u="sng" strike="noStrike" kern="1200" cap="none" spc="-5" baseline="0" dirty="0">
                <a:solidFill>
                  <a:srgbClr val="000000"/>
                </a:solidFill>
                <a:uFill>
                  <a:solidFill>
                    <a:srgbClr val="000000"/>
                  </a:solidFill>
                </a:uFill>
                <a:latin typeface="Cambria"/>
                <a:cs typeface="Cambria"/>
              </a:rPr>
              <a:t>Spécialité</a:t>
            </a:r>
            <a:r>
              <a:rPr lang="fr-FR" sz="1400" b="0" i="0" u="sng" strike="noStrike" kern="1200" cap="none" spc="250" baseline="0" dirty="0">
                <a:solidFill>
                  <a:srgbClr val="000000"/>
                </a:solidFill>
                <a:uFill>
                  <a:solidFill>
                    <a:srgbClr val="000000"/>
                  </a:solidFill>
                </a:uFill>
                <a:latin typeface="Cambria"/>
                <a:cs typeface="Cambria"/>
              </a:rPr>
              <a:t> </a:t>
            </a:r>
            <a:r>
              <a:rPr lang="fr-FR" sz="1400" b="0" i="0" u="sng" strike="noStrike" kern="1200" cap="none" spc="-5" baseline="0" dirty="0">
                <a:solidFill>
                  <a:srgbClr val="000000"/>
                </a:solidFill>
                <a:uFill>
                  <a:solidFill>
                    <a:srgbClr val="000000"/>
                  </a:solidFill>
                </a:uFill>
                <a:latin typeface="Cambria"/>
                <a:cs typeface="Cambria"/>
              </a:rPr>
              <a:t>:</a:t>
            </a:r>
            <a:r>
              <a:rPr lang="fr-FR" sz="1400" b="0" i="0" u="none" strike="noStrike" kern="1200" cap="none" spc="180" baseline="0" dirty="0">
                <a:solidFill>
                  <a:srgbClr val="000000"/>
                </a:solidFill>
                <a:uFillTx/>
                <a:latin typeface="Cambria"/>
                <a:cs typeface="Cambria"/>
              </a:rPr>
              <a:t> </a:t>
            </a:r>
            <a:r>
              <a:rPr lang="fr-FR" sz="1400" b="1" i="0" u="none" strike="noStrike" kern="1200" cap="none" spc="-5" baseline="0" dirty="0">
                <a:solidFill>
                  <a:srgbClr val="000000"/>
                </a:solidFill>
                <a:uFillTx/>
                <a:latin typeface="Cambria"/>
                <a:cs typeface="Cambria"/>
              </a:rPr>
              <a:t>IAA</a:t>
            </a:r>
            <a:endParaRPr lang="fr-FR" sz="1400" b="0" i="0" u="none" strike="noStrike" kern="1200" cap="none" spc="0" baseline="0" dirty="0">
              <a:solidFill>
                <a:srgbClr val="000000"/>
              </a:solidFill>
              <a:uFillTx/>
              <a:latin typeface="Cambria"/>
              <a:cs typeface="Cambria"/>
            </a:endParaRPr>
          </a:p>
        </p:txBody>
      </p:sp>
      <p:sp>
        <p:nvSpPr>
          <p:cNvPr id="9" name="object 63">
            <a:extLst>
              <a:ext uri="{FF2B5EF4-FFF2-40B4-BE49-F238E27FC236}">
                <a16:creationId xmlns:a16="http://schemas.microsoft.com/office/drawing/2014/main" id="{40B76E69-451B-48A5-B2CB-B4AB52A451F1}"/>
              </a:ext>
            </a:extLst>
          </p:cNvPr>
          <p:cNvSpPr txBox="1"/>
          <p:nvPr/>
        </p:nvSpPr>
        <p:spPr>
          <a:xfrm>
            <a:off x="4293427" y="5546238"/>
            <a:ext cx="2229811" cy="259046"/>
          </a:xfrm>
          <a:prstGeom prst="rect">
            <a:avLst/>
          </a:prstGeom>
          <a:noFill/>
          <a:ln cap="flat">
            <a:noFill/>
          </a:ln>
        </p:spPr>
        <p:txBody>
          <a:bodyPr vert="horz" wrap="square" lIns="0" tIns="12701" rIns="0" bIns="0" anchor="t" anchorCtr="0" compatLnSpc="1">
            <a:spAutoFit/>
          </a:bodyPr>
          <a:lstStyle/>
          <a:p>
            <a:pPr marL="12701" marR="0" lvl="0" indent="0" algn="l" defTabSz="914400" rtl="0" fontAlgn="auto" hangingPunct="1">
              <a:lnSpc>
                <a:spcPct val="100000"/>
              </a:lnSpc>
              <a:spcBef>
                <a:spcPts val="100"/>
              </a:spcBef>
              <a:spcAft>
                <a:spcPts val="0"/>
              </a:spcAft>
              <a:buNone/>
              <a:tabLst/>
              <a:defRPr sz="1800" b="0" i="0" u="none" strike="noStrike" kern="0" cap="none" spc="0" baseline="0">
                <a:solidFill>
                  <a:srgbClr val="000000"/>
                </a:solidFill>
                <a:uFillTx/>
              </a:defRPr>
            </a:pPr>
            <a:r>
              <a:rPr lang="en-US" sz="1600" b="0" i="0" u="none" strike="noStrike" kern="1200" cap="none" spc="-10" baseline="0" dirty="0" err="1">
                <a:solidFill>
                  <a:srgbClr val="000000"/>
                </a:solidFill>
                <a:uFillTx/>
                <a:latin typeface="Cambria"/>
                <a:cs typeface="Cambria"/>
              </a:rPr>
              <a:t>P</a:t>
            </a:r>
            <a:r>
              <a:rPr lang="en-US" sz="1600" b="0" i="0" u="none" strike="noStrike" kern="1200" cap="none" spc="5" baseline="0" dirty="0" err="1">
                <a:solidFill>
                  <a:srgbClr val="000000"/>
                </a:solidFill>
                <a:uFillTx/>
                <a:latin typeface="Cambria"/>
                <a:cs typeface="Cambria"/>
              </a:rPr>
              <a:t>r</a:t>
            </a:r>
            <a:r>
              <a:rPr lang="en-US" sz="1600" b="0" i="0" u="none" strike="noStrike" kern="1200" cap="none" spc="-10" baseline="0" dirty="0" err="1">
                <a:solidFill>
                  <a:srgbClr val="000000"/>
                </a:solidFill>
                <a:uFillTx/>
                <a:latin typeface="Cambria"/>
                <a:cs typeface="Cambria"/>
              </a:rPr>
              <a:t>é</a:t>
            </a:r>
            <a:r>
              <a:rPr lang="en-US" sz="1600" b="0" i="0" u="none" strike="noStrike" kern="1200" cap="none" spc="-15" baseline="0" dirty="0" err="1">
                <a:solidFill>
                  <a:srgbClr val="000000"/>
                </a:solidFill>
                <a:uFillTx/>
                <a:latin typeface="Cambria"/>
                <a:cs typeface="Cambria"/>
              </a:rPr>
              <a:t>s</a:t>
            </a:r>
            <a:r>
              <a:rPr lang="en-US" sz="1600" b="0" i="0" u="none" strike="noStrike" kern="1200" cap="none" spc="-10" baseline="0" dirty="0" err="1">
                <a:solidFill>
                  <a:srgbClr val="000000"/>
                </a:solidFill>
                <a:uFillTx/>
                <a:latin typeface="Cambria"/>
                <a:cs typeface="Cambria"/>
              </a:rPr>
              <a:t>e</a:t>
            </a:r>
            <a:r>
              <a:rPr lang="en-US" sz="1600" b="0" i="0" u="none" strike="noStrike" kern="1200" cap="none" spc="-5" baseline="0" dirty="0" err="1">
                <a:solidFill>
                  <a:srgbClr val="000000"/>
                </a:solidFill>
                <a:uFillTx/>
                <a:latin typeface="Cambria"/>
                <a:cs typeface="Cambria"/>
              </a:rPr>
              <a:t>n</a:t>
            </a:r>
            <a:r>
              <a:rPr lang="en-US" sz="1600" b="0" i="0" u="none" strike="noStrike" kern="1200" cap="none" spc="25" baseline="0" dirty="0" err="1">
                <a:solidFill>
                  <a:srgbClr val="000000"/>
                </a:solidFill>
                <a:uFillTx/>
                <a:latin typeface="Cambria"/>
                <a:cs typeface="Cambria"/>
              </a:rPr>
              <a:t>t</a:t>
            </a:r>
            <a:r>
              <a:rPr lang="en-US" sz="1600" b="0" i="0" u="none" strike="noStrike" kern="1200" cap="none" spc="0" baseline="0" dirty="0" err="1">
                <a:solidFill>
                  <a:srgbClr val="000000"/>
                </a:solidFill>
                <a:uFillTx/>
                <a:latin typeface="Cambria"/>
                <a:cs typeface="Cambria"/>
              </a:rPr>
              <a:t>é</a:t>
            </a:r>
            <a:r>
              <a:rPr lang="en-US" sz="1400" b="0" i="0" u="none" strike="noStrike" kern="1200" cap="none" spc="-30" baseline="0" dirty="0">
                <a:solidFill>
                  <a:srgbClr val="000000"/>
                </a:solidFill>
                <a:uFillTx/>
                <a:latin typeface="Cambria"/>
                <a:cs typeface="Cambria"/>
              </a:rPr>
              <a:t> </a:t>
            </a:r>
            <a:r>
              <a:rPr lang="en-US" sz="1400" b="0" i="0" u="none" strike="noStrike" kern="1200" cap="none" spc="10" baseline="0" dirty="0">
                <a:solidFill>
                  <a:srgbClr val="000000"/>
                </a:solidFill>
                <a:uFillTx/>
                <a:latin typeface="Cambria"/>
                <a:cs typeface="Cambria"/>
              </a:rPr>
              <a:t>l</a:t>
            </a:r>
            <a:r>
              <a:rPr lang="en-US" sz="1400" b="0" i="0" u="none" strike="noStrike" kern="1200" cap="none" spc="0" baseline="0" dirty="0">
                <a:solidFill>
                  <a:srgbClr val="000000"/>
                </a:solidFill>
                <a:uFillTx/>
                <a:latin typeface="Cambria"/>
                <a:cs typeface="Cambria"/>
              </a:rPr>
              <a:t>e</a:t>
            </a:r>
            <a:r>
              <a:rPr lang="en-US" sz="1400" b="0" i="0" u="none" strike="noStrike" kern="1200" cap="none" spc="-35" baseline="0" dirty="0">
                <a:solidFill>
                  <a:srgbClr val="000000"/>
                </a:solidFill>
                <a:uFillTx/>
                <a:latin typeface="Cambria"/>
                <a:cs typeface="Cambria"/>
              </a:rPr>
              <a:t> </a:t>
            </a:r>
            <a:r>
              <a:rPr lang="en-US" sz="1400" b="0" i="0" u="none" strike="noStrike" kern="1200" cap="none" spc="0" baseline="0" dirty="0">
                <a:solidFill>
                  <a:srgbClr val="000000"/>
                </a:solidFill>
                <a:uFillTx/>
                <a:latin typeface="Cambria"/>
                <a:cs typeface="Cambria"/>
              </a:rPr>
              <a:t>: 02/06/2025</a:t>
            </a:r>
          </a:p>
        </p:txBody>
      </p:sp>
      <p:sp>
        <p:nvSpPr>
          <p:cNvPr id="12" name="object 66">
            <a:extLst>
              <a:ext uri="{FF2B5EF4-FFF2-40B4-BE49-F238E27FC236}">
                <a16:creationId xmlns:a16="http://schemas.microsoft.com/office/drawing/2014/main" id="{CCA1A6E5-30AE-46FE-81FB-CF6CDEBF9428}"/>
              </a:ext>
            </a:extLst>
          </p:cNvPr>
          <p:cNvSpPr txBox="1"/>
          <p:nvPr/>
        </p:nvSpPr>
        <p:spPr>
          <a:xfrm>
            <a:off x="6750644" y="4800379"/>
            <a:ext cx="850940" cy="228270"/>
          </a:xfrm>
          <a:prstGeom prst="rect">
            <a:avLst/>
          </a:prstGeom>
          <a:noFill/>
          <a:ln cap="flat">
            <a:noFill/>
          </a:ln>
        </p:spPr>
        <p:txBody>
          <a:bodyPr vert="horz" wrap="square" lIns="0" tIns="12701" rIns="0" bIns="0" anchor="t" anchorCtr="0" compatLnSpc="1">
            <a:spAutoFit/>
          </a:bodyPr>
          <a:lstStyle/>
          <a:p>
            <a:pPr marL="12701" marR="0" lvl="0" indent="0" algn="l" defTabSz="914400" rtl="0" fontAlgn="auto" hangingPunct="1">
              <a:lnSpc>
                <a:spcPct val="100000"/>
              </a:lnSpc>
              <a:spcBef>
                <a:spcPts val="100"/>
              </a:spcBef>
              <a:spcAft>
                <a:spcPts val="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Cambria"/>
                <a:cs typeface="Cambria"/>
              </a:rPr>
              <a:t>Jury</a:t>
            </a:r>
            <a:endParaRPr lang="en-US" sz="1400" b="0" i="0" u="none" strike="noStrike" kern="1200" cap="none" spc="0" baseline="0">
              <a:solidFill>
                <a:srgbClr val="000000"/>
              </a:solidFill>
              <a:uFillTx/>
              <a:latin typeface="Cambria"/>
              <a:cs typeface="Cambria"/>
            </a:endParaRPr>
          </a:p>
        </p:txBody>
      </p:sp>
      <p:sp>
        <p:nvSpPr>
          <p:cNvPr id="13" name="object 67">
            <a:extLst>
              <a:ext uri="{FF2B5EF4-FFF2-40B4-BE49-F238E27FC236}">
                <a16:creationId xmlns:a16="http://schemas.microsoft.com/office/drawing/2014/main" id="{3CC9D0C9-1757-4879-976B-C9734B1653CF}"/>
              </a:ext>
            </a:extLst>
          </p:cNvPr>
          <p:cNvSpPr txBox="1"/>
          <p:nvPr/>
        </p:nvSpPr>
        <p:spPr>
          <a:xfrm>
            <a:off x="7945710" y="4800379"/>
            <a:ext cx="1369478" cy="228270"/>
          </a:xfrm>
          <a:prstGeom prst="rect">
            <a:avLst/>
          </a:prstGeom>
          <a:noFill/>
          <a:ln cap="flat">
            <a:noFill/>
          </a:ln>
        </p:spPr>
        <p:txBody>
          <a:bodyPr vert="horz" wrap="square" lIns="0" tIns="12701" rIns="0" bIns="0" anchor="t" anchorCtr="0" compatLnSpc="1">
            <a:spAutoFit/>
          </a:bodyPr>
          <a:lstStyle/>
          <a:p>
            <a:pPr marL="12701" marR="0" lvl="0" indent="0" algn="l" defTabSz="914400" rtl="0" fontAlgn="auto" hangingPunct="1">
              <a:lnSpc>
                <a:spcPct val="100000"/>
              </a:lnSpc>
              <a:spcBef>
                <a:spcPts val="10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Cambria"/>
                <a:cs typeface="Cambria"/>
              </a:rPr>
              <a:t>Nom</a:t>
            </a:r>
            <a:r>
              <a:rPr lang="en-US" sz="1400" b="0" i="0" u="none" strike="noStrike" kern="1200" cap="none" spc="-30" baseline="0">
                <a:solidFill>
                  <a:srgbClr val="000000"/>
                </a:solidFill>
                <a:uFillTx/>
                <a:latin typeface="Cambria"/>
                <a:cs typeface="Cambria"/>
              </a:rPr>
              <a:t> </a:t>
            </a:r>
            <a:r>
              <a:rPr lang="en-US" sz="1400" b="0" i="0" u="none" strike="noStrike" kern="1200" cap="none" spc="-5" baseline="0">
                <a:solidFill>
                  <a:srgbClr val="000000"/>
                </a:solidFill>
                <a:uFillTx/>
                <a:latin typeface="Cambria"/>
                <a:cs typeface="Cambria"/>
              </a:rPr>
              <a:t>et</a:t>
            </a:r>
            <a:r>
              <a:rPr lang="en-US" sz="1400" b="0" i="0" u="none" strike="noStrike" kern="1200" cap="none" spc="-25" baseline="0">
                <a:solidFill>
                  <a:srgbClr val="000000"/>
                </a:solidFill>
                <a:uFillTx/>
                <a:latin typeface="Cambria"/>
                <a:cs typeface="Cambria"/>
              </a:rPr>
              <a:t> </a:t>
            </a:r>
            <a:r>
              <a:rPr lang="en-US" sz="1400" b="0" i="0" u="none" strike="noStrike" kern="1200" cap="none" spc="-5" baseline="0">
                <a:solidFill>
                  <a:srgbClr val="000000"/>
                </a:solidFill>
                <a:uFillTx/>
                <a:latin typeface="Cambria"/>
                <a:cs typeface="Cambria"/>
              </a:rPr>
              <a:t>Prénom</a:t>
            </a:r>
            <a:endParaRPr lang="en-US" sz="1400" b="0" i="0" u="none" strike="noStrike" kern="1200" cap="none" spc="0" baseline="0">
              <a:solidFill>
                <a:srgbClr val="000000"/>
              </a:solidFill>
              <a:uFillTx/>
              <a:latin typeface="Cambria"/>
              <a:cs typeface="Cambria"/>
            </a:endParaRPr>
          </a:p>
        </p:txBody>
      </p:sp>
      <p:sp>
        <p:nvSpPr>
          <p:cNvPr id="14" name="object 68">
            <a:extLst>
              <a:ext uri="{FF2B5EF4-FFF2-40B4-BE49-F238E27FC236}">
                <a16:creationId xmlns:a16="http://schemas.microsoft.com/office/drawing/2014/main" id="{AE510896-738E-4C06-8615-144492FC36E9}"/>
              </a:ext>
            </a:extLst>
          </p:cNvPr>
          <p:cNvSpPr txBox="1"/>
          <p:nvPr/>
        </p:nvSpPr>
        <p:spPr>
          <a:xfrm>
            <a:off x="9659323" y="4800379"/>
            <a:ext cx="581622" cy="228270"/>
          </a:xfrm>
          <a:prstGeom prst="rect">
            <a:avLst/>
          </a:prstGeom>
          <a:noFill/>
          <a:ln cap="flat">
            <a:noFill/>
          </a:ln>
        </p:spPr>
        <p:txBody>
          <a:bodyPr vert="horz" wrap="square" lIns="0" tIns="12701" rIns="0" bIns="0" anchor="t" anchorCtr="0" compatLnSpc="1">
            <a:spAutoFit/>
          </a:bodyPr>
          <a:lstStyle/>
          <a:p>
            <a:pPr marL="12701" marR="0" lvl="0" indent="0" algn="l" defTabSz="914400" rtl="0" fontAlgn="auto" hangingPunct="1">
              <a:lnSpc>
                <a:spcPct val="100000"/>
              </a:lnSpc>
              <a:spcBef>
                <a:spcPts val="100"/>
              </a:spcBef>
              <a:spcAft>
                <a:spcPts val="0"/>
              </a:spcAft>
              <a:buNone/>
              <a:tabLst/>
              <a:defRPr sz="1800" b="0" i="0" u="none" strike="noStrike" kern="0" cap="none" spc="0" baseline="0">
                <a:solidFill>
                  <a:srgbClr val="000000"/>
                </a:solidFill>
                <a:uFillTx/>
              </a:defRPr>
            </a:pPr>
            <a:r>
              <a:rPr lang="en-US" sz="1400" b="0" i="0" u="none" strike="noStrike" kern="1200" cap="none" spc="5" baseline="0">
                <a:solidFill>
                  <a:srgbClr val="000000"/>
                </a:solidFill>
                <a:uFillTx/>
                <a:latin typeface="Cambria"/>
                <a:cs typeface="Cambria"/>
              </a:rPr>
              <a:t>Gr</a:t>
            </a:r>
            <a:r>
              <a:rPr lang="en-US" sz="1400" b="0" i="0" u="none" strike="noStrike" kern="1200" cap="none" spc="-10" baseline="0">
                <a:solidFill>
                  <a:srgbClr val="000000"/>
                </a:solidFill>
                <a:uFillTx/>
                <a:latin typeface="Cambria"/>
                <a:cs typeface="Cambria"/>
              </a:rPr>
              <a:t>a</a:t>
            </a:r>
            <a:r>
              <a:rPr lang="en-US" sz="1400" b="0" i="0" u="none" strike="noStrike" kern="1200" cap="none" spc="5" baseline="0">
                <a:solidFill>
                  <a:srgbClr val="000000"/>
                </a:solidFill>
                <a:uFillTx/>
                <a:latin typeface="Cambria"/>
                <a:cs typeface="Cambria"/>
              </a:rPr>
              <a:t>d</a:t>
            </a:r>
            <a:r>
              <a:rPr lang="en-US" sz="1400" b="0" i="0" u="none" strike="noStrike" kern="1200" cap="none" spc="0" baseline="0">
                <a:solidFill>
                  <a:srgbClr val="000000"/>
                </a:solidFill>
                <a:uFillTx/>
                <a:latin typeface="Cambria"/>
                <a:cs typeface="Cambria"/>
              </a:rPr>
              <a:t>e</a:t>
            </a:r>
          </a:p>
        </p:txBody>
      </p:sp>
      <p:sp>
        <p:nvSpPr>
          <p:cNvPr id="15" name="object 69">
            <a:extLst>
              <a:ext uri="{FF2B5EF4-FFF2-40B4-BE49-F238E27FC236}">
                <a16:creationId xmlns:a16="http://schemas.microsoft.com/office/drawing/2014/main" id="{04C2D3C6-2878-497B-88D1-AF32333E4289}"/>
              </a:ext>
            </a:extLst>
          </p:cNvPr>
          <p:cNvSpPr txBox="1"/>
          <p:nvPr/>
        </p:nvSpPr>
        <p:spPr>
          <a:xfrm>
            <a:off x="10737750" y="4782020"/>
            <a:ext cx="831628" cy="228270"/>
          </a:xfrm>
          <a:prstGeom prst="rect">
            <a:avLst/>
          </a:prstGeom>
          <a:noFill/>
          <a:ln cap="flat">
            <a:noFill/>
          </a:ln>
        </p:spPr>
        <p:txBody>
          <a:bodyPr vert="horz" wrap="square" lIns="0" tIns="12701" rIns="0" bIns="0" anchor="t" anchorCtr="0" compatLnSpc="1">
            <a:spAutoFit/>
          </a:bodyPr>
          <a:lstStyle/>
          <a:p>
            <a:pPr marL="12701" marR="0" lvl="0" indent="0" algn="l" defTabSz="914400" rtl="0" fontAlgn="auto" hangingPunct="1">
              <a:lnSpc>
                <a:spcPct val="100000"/>
              </a:lnSpc>
              <a:spcBef>
                <a:spcPts val="100"/>
              </a:spcBef>
              <a:spcAft>
                <a:spcPts val="0"/>
              </a:spcAft>
              <a:buNone/>
              <a:tabLst/>
              <a:defRPr sz="1800" b="0" i="0" u="none" strike="noStrike" kern="0" cap="none" spc="0" baseline="0">
                <a:solidFill>
                  <a:srgbClr val="000000"/>
                </a:solidFill>
                <a:uFillTx/>
              </a:defRPr>
            </a:pPr>
            <a:r>
              <a:rPr lang="en-US" sz="1400" b="0" i="0" u="none" strike="noStrike" kern="1200" cap="none" spc="-10" baseline="0" dirty="0">
                <a:solidFill>
                  <a:srgbClr val="000000"/>
                </a:solidFill>
                <a:uFillTx/>
                <a:latin typeface="Cambria"/>
                <a:cs typeface="Cambria"/>
              </a:rPr>
              <a:t>U</a:t>
            </a:r>
            <a:r>
              <a:rPr lang="en-US" sz="1400" b="0" i="0" u="none" strike="noStrike" kern="1200" cap="none" spc="-5" baseline="0" dirty="0">
                <a:solidFill>
                  <a:srgbClr val="000000"/>
                </a:solidFill>
                <a:uFillTx/>
                <a:latin typeface="Cambria"/>
                <a:cs typeface="Cambria"/>
              </a:rPr>
              <a:t>n</a:t>
            </a:r>
            <a:r>
              <a:rPr lang="en-US" sz="1400" b="0" i="0" u="none" strike="noStrike" kern="1200" cap="none" spc="0" baseline="0" dirty="0">
                <a:solidFill>
                  <a:srgbClr val="000000"/>
                </a:solidFill>
                <a:uFillTx/>
                <a:latin typeface="Cambria"/>
                <a:cs typeface="Cambria"/>
              </a:rPr>
              <a:t>i</a:t>
            </a:r>
            <a:r>
              <a:rPr lang="en-US" sz="1400" b="0" i="0" u="none" strike="noStrike" kern="1200" cap="none" spc="-5" baseline="0" dirty="0">
                <a:solidFill>
                  <a:srgbClr val="000000"/>
                </a:solidFill>
                <a:uFillTx/>
                <a:latin typeface="Cambria"/>
                <a:cs typeface="Cambria"/>
              </a:rPr>
              <a:t>v</a:t>
            </a:r>
            <a:r>
              <a:rPr lang="en-US" sz="1400" b="0" i="0" u="none" strike="noStrike" kern="1200" cap="none" spc="-10" baseline="0" dirty="0">
                <a:solidFill>
                  <a:srgbClr val="000000"/>
                </a:solidFill>
                <a:uFillTx/>
                <a:latin typeface="Cambria"/>
                <a:cs typeface="Cambria"/>
              </a:rPr>
              <a:t>e</a:t>
            </a:r>
            <a:r>
              <a:rPr lang="en-US" sz="1400" b="0" i="0" u="none" strike="noStrike" kern="1200" cap="none" spc="5" baseline="0" dirty="0">
                <a:solidFill>
                  <a:srgbClr val="000000"/>
                </a:solidFill>
                <a:uFillTx/>
                <a:latin typeface="Cambria"/>
                <a:cs typeface="Cambria"/>
              </a:rPr>
              <a:t>r</a:t>
            </a:r>
            <a:r>
              <a:rPr lang="en-US" sz="1400" b="0" i="0" u="none" strike="noStrike" kern="1200" cap="none" spc="-15" baseline="0" dirty="0">
                <a:solidFill>
                  <a:srgbClr val="000000"/>
                </a:solidFill>
                <a:uFillTx/>
                <a:latin typeface="Cambria"/>
                <a:cs typeface="Cambria"/>
              </a:rPr>
              <a:t>s</a:t>
            </a:r>
            <a:r>
              <a:rPr lang="en-US" sz="1400" b="0" i="0" u="none" strike="noStrike" kern="1200" cap="none" spc="0" baseline="0" dirty="0">
                <a:solidFill>
                  <a:srgbClr val="000000"/>
                </a:solidFill>
                <a:uFillTx/>
                <a:latin typeface="Cambria"/>
                <a:cs typeface="Cambria"/>
              </a:rPr>
              <a:t>ité</a:t>
            </a:r>
          </a:p>
        </p:txBody>
      </p:sp>
      <p:sp>
        <p:nvSpPr>
          <p:cNvPr id="21" name="object 56">
            <a:extLst>
              <a:ext uri="{FF2B5EF4-FFF2-40B4-BE49-F238E27FC236}">
                <a16:creationId xmlns:a16="http://schemas.microsoft.com/office/drawing/2014/main" id="{763E25D6-5030-4453-8898-90E1AABB83B9}"/>
              </a:ext>
            </a:extLst>
          </p:cNvPr>
          <p:cNvSpPr/>
          <p:nvPr/>
        </p:nvSpPr>
        <p:spPr>
          <a:xfrm>
            <a:off x="6655932" y="5094002"/>
            <a:ext cx="4996067" cy="72567"/>
          </a:xfrm>
          <a:custGeom>
            <a:avLst/>
            <a:gdLst>
              <a:gd name="f0" fmla="val w"/>
              <a:gd name="f1" fmla="val h"/>
              <a:gd name="f2" fmla="val 0"/>
              <a:gd name="f3" fmla="val 4567555"/>
              <a:gd name="f4" fmla="*/ f0 1 4567555"/>
              <a:gd name="f5" fmla="*/ f1 1 0"/>
              <a:gd name="f6" fmla="val f2"/>
              <a:gd name="f7" fmla="val f3"/>
              <a:gd name="f8" fmla="+- f6 0 f6"/>
              <a:gd name="f9" fmla="+- f7 0 f6"/>
              <a:gd name="f10" fmla="*/ f9 1 4567555"/>
              <a:gd name="f11" fmla="*/ f8 1 0"/>
              <a:gd name="f12" fmla="*/ 0 1 f10"/>
              <a:gd name="f13" fmla="*/ 4567555 1 f10"/>
              <a:gd name="f14" fmla="*/ 0 1 f11"/>
              <a:gd name="f15" fmla="*/ 1 1 f11"/>
              <a:gd name="f16" fmla="*/ f12 f4 1"/>
              <a:gd name="f17" fmla="*/ f13 f4 1"/>
              <a:gd name="f18" fmla="*/ f15 f5 1"/>
              <a:gd name="f19" fmla="*/ f14 f5 1"/>
            </a:gdLst>
            <a:ahLst/>
            <a:cxnLst>
              <a:cxn ang="3cd4">
                <a:pos x="hc" y="t"/>
              </a:cxn>
              <a:cxn ang="0">
                <a:pos x="r" y="vc"/>
              </a:cxn>
              <a:cxn ang="cd4">
                <a:pos x="hc" y="b"/>
              </a:cxn>
              <a:cxn ang="cd2">
                <a:pos x="l" y="vc"/>
              </a:cxn>
            </a:cxnLst>
            <a:rect l="f16" t="f19" r="f17" b="f18"/>
            <a:pathLst>
              <a:path w="4567555">
                <a:moveTo>
                  <a:pt x="f2" y="f2"/>
                </a:moveTo>
                <a:lnTo>
                  <a:pt x="f3" y="f2"/>
                </a:lnTo>
              </a:path>
            </a:pathLst>
          </a:custGeom>
          <a:noFill/>
          <a:ln w="6345" cap="flat">
            <a:solidFill>
              <a:srgbClr val="00000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2" name="object 51">
            <a:extLst>
              <a:ext uri="{FF2B5EF4-FFF2-40B4-BE49-F238E27FC236}">
                <a16:creationId xmlns:a16="http://schemas.microsoft.com/office/drawing/2014/main" id="{868D5B8B-2B14-4FAB-ADBB-1FF2E1D04FB6}"/>
              </a:ext>
            </a:extLst>
          </p:cNvPr>
          <p:cNvSpPr/>
          <p:nvPr/>
        </p:nvSpPr>
        <p:spPr>
          <a:xfrm flipH="1">
            <a:off x="6417268" y="5094003"/>
            <a:ext cx="45720" cy="1539968"/>
          </a:xfrm>
          <a:custGeom>
            <a:avLst/>
            <a:gdLst>
              <a:gd name="f0" fmla="val w"/>
              <a:gd name="f1" fmla="val h"/>
              <a:gd name="f2" fmla="val 0"/>
              <a:gd name="f3" fmla="val 45719"/>
              <a:gd name="f4" fmla="val 1539966"/>
              <a:gd name="f5" fmla="val 1539967"/>
              <a:gd name="f6" fmla="*/ f0 1 45719"/>
              <a:gd name="f7" fmla="*/ f1 1 1539966"/>
              <a:gd name="f8" fmla="val f2"/>
              <a:gd name="f9" fmla="val f3"/>
              <a:gd name="f10" fmla="val f4"/>
              <a:gd name="f11" fmla="+- f10 0 f8"/>
              <a:gd name="f12" fmla="+- f9 0 f8"/>
              <a:gd name="f13" fmla="*/ f12 1 45719"/>
              <a:gd name="f14" fmla="*/ f11 1 1539966"/>
              <a:gd name="f15" fmla="*/ 0 1 f13"/>
              <a:gd name="f16" fmla="*/ 45719 1 f13"/>
              <a:gd name="f17" fmla="*/ 0 1 f14"/>
              <a:gd name="f18" fmla="*/ 1539966 1 f14"/>
              <a:gd name="f19" fmla="*/ f15 f6 1"/>
              <a:gd name="f20" fmla="*/ f16 f6 1"/>
              <a:gd name="f21" fmla="*/ f18 f7 1"/>
              <a:gd name="f22" fmla="*/ f17 f7 1"/>
            </a:gdLst>
            <a:ahLst/>
            <a:cxnLst>
              <a:cxn ang="3cd4">
                <a:pos x="hc" y="t"/>
              </a:cxn>
              <a:cxn ang="0">
                <a:pos x="r" y="vc"/>
              </a:cxn>
              <a:cxn ang="cd4">
                <a:pos x="hc" y="b"/>
              </a:cxn>
              <a:cxn ang="cd2">
                <a:pos x="l" y="vc"/>
              </a:cxn>
            </a:cxnLst>
            <a:rect l="f19" t="f22" r="f20" b="f21"/>
            <a:pathLst>
              <a:path w="45719" h="1539966">
                <a:moveTo>
                  <a:pt x="f2" y="f2"/>
                </a:moveTo>
                <a:lnTo>
                  <a:pt x="f2" y="f5"/>
                </a:lnTo>
              </a:path>
            </a:pathLst>
          </a:custGeom>
          <a:noFill/>
          <a:ln w="14282" cap="flat">
            <a:solidFill>
              <a:srgbClr val="00000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0" name="object 64">
            <a:extLst>
              <a:ext uri="{FF2B5EF4-FFF2-40B4-BE49-F238E27FC236}">
                <a16:creationId xmlns:a16="http://schemas.microsoft.com/office/drawing/2014/main" id="{605CF9E2-440A-50E7-619A-697F301BE7E3}"/>
              </a:ext>
            </a:extLst>
          </p:cNvPr>
          <p:cNvSpPr txBox="1"/>
          <p:nvPr/>
        </p:nvSpPr>
        <p:spPr>
          <a:xfrm>
            <a:off x="3600448" y="5735415"/>
            <a:ext cx="2816820" cy="809840"/>
          </a:xfrm>
          <a:prstGeom prst="rect">
            <a:avLst/>
          </a:prstGeom>
          <a:noFill/>
          <a:ln cap="flat">
            <a:noFill/>
          </a:ln>
        </p:spPr>
        <p:txBody>
          <a:bodyPr vert="horz" wrap="square" lIns="0" tIns="55248" rIns="0" bIns="0" anchor="t" anchorCtr="0" compatLnSpc="1">
            <a:spAutoFit/>
          </a:bodyPr>
          <a:lstStyle/>
          <a:p>
            <a:pPr marL="396875">
              <a:spcBef>
                <a:spcPts val="100"/>
              </a:spcBef>
              <a:defRPr sz="1800" b="0" i="0" u="none" strike="noStrike" kern="0" cap="none" spc="0" baseline="0">
                <a:solidFill>
                  <a:srgbClr val="000000"/>
                </a:solidFill>
                <a:uFillTx/>
              </a:defRPr>
            </a:pPr>
            <a:r>
              <a:rPr lang="en-US" sz="1600" spc="-10" dirty="0">
                <a:solidFill>
                  <a:srgbClr val="000000"/>
                </a:solidFill>
                <a:latin typeface="Cambria"/>
              </a:rPr>
              <a:t>Par :</a:t>
            </a:r>
          </a:p>
          <a:p>
            <a:pPr marL="60325" marR="0" lvl="0" indent="173038" algn="l" defTabSz="914400" rtl="0" fontAlgn="auto" hangingPunct="1">
              <a:lnSpc>
                <a:spcPct val="100000"/>
              </a:lnSpc>
              <a:spcBef>
                <a:spcPts val="335"/>
              </a:spcBef>
              <a:spcAft>
                <a:spcPts val="0"/>
              </a:spcAft>
              <a:buFontTx/>
              <a:buChar char="-"/>
              <a:tabLst/>
              <a:defRPr sz="1800" b="0" i="0" u="none" strike="noStrike" kern="0" cap="none" spc="0" baseline="0">
                <a:solidFill>
                  <a:srgbClr val="000000"/>
                </a:solidFill>
                <a:uFillTx/>
              </a:defRPr>
            </a:pPr>
            <a:r>
              <a:rPr lang="en-US" sz="1400" b="1" i="0" u="none" strike="noStrike" kern="1200" cap="none" spc="-5" baseline="0" dirty="0">
                <a:solidFill>
                  <a:srgbClr val="000000"/>
                </a:solidFill>
                <a:uFillTx/>
                <a:latin typeface="Arial"/>
                <a:cs typeface="Arial"/>
              </a:rPr>
              <a:t>BOUGUELTA Omar </a:t>
            </a:r>
            <a:r>
              <a:rPr lang="en-US" sz="1400" b="1" i="0" u="none" strike="noStrike" kern="1200" cap="none" spc="-5" baseline="0" dirty="0" err="1">
                <a:solidFill>
                  <a:srgbClr val="000000"/>
                </a:solidFill>
                <a:uFillTx/>
                <a:latin typeface="Arial"/>
                <a:cs typeface="Arial"/>
              </a:rPr>
              <a:t>ElMokhtar</a:t>
            </a:r>
            <a:endParaRPr lang="en-US" sz="1400" b="1" i="0" u="none" strike="noStrike" kern="1200" cap="none" spc="-5" baseline="0" dirty="0">
              <a:solidFill>
                <a:srgbClr val="000000"/>
              </a:solidFill>
              <a:uFillTx/>
              <a:latin typeface="Arial"/>
              <a:cs typeface="Arial"/>
            </a:endParaRPr>
          </a:p>
          <a:p>
            <a:pPr marL="60325" indent="173038">
              <a:spcBef>
                <a:spcPts val="335"/>
              </a:spcBef>
              <a:buFontTx/>
              <a:buChar char="-"/>
              <a:defRPr sz="1800" b="0" i="0" u="none" strike="noStrike" kern="0" cap="none" spc="0" baseline="0">
                <a:solidFill>
                  <a:srgbClr val="000000"/>
                </a:solidFill>
                <a:uFillTx/>
              </a:defRPr>
            </a:pPr>
            <a:r>
              <a:rPr lang="fr-FR" sz="1400" b="1" spc="-5" dirty="0">
                <a:solidFill>
                  <a:srgbClr val="000000"/>
                </a:solidFill>
                <a:latin typeface="Arial"/>
                <a:cs typeface="Arial"/>
              </a:rPr>
              <a:t>BENSLIMANE Bouchra</a:t>
            </a:r>
            <a:endParaRPr lang="en-US" sz="1400" b="1" spc="-5" dirty="0">
              <a:solidFill>
                <a:srgbClr val="000000"/>
              </a:solidFill>
              <a:latin typeface="Arial"/>
              <a:cs typeface="Arial"/>
            </a:endParaRPr>
          </a:p>
        </p:txBody>
      </p:sp>
      <p:sp>
        <p:nvSpPr>
          <p:cNvPr id="19" name="TextBox 18">
            <a:extLst>
              <a:ext uri="{FF2B5EF4-FFF2-40B4-BE49-F238E27FC236}">
                <a16:creationId xmlns:a16="http://schemas.microsoft.com/office/drawing/2014/main" id="{1C25CC63-F34E-19B3-03C7-F2F614F6CD54}"/>
              </a:ext>
            </a:extLst>
          </p:cNvPr>
          <p:cNvSpPr txBox="1"/>
          <p:nvPr/>
        </p:nvSpPr>
        <p:spPr>
          <a:xfrm>
            <a:off x="3469887" y="3794743"/>
            <a:ext cx="8182113" cy="830997"/>
          </a:xfrm>
          <a:prstGeom prst="rect">
            <a:avLst/>
          </a:prstGeom>
          <a:gradFill flip="none"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path path="circle">
              <a:fillToRect l="50000" t="50000" r="50000" b="50000"/>
            </a:path>
            <a:tileRect/>
          </a:gradFill>
        </p:spPr>
        <p:style>
          <a:lnRef idx="1">
            <a:schemeClr val="accent3"/>
          </a:lnRef>
          <a:fillRef idx="2">
            <a:schemeClr val="accent3"/>
          </a:fillRef>
          <a:effectRef idx="1">
            <a:schemeClr val="accent3"/>
          </a:effectRef>
          <a:fontRef idx="minor">
            <a:schemeClr val="dk1"/>
          </a:fontRef>
        </p:style>
        <p:txBody>
          <a:bodyPr wrap="none" rtlCol="0">
            <a:spAutoFit/>
          </a:bodyPr>
          <a:lstStyle/>
          <a:p>
            <a:pPr>
              <a:buNone/>
            </a:pPr>
            <a:r>
              <a:rPr lang="fr-FR" sz="2400" dirty="0">
                <a:effectLst/>
              </a:rPr>
              <a:t>Étude comparative entre les R-CNN et l'algorithme YOLO pour</a:t>
            </a:r>
          </a:p>
          <a:p>
            <a:pPr algn="ctr"/>
            <a:r>
              <a:rPr lang="fr-FR" sz="2400" dirty="0"/>
              <a:t>l</a:t>
            </a:r>
            <a:r>
              <a:rPr lang="fr-FR" sz="2400" dirty="0">
                <a:effectLst/>
              </a:rPr>
              <a:t>a reconnaissance de formes</a:t>
            </a:r>
          </a:p>
        </p:txBody>
      </p:sp>
      <p:sp>
        <p:nvSpPr>
          <p:cNvPr id="25" name="TextBox 24">
            <a:extLst>
              <a:ext uri="{FF2B5EF4-FFF2-40B4-BE49-F238E27FC236}">
                <a16:creationId xmlns:a16="http://schemas.microsoft.com/office/drawing/2014/main" id="{C8D68BDB-2393-8734-C4DF-AE52AAE664C5}"/>
              </a:ext>
            </a:extLst>
          </p:cNvPr>
          <p:cNvSpPr txBox="1"/>
          <p:nvPr/>
        </p:nvSpPr>
        <p:spPr>
          <a:xfrm>
            <a:off x="6462988" y="5286540"/>
            <a:ext cx="1254150" cy="1354473"/>
          </a:xfrm>
          <a:prstGeom prst="rect">
            <a:avLst/>
          </a:prstGeom>
          <a:noFill/>
        </p:spPr>
        <p:txBody>
          <a:bodyPr wrap="square">
            <a:spAutoFit/>
          </a:bodyPr>
          <a:lstStyle/>
          <a:p>
            <a:pPr marR="0">
              <a:lnSpc>
                <a:spcPct val="150000"/>
              </a:lnSpc>
              <a:spcAft>
                <a:spcPts val="500"/>
              </a:spcAft>
              <a:buNone/>
              <a:tabLst>
                <a:tab pos="2133600" algn="l"/>
              </a:tabLst>
            </a:pPr>
            <a:r>
              <a:rPr lang="fr-FR" sz="1600" dirty="0"/>
              <a:t>Présidente</a:t>
            </a:r>
          </a:p>
          <a:p>
            <a:pPr marR="0">
              <a:lnSpc>
                <a:spcPct val="150000"/>
              </a:lnSpc>
              <a:spcAft>
                <a:spcPts val="1000"/>
              </a:spcAft>
              <a:buNone/>
              <a:tabLst>
                <a:tab pos="2133600" algn="l"/>
              </a:tabLst>
            </a:pPr>
            <a:r>
              <a:rPr lang="fr-FR" sz="1600" dirty="0"/>
              <a:t>Encadrant </a:t>
            </a:r>
          </a:p>
          <a:p>
            <a:pPr marR="0">
              <a:lnSpc>
                <a:spcPct val="150000"/>
              </a:lnSpc>
              <a:spcAft>
                <a:spcPts val="800"/>
              </a:spcAft>
              <a:buNone/>
              <a:tabLst>
                <a:tab pos="2133600" algn="l"/>
              </a:tabLst>
            </a:pPr>
            <a:r>
              <a:rPr lang="fr-FR" sz="1600" dirty="0"/>
              <a:t>Examinatrice</a:t>
            </a:r>
          </a:p>
        </p:txBody>
      </p:sp>
      <p:sp>
        <p:nvSpPr>
          <p:cNvPr id="26" name="TextBox 25">
            <a:extLst>
              <a:ext uri="{FF2B5EF4-FFF2-40B4-BE49-F238E27FC236}">
                <a16:creationId xmlns:a16="http://schemas.microsoft.com/office/drawing/2014/main" id="{7369024F-0D99-5B94-FDF4-EC27F355D0A1}"/>
              </a:ext>
            </a:extLst>
          </p:cNvPr>
          <p:cNvSpPr txBox="1"/>
          <p:nvPr/>
        </p:nvSpPr>
        <p:spPr>
          <a:xfrm>
            <a:off x="7749737" y="5259417"/>
            <a:ext cx="1739946" cy="1411027"/>
          </a:xfrm>
          <a:prstGeom prst="rect">
            <a:avLst/>
          </a:prstGeom>
          <a:noFill/>
        </p:spPr>
        <p:txBody>
          <a:bodyPr wrap="square">
            <a:spAutoFit/>
          </a:bodyPr>
          <a:lstStyle/>
          <a:p>
            <a:pPr marR="0">
              <a:lnSpc>
                <a:spcPct val="150000"/>
              </a:lnSpc>
              <a:spcAft>
                <a:spcPts val="600"/>
              </a:spcAft>
              <a:buNone/>
              <a:tabLst>
                <a:tab pos="2133600" algn="l"/>
              </a:tabLst>
            </a:pPr>
            <a:r>
              <a:rPr lang="fr-FR" sz="1600" dirty="0"/>
              <a:t>Mme BENDELLA.F</a:t>
            </a:r>
          </a:p>
          <a:p>
            <a:pPr marR="0">
              <a:buNone/>
              <a:tabLst>
                <a:tab pos="2133600" algn="l"/>
              </a:tabLst>
            </a:pPr>
            <a:r>
              <a:rPr lang="fr-FR" sz="1600" dirty="0"/>
              <a:t>Mme </a:t>
            </a:r>
            <a:r>
              <a:rPr lang="fr-FR" sz="1600" b="0" i="0" dirty="0">
                <a:solidFill>
                  <a:srgbClr val="080809"/>
                </a:solidFill>
                <a:effectLst/>
                <a:latin typeface="Segoe UI Historic" panose="020B0502040204020203" pitchFamily="34" charset="0"/>
              </a:rPr>
              <a:t>KINANE</a:t>
            </a:r>
          </a:p>
          <a:p>
            <a:pPr marR="0">
              <a:spcAft>
                <a:spcPts val="800"/>
              </a:spcAft>
              <a:buNone/>
              <a:tabLst>
                <a:tab pos="2133600" algn="l"/>
              </a:tabLst>
            </a:pPr>
            <a:r>
              <a:rPr lang="fr-FR" sz="1600" b="0" i="0" dirty="0">
                <a:solidFill>
                  <a:srgbClr val="080809"/>
                </a:solidFill>
                <a:effectLst/>
                <a:latin typeface="Segoe UI Historic" panose="020B0502040204020203" pitchFamily="34" charset="0"/>
              </a:rPr>
              <a:t>DAOUADJI</a:t>
            </a:r>
            <a:r>
              <a:rPr lang="fr-FR" sz="1600" dirty="0"/>
              <a:t>.A </a:t>
            </a:r>
          </a:p>
          <a:p>
            <a:pPr marR="0">
              <a:lnSpc>
                <a:spcPct val="107000"/>
              </a:lnSpc>
              <a:spcAft>
                <a:spcPts val="800"/>
              </a:spcAft>
              <a:buNone/>
              <a:tabLst>
                <a:tab pos="2133600" algn="l"/>
              </a:tabLst>
            </a:pPr>
            <a:r>
              <a:rPr lang="fr-FR" sz="1600" dirty="0"/>
              <a:t>Mme SELKA.S </a:t>
            </a:r>
          </a:p>
        </p:txBody>
      </p:sp>
      <p:sp>
        <p:nvSpPr>
          <p:cNvPr id="27" name="TextBox 26">
            <a:extLst>
              <a:ext uri="{FF2B5EF4-FFF2-40B4-BE49-F238E27FC236}">
                <a16:creationId xmlns:a16="http://schemas.microsoft.com/office/drawing/2014/main" id="{9E42BBF1-4886-9224-0ACC-2022C43F2726}"/>
              </a:ext>
            </a:extLst>
          </p:cNvPr>
          <p:cNvSpPr txBox="1"/>
          <p:nvPr/>
        </p:nvSpPr>
        <p:spPr>
          <a:xfrm>
            <a:off x="9545667" y="5266674"/>
            <a:ext cx="1088923" cy="1367297"/>
          </a:xfrm>
          <a:prstGeom prst="rect">
            <a:avLst/>
          </a:prstGeom>
          <a:noFill/>
        </p:spPr>
        <p:txBody>
          <a:bodyPr wrap="square">
            <a:spAutoFit/>
          </a:bodyPr>
          <a:lstStyle/>
          <a:p>
            <a:pPr marR="0">
              <a:lnSpc>
                <a:spcPct val="150000"/>
              </a:lnSpc>
              <a:spcAft>
                <a:spcPts val="800"/>
              </a:spcAft>
              <a:buNone/>
              <a:tabLst>
                <a:tab pos="2133600" algn="l"/>
              </a:tabLst>
            </a:pPr>
            <a:r>
              <a:rPr lang="fr-FR" sz="1600" b="1" dirty="0"/>
              <a:t>Professeur</a:t>
            </a:r>
          </a:p>
          <a:p>
            <a:pPr marR="0">
              <a:lnSpc>
                <a:spcPct val="150000"/>
              </a:lnSpc>
              <a:spcAft>
                <a:spcPts val="800"/>
              </a:spcAft>
              <a:buNone/>
              <a:tabLst>
                <a:tab pos="2133600" algn="l"/>
              </a:tabLst>
            </a:pPr>
            <a:r>
              <a:rPr lang="fr-FR" sz="1600" b="1" dirty="0"/>
              <a:t>MCA </a:t>
            </a:r>
          </a:p>
          <a:p>
            <a:pPr marR="0">
              <a:lnSpc>
                <a:spcPct val="150000"/>
              </a:lnSpc>
              <a:spcAft>
                <a:spcPts val="800"/>
              </a:spcAft>
              <a:buNone/>
              <a:tabLst>
                <a:tab pos="2133600" algn="l"/>
              </a:tabLst>
            </a:pPr>
            <a:r>
              <a:rPr lang="fr-FR" sz="1600" b="1" dirty="0"/>
              <a:t>MCB</a:t>
            </a:r>
          </a:p>
        </p:txBody>
      </p:sp>
      <p:sp>
        <p:nvSpPr>
          <p:cNvPr id="28" name="TextBox 27">
            <a:extLst>
              <a:ext uri="{FF2B5EF4-FFF2-40B4-BE49-F238E27FC236}">
                <a16:creationId xmlns:a16="http://schemas.microsoft.com/office/drawing/2014/main" id="{D9FC8BD6-C06E-FAC5-D25A-4958B6EA7068}"/>
              </a:ext>
            </a:extLst>
          </p:cNvPr>
          <p:cNvSpPr txBox="1"/>
          <p:nvPr/>
        </p:nvSpPr>
        <p:spPr>
          <a:xfrm>
            <a:off x="10737750" y="5266673"/>
            <a:ext cx="1264841" cy="1367297"/>
          </a:xfrm>
          <a:prstGeom prst="rect">
            <a:avLst/>
          </a:prstGeom>
          <a:noFill/>
        </p:spPr>
        <p:txBody>
          <a:bodyPr wrap="square">
            <a:spAutoFit/>
          </a:bodyPr>
          <a:lstStyle/>
          <a:p>
            <a:pPr marR="0">
              <a:lnSpc>
                <a:spcPct val="150000"/>
              </a:lnSpc>
              <a:spcAft>
                <a:spcPts val="800"/>
              </a:spcAft>
              <a:buNone/>
              <a:tabLst>
                <a:tab pos="2133600" algn="l"/>
              </a:tabLst>
            </a:pPr>
            <a:r>
              <a:rPr lang="fr-FR" sz="1600" b="1" dirty="0"/>
              <a:t>USTO-MB</a:t>
            </a:r>
          </a:p>
          <a:p>
            <a:pPr marR="0">
              <a:lnSpc>
                <a:spcPct val="150000"/>
              </a:lnSpc>
              <a:spcAft>
                <a:spcPts val="800"/>
              </a:spcAft>
              <a:buNone/>
              <a:tabLst>
                <a:tab pos="2133600" algn="l"/>
              </a:tabLst>
            </a:pPr>
            <a:r>
              <a:rPr lang="fr-FR" sz="1600" b="1" dirty="0"/>
              <a:t>USTO-MB </a:t>
            </a:r>
          </a:p>
          <a:p>
            <a:pPr marR="0">
              <a:lnSpc>
                <a:spcPct val="150000"/>
              </a:lnSpc>
              <a:spcAft>
                <a:spcPts val="800"/>
              </a:spcAft>
              <a:buNone/>
              <a:tabLst>
                <a:tab pos="2133600" algn="l"/>
              </a:tabLst>
            </a:pPr>
            <a:r>
              <a:rPr lang="fr-FR" sz="1600" b="1" dirty="0"/>
              <a:t>USTO-MB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C1B0FDB9-3B33-DF21-01DB-C53783FC5358}"/>
              </a:ext>
            </a:extLst>
          </p:cNvPr>
          <p:cNvSpPr>
            <a:spLocks noGrp="1"/>
          </p:cNvSpPr>
          <p:nvPr>
            <p:ph type="sldNum" sz="quarter" idx="4294967295"/>
          </p:nvPr>
        </p:nvSpPr>
        <p:spPr>
          <a:xfrm>
            <a:off x="9448800" y="6356350"/>
            <a:ext cx="2743200" cy="365125"/>
          </a:xfrm>
        </p:spPr>
        <p:txBody>
          <a:bodyPr/>
          <a:lstStyle/>
          <a:p>
            <a:pPr lvl="0"/>
            <a:fld id="{F40BAF6F-A56D-4405-BED1-A85D863138C1}" type="slidenum">
              <a:rPr lang="fr-FR" smtClean="0"/>
              <a:t>2</a:t>
            </a:fld>
            <a:endParaRPr lang="fr-FR"/>
          </a:p>
        </p:txBody>
      </p:sp>
      <p:sp>
        <p:nvSpPr>
          <p:cNvPr id="3" name="TextBox 2">
            <a:extLst>
              <a:ext uri="{FF2B5EF4-FFF2-40B4-BE49-F238E27FC236}">
                <a16:creationId xmlns:a16="http://schemas.microsoft.com/office/drawing/2014/main" id="{D24EB966-41B0-D5DB-6E7E-24266A0DCCB6}"/>
              </a:ext>
            </a:extLst>
          </p:cNvPr>
          <p:cNvSpPr txBox="1"/>
          <p:nvPr/>
        </p:nvSpPr>
        <p:spPr>
          <a:xfrm>
            <a:off x="1976980" y="469970"/>
            <a:ext cx="1996966" cy="830997"/>
          </a:xfrm>
          <a:prstGeom prst="rect">
            <a:avLst/>
          </a:prstGeom>
          <a:noFill/>
        </p:spPr>
        <p:txBody>
          <a:bodyPr wrap="square" rtlCol="0">
            <a:spAutoFit/>
          </a:bodyPr>
          <a:lstStyle/>
          <a:p>
            <a:r>
              <a:rPr lang="fr-FR" sz="4800" dirty="0">
                <a:solidFill>
                  <a:srgbClr val="1CA6DB"/>
                </a:solidFill>
              </a:rPr>
              <a:t>PLAN</a:t>
            </a:r>
          </a:p>
        </p:txBody>
      </p:sp>
      <p:sp>
        <p:nvSpPr>
          <p:cNvPr id="4" name="TextBox 3">
            <a:extLst>
              <a:ext uri="{FF2B5EF4-FFF2-40B4-BE49-F238E27FC236}">
                <a16:creationId xmlns:a16="http://schemas.microsoft.com/office/drawing/2014/main" id="{D64DB373-0394-EA10-5E72-41BF2420F8C8}"/>
              </a:ext>
            </a:extLst>
          </p:cNvPr>
          <p:cNvSpPr txBox="1"/>
          <p:nvPr/>
        </p:nvSpPr>
        <p:spPr>
          <a:xfrm>
            <a:off x="1555531" y="1849821"/>
            <a:ext cx="7472855" cy="52322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fr-FR" sz="2800" dirty="0"/>
              <a:t>Introduction</a:t>
            </a:r>
          </a:p>
        </p:txBody>
      </p:sp>
      <p:sp>
        <p:nvSpPr>
          <p:cNvPr id="6" name="TextBox 5">
            <a:extLst>
              <a:ext uri="{FF2B5EF4-FFF2-40B4-BE49-F238E27FC236}">
                <a16:creationId xmlns:a16="http://schemas.microsoft.com/office/drawing/2014/main" id="{C1B5DD00-7020-EED8-F7B7-FF1C7DBA0450}"/>
              </a:ext>
            </a:extLst>
          </p:cNvPr>
          <p:cNvSpPr txBox="1"/>
          <p:nvPr/>
        </p:nvSpPr>
        <p:spPr>
          <a:xfrm>
            <a:off x="1550276" y="2639410"/>
            <a:ext cx="7472855" cy="52322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defPPr>
              <a:defRPr lang="fr-FR"/>
            </a:defPPr>
            <a:lvl1pPr>
              <a:defRPr sz="28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err="1"/>
              <a:t>Froms</a:t>
            </a:r>
            <a:r>
              <a:rPr lang="en-US" dirty="0"/>
              <a:t> recognition</a:t>
            </a:r>
            <a:endParaRPr lang="fr-FR" dirty="0"/>
          </a:p>
        </p:txBody>
      </p:sp>
      <p:sp>
        <p:nvSpPr>
          <p:cNvPr id="7" name="TextBox 6">
            <a:extLst>
              <a:ext uri="{FF2B5EF4-FFF2-40B4-BE49-F238E27FC236}">
                <a16:creationId xmlns:a16="http://schemas.microsoft.com/office/drawing/2014/main" id="{53481A26-8FDC-BE4A-4670-19DB94CF76A5}"/>
              </a:ext>
            </a:extLst>
          </p:cNvPr>
          <p:cNvSpPr txBox="1"/>
          <p:nvPr/>
        </p:nvSpPr>
        <p:spPr>
          <a:xfrm>
            <a:off x="1550276" y="3429000"/>
            <a:ext cx="7472855" cy="52322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defPPr>
              <a:defRPr lang="fr-FR"/>
            </a:defPPr>
            <a:lvl1pPr>
              <a:defRPr sz="28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err="1"/>
              <a:t>Comparaison</a:t>
            </a:r>
            <a:r>
              <a:rPr lang="en-US" dirty="0"/>
              <a:t> : YOLO vs Faster R-CNN</a:t>
            </a:r>
            <a:endParaRPr lang="fr-FR" dirty="0"/>
          </a:p>
        </p:txBody>
      </p:sp>
      <p:sp>
        <p:nvSpPr>
          <p:cNvPr id="8" name="TextBox 7">
            <a:extLst>
              <a:ext uri="{FF2B5EF4-FFF2-40B4-BE49-F238E27FC236}">
                <a16:creationId xmlns:a16="http://schemas.microsoft.com/office/drawing/2014/main" id="{10DA2A9A-6473-8074-96B7-DD32C9DACDF0}"/>
              </a:ext>
            </a:extLst>
          </p:cNvPr>
          <p:cNvSpPr txBox="1"/>
          <p:nvPr/>
        </p:nvSpPr>
        <p:spPr>
          <a:xfrm>
            <a:off x="1550275" y="4218590"/>
            <a:ext cx="7472855" cy="52322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defPPr>
              <a:defRPr lang="fr-FR"/>
            </a:defPPr>
            <a:lvl1pPr>
              <a:defRPr sz="28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Conclusion</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161A48D-C0FF-91A0-F67F-1803AE100B96}"/>
              </a:ext>
            </a:extLst>
          </p:cNvPr>
          <p:cNvSpPr txBox="1"/>
          <p:nvPr/>
        </p:nvSpPr>
        <p:spPr>
          <a:xfrm>
            <a:off x="1473114" y="752778"/>
            <a:ext cx="8505057" cy="2908489"/>
          </a:xfrm>
          <a:prstGeom prst="rect">
            <a:avLst/>
          </a:prstGeom>
          <a:noFill/>
        </p:spPr>
        <p:txBody>
          <a:bodyPr wrap="square" rtlCol="0">
            <a:spAutoFit/>
          </a:bodyPr>
          <a:lstStyle/>
          <a:p>
            <a:pPr algn="just"/>
            <a:r>
              <a:rPr lang="en-US" sz="2400" dirty="0"/>
              <a:t>Recent AI growth, driven by deep learning and computer vision, allows automatic object identification in images/videos. This powers diverse applications (e.g., autonomous vehicles, video surveillance) with fast, reliable solutions.</a:t>
            </a:r>
          </a:p>
          <a:p>
            <a:pPr marL="342900" indent="-342900" algn="just">
              <a:buFont typeface="Courier New" panose="02070309020205020404" pitchFamily="49" charset="0"/>
              <a:buChar char="o"/>
            </a:pPr>
            <a:endParaRPr lang="en-US" sz="2400" dirty="0">
              <a:solidFill>
                <a:schemeClr val="tx2">
                  <a:lumMod val="50000"/>
                </a:schemeClr>
              </a:solidFill>
            </a:endParaRPr>
          </a:p>
          <a:p>
            <a:pPr marL="342900" indent="-342900" algn="just">
              <a:buFont typeface="Courier New" panose="02070309020205020404" pitchFamily="49" charset="0"/>
              <a:buChar char="o"/>
            </a:pPr>
            <a:r>
              <a:rPr lang="en-US" sz="2100" dirty="0"/>
              <a:t>Our project focuses on object detection in diverse contexts for overall security and surveillance, explored through three distinct yet complementary case studies :</a:t>
            </a:r>
          </a:p>
        </p:txBody>
      </p:sp>
      <p:grpSp>
        <p:nvGrpSpPr>
          <p:cNvPr id="22" name="Group 21">
            <a:extLst>
              <a:ext uri="{FF2B5EF4-FFF2-40B4-BE49-F238E27FC236}">
                <a16:creationId xmlns:a16="http://schemas.microsoft.com/office/drawing/2014/main" id="{B732814E-D6DC-95EA-76F7-FC281B236E5A}"/>
              </a:ext>
            </a:extLst>
          </p:cNvPr>
          <p:cNvGrpSpPr/>
          <p:nvPr/>
        </p:nvGrpSpPr>
        <p:grpSpPr>
          <a:xfrm>
            <a:off x="1030417" y="4085965"/>
            <a:ext cx="10131165" cy="2586486"/>
            <a:chOff x="728826" y="4035165"/>
            <a:chExt cx="10131165" cy="2586486"/>
          </a:xfrm>
        </p:grpSpPr>
        <p:sp>
          <p:nvSpPr>
            <p:cNvPr id="7" name="Oval 6">
              <a:extLst>
                <a:ext uri="{FF2B5EF4-FFF2-40B4-BE49-F238E27FC236}">
                  <a16:creationId xmlns:a16="http://schemas.microsoft.com/office/drawing/2014/main" id="{10DED8CE-5CB2-6412-7325-C385E8AB6E79}"/>
                </a:ext>
              </a:extLst>
            </p:cNvPr>
            <p:cNvSpPr/>
            <p:nvPr/>
          </p:nvSpPr>
          <p:spPr>
            <a:xfrm>
              <a:off x="1712969" y="4035165"/>
              <a:ext cx="1013792" cy="1013792"/>
            </a:xfrm>
            <a:prstGeom prst="ellipse">
              <a:avLst/>
            </a:prstGeom>
            <a:solidFill>
              <a:srgbClr val="F252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C5E48D5-FDA7-9289-E671-1DF0C1D3A14A}"/>
                </a:ext>
              </a:extLst>
            </p:cNvPr>
            <p:cNvSpPr/>
            <p:nvPr/>
          </p:nvSpPr>
          <p:spPr>
            <a:xfrm>
              <a:off x="5082208" y="4035165"/>
              <a:ext cx="1013792" cy="1013792"/>
            </a:xfrm>
            <a:prstGeom prst="ellipse">
              <a:avLst/>
            </a:prstGeom>
            <a:solidFill>
              <a:srgbClr val="FFA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792BD84-2D88-ADDF-5F8D-9F94028BB425}"/>
                </a:ext>
              </a:extLst>
            </p:cNvPr>
            <p:cNvSpPr/>
            <p:nvPr/>
          </p:nvSpPr>
          <p:spPr>
            <a:xfrm>
              <a:off x="8557513" y="4035165"/>
              <a:ext cx="1013792" cy="1013792"/>
            </a:xfrm>
            <a:prstGeom prst="ellipse">
              <a:avLst/>
            </a:prstGeom>
            <a:solidFill>
              <a:srgbClr val="2734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DCCECD46-BEDB-4829-4C8B-4F749C835C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0909" y="4181097"/>
              <a:ext cx="733324" cy="733324"/>
            </a:xfrm>
            <a:prstGeom prst="rect">
              <a:avLst/>
            </a:prstGeom>
          </p:spPr>
        </p:pic>
        <p:pic>
          <p:nvPicPr>
            <p:cNvPr id="11" name="Picture 10">
              <a:extLst>
                <a:ext uri="{FF2B5EF4-FFF2-40B4-BE49-F238E27FC236}">
                  <a16:creationId xmlns:a16="http://schemas.microsoft.com/office/drawing/2014/main" id="{D52AAAA2-5DEB-5E63-366B-2D4BCC6089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8372" y="4224600"/>
              <a:ext cx="634921" cy="634921"/>
            </a:xfrm>
            <a:prstGeom prst="rect">
              <a:avLst/>
            </a:prstGeom>
          </p:spPr>
        </p:pic>
        <p:pic>
          <p:nvPicPr>
            <p:cNvPr id="12" name="Picture 11">
              <a:extLst>
                <a:ext uri="{FF2B5EF4-FFF2-40B4-BE49-F238E27FC236}">
                  <a16:creationId xmlns:a16="http://schemas.microsoft.com/office/drawing/2014/main" id="{C5613C2B-2808-B66A-50AB-7D4661F044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10663" y="4231305"/>
              <a:ext cx="694594" cy="694594"/>
            </a:xfrm>
            <a:prstGeom prst="rect">
              <a:avLst/>
            </a:prstGeom>
          </p:spPr>
        </p:pic>
        <p:grpSp>
          <p:nvGrpSpPr>
            <p:cNvPr id="13" name="Group 12">
              <a:extLst>
                <a:ext uri="{FF2B5EF4-FFF2-40B4-BE49-F238E27FC236}">
                  <a16:creationId xmlns:a16="http://schemas.microsoft.com/office/drawing/2014/main" id="{ED3C9717-1C02-FD5C-12D9-8A98FE06D25D}"/>
                </a:ext>
              </a:extLst>
            </p:cNvPr>
            <p:cNvGrpSpPr/>
            <p:nvPr/>
          </p:nvGrpSpPr>
          <p:grpSpPr>
            <a:xfrm>
              <a:off x="728826" y="5277433"/>
              <a:ext cx="3168183" cy="1344218"/>
              <a:chOff x="1784816" y="3935896"/>
              <a:chExt cx="3168183" cy="1344218"/>
            </a:xfrm>
          </p:grpSpPr>
          <p:sp>
            <p:nvSpPr>
              <p:cNvPr id="14" name="TextBox 13">
                <a:extLst>
                  <a:ext uri="{FF2B5EF4-FFF2-40B4-BE49-F238E27FC236}">
                    <a16:creationId xmlns:a16="http://schemas.microsoft.com/office/drawing/2014/main" id="{730C36B8-52A7-7ED6-A41D-48A49AC159E4}"/>
                  </a:ext>
                </a:extLst>
              </p:cNvPr>
              <p:cNvSpPr txBox="1"/>
              <p:nvPr/>
            </p:nvSpPr>
            <p:spPr>
              <a:xfrm>
                <a:off x="1784816" y="4541450"/>
                <a:ext cx="3168183" cy="738664"/>
              </a:xfrm>
              <a:prstGeom prst="rect">
                <a:avLst/>
              </a:prstGeom>
              <a:noFill/>
            </p:spPr>
            <p:txBody>
              <a:bodyPr wrap="square" rtlCol="0">
                <a:spAutoFit/>
              </a:bodyPr>
              <a:lstStyle/>
              <a:p>
                <a:pPr algn="ctr"/>
                <a:r>
                  <a:rPr lang="en-US" sz="1400" dirty="0"/>
                  <a:t>Prevents home/residential intrusions in high-risk regions to protect human health.</a:t>
                </a:r>
                <a:endParaRPr lang="en-US" sz="1400" dirty="0">
                  <a:solidFill>
                    <a:schemeClr val="bg1">
                      <a:lumMod val="65000"/>
                    </a:schemeClr>
                  </a:solidFill>
                  <a:latin typeface="Tw Cen MT" panose="020B0602020104020603" pitchFamily="34" charset="0"/>
                  <a:ea typeface="Tahoma" panose="020B060403050404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48204936-34EC-8478-2F4B-58423949A9CD}"/>
                  </a:ext>
                </a:extLst>
              </p:cNvPr>
              <p:cNvSpPr txBox="1"/>
              <p:nvPr/>
            </p:nvSpPr>
            <p:spPr>
              <a:xfrm>
                <a:off x="2024058" y="3935896"/>
                <a:ext cx="2689700" cy="461665"/>
              </a:xfrm>
              <a:prstGeom prst="rect">
                <a:avLst/>
              </a:prstGeom>
              <a:noFill/>
            </p:spPr>
            <p:txBody>
              <a:bodyPr wrap="square" rtlCol="0">
                <a:spAutoFit/>
              </a:bodyPr>
              <a:lstStyle/>
              <a:p>
                <a:pPr algn="ctr"/>
                <a:r>
                  <a:rPr lang="fr-FR" sz="2400" b="1" dirty="0">
                    <a:solidFill>
                      <a:srgbClr val="F25245"/>
                    </a:solidFill>
                    <a:latin typeface="Tw Cen MT" panose="020B0602020104020603" pitchFamily="34" charset="0"/>
                    <a:ea typeface="Tahoma" panose="020B0604030504040204" pitchFamily="34" charset="0"/>
                    <a:cs typeface="Arial" panose="020B0604020202020204" pitchFamily="34" charset="0"/>
                  </a:rPr>
                  <a:t>Scorpion </a:t>
                </a:r>
                <a:r>
                  <a:rPr lang="fr-FR" sz="2400" b="1" dirty="0" err="1">
                    <a:solidFill>
                      <a:srgbClr val="F25245"/>
                    </a:solidFill>
                    <a:latin typeface="Tw Cen MT" panose="020B0602020104020603" pitchFamily="34" charset="0"/>
                    <a:ea typeface="Tahoma" panose="020B0604030504040204" pitchFamily="34" charset="0"/>
                    <a:cs typeface="Arial" panose="020B0604020202020204" pitchFamily="34" charset="0"/>
                  </a:rPr>
                  <a:t>Detection</a:t>
                </a:r>
                <a:endPar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BB648B6C-A497-C4CD-6250-C23AD4C245EC}"/>
                </a:ext>
              </a:extLst>
            </p:cNvPr>
            <p:cNvGrpSpPr/>
            <p:nvPr/>
          </p:nvGrpSpPr>
          <p:grpSpPr>
            <a:xfrm>
              <a:off x="4094796" y="5254584"/>
              <a:ext cx="3168183" cy="1367067"/>
              <a:chOff x="1781547" y="3913047"/>
              <a:chExt cx="3168183" cy="1367067"/>
            </a:xfrm>
          </p:grpSpPr>
          <p:sp>
            <p:nvSpPr>
              <p:cNvPr id="17" name="TextBox 16">
                <a:extLst>
                  <a:ext uri="{FF2B5EF4-FFF2-40B4-BE49-F238E27FC236}">
                    <a16:creationId xmlns:a16="http://schemas.microsoft.com/office/drawing/2014/main" id="{5C917261-9EB8-5762-BA55-EC6DC945BB3B}"/>
                  </a:ext>
                </a:extLst>
              </p:cNvPr>
              <p:cNvSpPr txBox="1"/>
              <p:nvPr/>
            </p:nvSpPr>
            <p:spPr>
              <a:xfrm>
                <a:off x="1781547" y="4541450"/>
                <a:ext cx="3168183" cy="738664"/>
              </a:xfrm>
              <a:prstGeom prst="rect">
                <a:avLst/>
              </a:prstGeom>
              <a:noFill/>
            </p:spPr>
            <p:txBody>
              <a:bodyPr wrap="square" rtlCol="0">
                <a:spAutoFit/>
              </a:bodyPr>
              <a:lstStyle/>
              <a:p>
                <a:pPr algn="ctr"/>
                <a:r>
                  <a:rPr lang="en-US" sz="1400" dirty="0"/>
                  <a:t>Monitors road/highway traffic for security, improved flow, and anomaly/violation identification.</a:t>
                </a:r>
                <a:endParaRPr lang="en-US" sz="1400" dirty="0">
                  <a:solidFill>
                    <a:schemeClr val="bg1">
                      <a:lumMod val="65000"/>
                    </a:schemeClr>
                  </a:solidFill>
                  <a:latin typeface="Tw Cen MT" panose="020B0602020104020603" pitchFamily="34" charset="0"/>
                  <a:ea typeface="Tahoma" panose="020B060403050404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AF9E1ED7-9C96-43ED-11F6-66964B9796BA}"/>
                  </a:ext>
                </a:extLst>
              </p:cNvPr>
              <p:cNvSpPr txBox="1"/>
              <p:nvPr/>
            </p:nvSpPr>
            <p:spPr>
              <a:xfrm>
                <a:off x="1781547" y="3913047"/>
                <a:ext cx="3168182" cy="461665"/>
              </a:xfrm>
              <a:prstGeom prst="rect">
                <a:avLst/>
              </a:prstGeom>
              <a:noFill/>
            </p:spPr>
            <p:txBody>
              <a:bodyPr wrap="square" rtlCol="0">
                <a:spAutoFit/>
              </a:bodyPr>
              <a:lstStyle/>
              <a:p>
                <a:pPr algn="ctr"/>
                <a:r>
                  <a:rPr lang="fr-FR" sz="2400" b="1" dirty="0">
                    <a:solidFill>
                      <a:srgbClr val="FFA956"/>
                    </a:solidFill>
                    <a:latin typeface="Tw Cen MT" panose="020B0602020104020603" pitchFamily="34" charset="0"/>
                    <a:ea typeface="Tahoma" panose="020B0604030504040204" pitchFamily="34" charset="0"/>
                    <a:cs typeface="Arial" panose="020B0604020202020204" pitchFamily="34" charset="0"/>
                  </a:rPr>
                  <a:t>Road </a:t>
                </a:r>
                <a:r>
                  <a:rPr lang="fr-FR" sz="2400" b="1" dirty="0" err="1">
                    <a:solidFill>
                      <a:srgbClr val="FFA956"/>
                    </a:solidFill>
                    <a:latin typeface="Tw Cen MT" panose="020B0602020104020603" pitchFamily="34" charset="0"/>
                    <a:ea typeface="Tahoma" panose="020B0604030504040204" pitchFamily="34" charset="0"/>
                    <a:cs typeface="Arial" panose="020B0604020202020204" pitchFamily="34" charset="0"/>
                  </a:rPr>
                  <a:t>Vehicle</a:t>
                </a:r>
                <a:r>
                  <a:rPr lang="fr-FR" sz="2400" b="1" dirty="0">
                    <a:solidFill>
                      <a:srgbClr val="FFA956"/>
                    </a:solidFill>
                    <a:latin typeface="Tw Cen MT" panose="020B0602020104020603" pitchFamily="34" charset="0"/>
                    <a:ea typeface="Tahoma" panose="020B0604030504040204" pitchFamily="34" charset="0"/>
                    <a:cs typeface="Arial" panose="020B0604020202020204" pitchFamily="34" charset="0"/>
                  </a:rPr>
                  <a:t> </a:t>
                </a:r>
                <a:r>
                  <a:rPr lang="fr-FR" sz="2400" b="1" dirty="0" err="1">
                    <a:solidFill>
                      <a:srgbClr val="FFA956"/>
                    </a:solidFill>
                    <a:latin typeface="Tw Cen MT" panose="020B0602020104020603" pitchFamily="34" charset="0"/>
                    <a:ea typeface="Tahoma" panose="020B0604030504040204" pitchFamily="34" charset="0"/>
                    <a:cs typeface="Arial" panose="020B0604020202020204" pitchFamily="34" charset="0"/>
                  </a:rPr>
                  <a:t>Detection</a:t>
                </a:r>
                <a:endParaRPr lang="en-US" sz="2400" b="1" dirty="0">
                  <a:solidFill>
                    <a:srgbClr val="FFA956"/>
                  </a:solidFill>
                  <a:latin typeface="Tw Cen MT" panose="020B0602020104020603" pitchFamily="34" charset="0"/>
                  <a:ea typeface="Tahoma" panose="020B0604030504040204" pitchFamily="34" charset="0"/>
                  <a:cs typeface="Arial" panose="020B0604020202020204" pitchFamily="34" charset="0"/>
                </a:endParaRPr>
              </a:p>
            </p:txBody>
          </p:sp>
        </p:grpSp>
        <p:grpSp>
          <p:nvGrpSpPr>
            <p:cNvPr id="19" name="Group 18">
              <a:extLst>
                <a:ext uri="{FF2B5EF4-FFF2-40B4-BE49-F238E27FC236}">
                  <a16:creationId xmlns:a16="http://schemas.microsoft.com/office/drawing/2014/main" id="{A3E1B65C-E5B9-D986-3622-DF5851ED1EDE}"/>
                </a:ext>
              </a:extLst>
            </p:cNvPr>
            <p:cNvGrpSpPr/>
            <p:nvPr/>
          </p:nvGrpSpPr>
          <p:grpSpPr>
            <a:xfrm>
              <a:off x="7374683" y="5194889"/>
              <a:ext cx="3485308" cy="1319040"/>
              <a:chOff x="1586129" y="3853352"/>
              <a:chExt cx="3485308" cy="1319040"/>
            </a:xfrm>
          </p:grpSpPr>
          <p:sp>
            <p:nvSpPr>
              <p:cNvPr id="20" name="TextBox 19">
                <a:extLst>
                  <a:ext uri="{FF2B5EF4-FFF2-40B4-BE49-F238E27FC236}">
                    <a16:creationId xmlns:a16="http://schemas.microsoft.com/office/drawing/2014/main" id="{70A3DE51-CAB1-22B5-B6E1-15073F289D0F}"/>
                  </a:ext>
                </a:extLst>
              </p:cNvPr>
              <p:cNvSpPr txBox="1"/>
              <p:nvPr/>
            </p:nvSpPr>
            <p:spPr>
              <a:xfrm>
                <a:off x="1686657" y="4649172"/>
                <a:ext cx="3168183" cy="523220"/>
              </a:xfrm>
              <a:prstGeom prst="rect">
                <a:avLst/>
              </a:prstGeom>
              <a:noFill/>
            </p:spPr>
            <p:txBody>
              <a:bodyPr wrap="square" rtlCol="0">
                <a:spAutoFit/>
              </a:bodyPr>
              <a:lstStyle/>
              <a:p>
                <a:pPr algn="ctr"/>
                <a:r>
                  <a:rPr lang="en-US" sz="1400" dirty="0"/>
                  <a:t>For military, strategic, and urban planning applications.</a:t>
                </a:r>
                <a:endParaRPr lang="en-US" sz="1400" dirty="0">
                  <a:solidFill>
                    <a:schemeClr val="bg1">
                      <a:lumMod val="65000"/>
                    </a:schemeClr>
                  </a:solidFill>
                  <a:latin typeface="Tw Cen MT" panose="020B0602020104020603" pitchFamily="34" charset="0"/>
                  <a:ea typeface="Tahoma" panose="020B060403050404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278EAC01-3DC7-69C8-4326-787808B39165}"/>
                  </a:ext>
                </a:extLst>
              </p:cNvPr>
              <p:cNvSpPr txBox="1"/>
              <p:nvPr/>
            </p:nvSpPr>
            <p:spPr>
              <a:xfrm>
                <a:off x="1586129" y="3853352"/>
                <a:ext cx="3485308" cy="830997"/>
              </a:xfrm>
              <a:prstGeom prst="rect">
                <a:avLst/>
              </a:prstGeom>
              <a:noFill/>
            </p:spPr>
            <p:txBody>
              <a:bodyPr wrap="square" rtlCol="0">
                <a:spAutoFit/>
              </a:bodyPr>
              <a:lstStyle/>
              <a:p>
                <a:pPr algn="ctr"/>
                <a:r>
                  <a:rPr lang="fr-FR" sz="2400" b="1" dirty="0">
                    <a:solidFill>
                      <a:srgbClr val="273445"/>
                    </a:solidFill>
                    <a:latin typeface="Tw Cen MT" panose="020B0602020104020603" pitchFamily="34" charset="0"/>
                    <a:ea typeface="Tahoma" panose="020B0604030504040204" pitchFamily="34" charset="0"/>
                    <a:cs typeface="Arial" panose="020B0604020202020204" pitchFamily="34" charset="0"/>
                  </a:rPr>
                  <a:t>Satellite </a:t>
                </a:r>
                <a:r>
                  <a:rPr lang="fr-FR" sz="2400" b="1" dirty="0" err="1">
                    <a:solidFill>
                      <a:srgbClr val="273445"/>
                    </a:solidFill>
                    <a:latin typeface="Tw Cen MT" panose="020B0602020104020603" pitchFamily="34" charset="0"/>
                    <a:ea typeface="Tahoma" panose="020B0604030504040204" pitchFamily="34" charset="0"/>
                    <a:cs typeface="Arial" panose="020B0604020202020204" pitchFamily="34" charset="0"/>
                  </a:rPr>
                  <a:t>Vehicle</a:t>
                </a:r>
                <a:r>
                  <a:rPr lang="fr-FR" sz="2400" b="1" dirty="0">
                    <a:solidFill>
                      <a:srgbClr val="273445"/>
                    </a:solidFill>
                    <a:latin typeface="Tw Cen MT" panose="020B0602020104020603" pitchFamily="34" charset="0"/>
                    <a:ea typeface="Tahoma" panose="020B0604030504040204" pitchFamily="34" charset="0"/>
                    <a:cs typeface="Arial" panose="020B0604020202020204" pitchFamily="34" charset="0"/>
                  </a:rPr>
                  <a:t> </a:t>
                </a:r>
              </a:p>
              <a:p>
                <a:pPr algn="ctr"/>
                <a:r>
                  <a:rPr lang="fr-FR" sz="2400" b="1" dirty="0" err="1">
                    <a:solidFill>
                      <a:srgbClr val="273445"/>
                    </a:solidFill>
                    <a:latin typeface="Tw Cen MT" panose="020B0602020104020603" pitchFamily="34" charset="0"/>
                    <a:ea typeface="Tahoma" panose="020B0604030504040204" pitchFamily="34" charset="0"/>
                    <a:cs typeface="Arial" panose="020B0604020202020204" pitchFamily="34" charset="0"/>
                  </a:rPr>
                  <a:t>Detection</a:t>
                </a:r>
                <a:endParaRPr lang="en-US" sz="2400" b="1" dirty="0">
                  <a:solidFill>
                    <a:srgbClr val="273445"/>
                  </a:solidFill>
                  <a:latin typeface="Tw Cen MT" panose="020B0602020104020603" pitchFamily="34" charset="0"/>
                  <a:ea typeface="Tahoma" panose="020B0604030504040204" pitchFamily="34" charset="0"/>
                  <a:cs typeface="Arial" panose="020B0604020202020204" pitchFamily="34" charset="0"/>
                </a:endParaRPr>
              </a:p>
            </p:txBody>
          </p:sp>
        </p:grpSp>
      </p:grpSp>
      <p:grpSp>
        <p:nvGrpSpPr>
          <p:cNvPr id="29" name="Group 28">
            <a:extLst>
              <a:ext uri="{FF2B5EF4-FFF2-40B4-BE49-F238E27FC236}">
                <a16:creationId xmlns:a16="http://schemas.microsoft.com/office/drawing/2014/main" id="{F39664BB-6E1C-400E-49DB-730724FC260B}"/>
              </a:ext>
            </a:extLst>
          </p:cNvPr>
          <p:cNvGrpSpPr/>
          <p:nvPr/>
        </p:nvGrpSpPr>
        <p:grpSpPr>
          <a:xfrm>
            <a:off x="9766344" y="-12685"/>
            <a:ext cx="2425656" cy="461665"/>
            <a:chOff x="8758971" y="299003"/>
            <a:chExt cx="2538533" cy="369609"/>
          </a:xfrm>
        </p:grpSpPr>
        <p:grpSp>
          <p:nvGrpSpPr>
            <p:cNvPr id="27" name="Group 26">
              <a:extLst>
                <a:ext uri="{FF2B5EF4-FFF2-40B4-BE49-F238E27FC236}">
                  <a16:creationId xmlns:a16="http://schemas.microsoft.com/office/drawing/2014/main" id="{C1128A5F-695D-8C22-528B-A9EF8B97CCCC}"/>
                </a:ext>
              </a:extLst>
            </p:cNvPr>
            <p:cNvGrpSpPr/>
            <p:nvPr/>
          </p:nvGrpSpPr>
          <p:grpSpPr>
            <a:xfrm>
              <a:off x="8758971" y="310479"/>
              <a:ext cx="2538533" cy="346380"/>
              <a:chOff x="8758971" y="310479"/>
              <a:chExt cx="2538533" cy="346380"/>
            </a:xfrm>
          </p:grpSpPr>
          <p:sp>
            <p:nvSpPr>
              <p:cNvPr id="25" name="Rectangle 24">
                <a:extLst>
                  <a:ext uri="{FF2B5EF4-FFF2-40B4-BE49-F238E27FC236}">
                    <a16:creationId xmlns:a16="http://schemas.microsoft.com/office/drawing/2014/main" id="{D9673190-DA3A-B925-7AE6-7F77F3ECBB8C}"/>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4" name="Parallelogram 23">
                <a:extLst>
                  <a:ext uri="{FF2B5EF4-FFF2-40B4-BE49-F238E27FC236}">
                    <a16:creationId xmlns:a16="http://schemas.microsoft.com/office/drawing/2014/main" id="{E4167EFD-DE0E-2327-49C9-EE71946155B4}"/>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400" dirty="0"/>
              </a:p>
            </p:txBody>
          </p:sp>
        </p:grpSp>
        <p:sp>
          <p:nvSpPr>
            <p:cNvPr id="28" name="TextBox 27">
              <a:extLst>
                <a:ext uri="{FF2B5EF4-FFF2-40B4-BE49-F238E27FC236}">
                  <a16:creationId xmlns:a16="http://schemas.microsoft.com/office/drawing/2014/main" id="{6DD517F1-E83E-0E2B-1753-51C961CC1A83}"/>
                </a:ext>
              </a:extLst>
            </p:cNvPr>
            <p:cNvSpPr txBox="1"/>
            <p:nvPr/>
          </p:nvSpPr>
          <p:spPr>
            <a:xfrm>
              <a:off x="8859106" y="299003"/>
              <a:ext cx="2388333" cy="369609"/>
            </a:xfrm>
            <a:prstGeom prst="rect">
              <a:avLst/>
            </a:prstGeom>
            <a:noFill/>
          </p:spPr>
          <p:txBody>
            <a:bodyPr wrap="square" rtlCol="0">
              <a:spAutoFit/>
            </a:bodyPr>
            <a:lstStyle/>
            <a:p>
              <a:pPr algn="ctr"/>
              <a:r>
                <a:rPr lang="fr-FR" sz="2400" dirty="0">
                  <a:solidFill>
                    <a:schemeClr val="bg1"/>
                  </a:solidFill>
                </a:rPr>
                <a:t>INTRODUCTION</a:t>
              </a:r>
            </a:p>
          </p:txBody>
        </p:sp>
      </p:grpSp>
    </p:spTree>
    <p:extLst>
      <p:ext uri="{BB962C8B-B14F-4D97-AF65-F5344CB8AC3E}">
        <p14:creationId xmlns:p14="http://schemas.microsoft.com/office/powerpoint/2010/main" val="2454422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BFDB5D-54CD-D296-51D6-407EB15BC0CC}"/>
              </a:ext>
            </a:extLst>
          </p:cNvPr>
          <p:cNvSpPr txBox="1"/>
          <p:nvPr/>
        </p:nvSpPr>
        <p:spPr>
          <a:xfrm>
            <a:off x="4106292" y="505772"/>
            <a:ext cx="3979415" cy="923330"/>
          </a:xfrm>
          <a:prstGeom prst="rect">
            <a:avLst/>
          </a:prstGeom>
          <a:noFill/>
        </p:spPr>
        <p:txBody>
          <a:bodyPr wrap="square" rtlCol="0">
            <a:spAutoFit/>
          </a:bodyPr>
          <a:lstStyle/>
          <a:p>
            <a:r>
              <a:rPr lang="en-US" sz="5400" b="1" dirty="0">
                <a:solidFill>
                  <a:schemeClr val="tx1">
                    <a:lumMod val="75000"/>
                    <a:lumOff val="25000"/>
                  </a:schemeClr>
                </a:solidFill>
                <a:latin typeface="Tw Cen MT" panose="020B0602020104020603" pitchFamily="34" charset="0"/>
                <a:ea typeface="Tahoma" panose="020B0604030504040204" pitchFamily="34" charset="0"/>
                <a:cs typeface="Arial" panose="020B0604020202020204" pitchFamily="34" charset="0"/>
              </a:rPr>
              <a:t>Problematic</a:t>
            </a:r>
            <a:endParaRPr lang="fr-FR" sz="5400" b="1" dirty="0">
              <a:solidFill>
                <a:schemeClr val="tx1">
                  <a:lumMod val="75000"/>
                  <a:lumOff val="25000"/>
                </a:schemeClr>
              </a:solidFill>
              <a:latin typeface="Tw Cen MT" panose="020B0602020104020603" pitchFamily="34" charset="0"/>
              <a:ea typeface="Tahoma" panose="020B0604030504040204" pitchFamily="34" charset="0"/>
              <a:cs typeface="Arial" panose="020B0604020202020204" pitchFamily="34" charset="0"/>
            </a:endParaRPr>
          </a:p>
        </p:txBody>
      </p:sp>
      <p:sp>
        <p:nvSpPr>
          <p:cNvPr id="3" name="TextBox 2">
            <a:extLst>
              <a:ext uri="{FF2B5EF4-FFF2-40B4-BE49-F238E27FC236}">
                <a16:creationId xmlns:a16="http://schemas.microsoft.com/office/drawing/2014/main" id="{A5CC29B9-79C2-7B69-4994-8EE32C1B1E4F}"/>
              </a:ext>
            </a:extLst>
          </p:cNvPr>
          <p:cNvSpPr txBox="1"/>
          <p:nvPr/>
        </p:nvSpPr>
        <p:spPr>
          <a:xfrm>
            <a:off x="645159" y="2318831"/>
            <a:ext cx="10901680" cy="2062103"/>
          </a:xfrm>
          <a:prstGeom prst="rect">
            <a:avLst/>
          </a:prstGeom>
          <a:noFill/>
        </p:spPr>
        <p:txBody>
          <a:bodyPr wrap="square" rtlCol="0">
            <a:spAutoFit/>
          </a:bodyPr>
          <a:lstStyle/>
          <a:p>
            <a:pPr algn="just"/>
            <a:r>
              <a:rPr lang="en-US" sz="3200" dirty="0"/>
              <a:t>For the object detection in complex and diverse contexts there are: </a:t>
            </a:r>
            <a:r>
              <a:rPr lang="en-US" sz="3200" b="1" dirty="0"/>
              <a:t>YOLO</a:t>
            </a:r>
            <a:r>
              <a:rPr lang="en-US" sz="3200" dirty="0"/>
              <a:t> that offers speed and </a:t>
            </a:r>
            <a:r>
              <a:rPr lang="en-US" sz="3200" b="1" dirty="0"/>
              <a:t>RCNN </a:t>
            </a:r>
            <a:r>
              <a:rPr lang="en-US" sz="3200" dirty="0"/>
              <a:t>that provides precision, the challenge is to determine which one of these two algorithms is best in terms of accuracy, speed, and adaptability ?</a:t>
            </a:r>
            <a:endParaRPr lang="en-US" sz="3200" dirty="0">
              <a:solidFill>
                <a:schemeClr val="tx2">
                  <a:lumMod val="50000"/>
                </a:schemeClr>
              </a:solidFill>
            </a:endParaRPr>
          </a:p>
        </p:txBody>
      </p:sp>
      <p:grpSp>
        <p:nvGrpSpPr>
          <p:cNvPr id="4" name="Group 3">
            <a:extLst>
              <a:ext uri="{FF2B5EF4-FFF2-40B4-BE49-F238E27FC236}">
                <a16:creationId xmlns:a16="http://schemas.microsoft.com/office/drawing/2014/main" id="{D59607A0-2A7B-11E5-ED90-C5234F10306A}"/>
              </a:ext>
            </a:extLst>
          </p:cNvPr>
          <p:cNvGrpSpPr/>
          <p:nvPr/>
        </p:nvGrpSpPr>
        <p:grpSpPr>
          <a:xfrm>
            <a:off x="9766344" y="0"/>
            <a:ext cx="2425656" cy="432651"/>
            <a:chOff x="8758971" y="310479"/>
            <a:chExt cx="2538533" cy="346380"/>
          </a:xfrm>
        </p:grpSpPr>
        <p:grpSp>
          <p:nvGrpSpPr>
            <p:cNvPr id="5" name="Group 4">
              <a:extLst>
                <a:ext uri="{FF2B5EF4-FFF2-40B4-BE49-F238E27FC236}">
                  <a16:creationId xmlns:a16="http://schemas.microsoft.com/office/drawing/2014/main" id="{1844019E-8EE1-A545-BE41-AD3B491349B0}"/>
                </a:ext>
              </a:extLst>
            </p:cNvPr>
            <p:cNvGrpSpPr/>
            <p:nvPr/>
          </p:nvGrpSpPr>
          <p:grpSpPr>
            <a:xfrm>
              <a:off x="8758971" y="310479"/>
              <a:ext cx="2538533" cy="346380"/>
              <a:chOff x="8758971" y="310479"/>
              <a:chExt cx="2538533" cy="346380"/>
            </a:xfrm>
          </p:grpSpPr>
          <p:sp>
            <p:nvSpPr>
              <p:cNvPr id="7" name="Rectangle 6">
                <a:extLst>
                  <a:ext uri="{FF2B5EF4-FFF2-40B4-BE49-F238E27FC236}">
                    <a16:creationId xmlns:a16="http://schemas.microsoft.com/office/drawing/2014/main" id="{7B7F5EB1-BDE2-3749-F5B1-D6704CE6BFEA}"/>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Parallelogram 7">
                <a:extLst>
                  <a:ext uri="{FF2B5EF4-FFF2-40B4-BE49-F238E27FC236}">
                    <a16:creationId xmlns:a16="http://schemas.microsoft.com/office/drawing/2014/main" id="{EDFD2C09-28D2-1053-FFAF-DF0900196072}"/>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6" name="TextBox 5">
              <a:extLst>
                <a:ext uri="{FF2B5EF4-FFF2-40B4-BE49-F238E27FC236}">
                  <a16:creationId xmlns:a16="http://schemas.microsoft.com/office/drawing/2014/main" id="{50FAC98D-8D7F-F7F6-3AB2-D7D8FCEBFB0E}"/>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FROMS RECOGNITION</a:t>
              </a:r>
              <a:endParaRPr lang="fr-FR" sz="1700" dirty="0">
                <a:effectLst/>
              </a:endParaRPr>
            </a:p>
          </p:txBody>
        </p:sp>
      </p:grpSp>
    </p:spTree>
    <p:extLst>
      <p:ext uri="{BB962C8B-B14F-4D97-AF65-F5344CB8AC3E}">
        <p14:creationId xmlns:p14="http://schemas.microsoft.com/office/powerpoint/2010/main" val="87716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3E8D2-2076-0BDF-B151-7342FB66E5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28CCF30-44A9-FC75-C624-AFA9F02D2C22}"/>
              </a:ext>
            </a:extLst>
          </p:cNvPr>
          <p:cNvSpPr txBox="1"/>
          <p:nvPr/>
        </p:nvSpPr>
        <p:spPr>
          <a:xfrm>
            <a:off x="870211" y="292412"/>
            <a:ext cx="3767210" cy="1200329"/>
          </a:xfrm>
          <a:prstGeom prst="rect">
            <a:avLst/>
          </a:prstGeom>
          <a:noFill/>
        </p:spPr>
        <p:txBody>
          <a:bodyPr wrap="square" rtlCol="0">
            <a:spAutoFit/>
          </a:bodyPr>
          <a:lstStyle/>
          <a:p>
            <a:r>
              <a:rPr lang="en-US" sz="3600" b="1" dirty="0">
                <a:solidFill>
                  <a:schemeClr val="tx1">
                    <a:lumMod val="75000"/>
                    <a:lumOff val="25000"/>
                  </a:schemeClr>
                </a:solidFill>
                <a:latin typeface="Tw Cen MT" panose="020B0602020104020603" pitchFamily="34" charset="0"/>
                <a:ea typeface="Tahoma" panose="020B0604030504040204" pitchFamily="34" charset="0"/>
                <a:cs typeface="Arial" panose="020B0604020202020204" pitchFamily="34" charset="0"/>
              </a:rPr>
              <a:t>Definition of </a:t>
            </a:r>
          </a:p>
          <a:p>
            <a:r>
              <a:rPr lang="en-US" sz="3600" b="1" dirty="0">
                <a:solidFill>
                  <a:schemeClr val="tx1">
                    <a:lumMod val="75000"/>
                    <a:lumOff val="25000"/>
                  </a:schemeClr>
                </a:solidFill>
                <a:latin typeface="Tw Cen MT" panose="020B0602020104020603" pitchFamily="34" charset="0"/>
                <a:ea typeface="Tahoma" panose="020B0604030504040204" pitchFamily="34" charset="0"/>
                <a:cs typeface="Arial" panose="020B0604020202020204" pitchFamily="34" charset="0"/>
              </a:rPr>
              <a:t>Forms recognition</a:t>
            </a:r>
          </a:p>
        </p:txBody>
      </p:sp>
      <p:sp>
        <p:nvSpPr>
          <p:cNvPr id="5" name="TextBox 4">
            <a:extLst>
              <a:ext uri="{FF2B5EF4-FFF2-40B4-BE49-F238E27FC236}">
                <a16:creationId xmlns:a16="http://schemas.microsoft.com/office/drawing/2014/main" id="{CCE21B4B-8DDB-A943-6067-73D2823480C2}"/>
              </a:ext>
            </a:extLst>
          </p:cNvPr>
          <p:cNvSpPr txBox="1"/>
          <p:nvPr/>
        </p:nvSpPr>
        <p:spPr>
          <a:xfrm>
            <a:off x="870211" y="1647187"/>
            <a:ext cx="3333010" cy="4093428"/>
          </a:xfrm>
          <a:prstGeom prst="rect">
            <a:avLst/>
          </a:prstGeom>
          <a:noFill/>
        </p:spPr>
        <p:txBody>
          <a:bodyPr wrap="square" rtlCol="0">
            <a:spAutoFit/>
          </a:bodyPr>
          <a:lstStyle/>
          <a:p>
            <a:pPr marL="342900" indent="-342900" algn="just">
              <a:buFont typeface="Wingdings" panose="05000000000000000000" pitchFamily="2" charset="2"/>
              <a:buChar char="q"/>
            </a:pPr>
            <a:r>
              <a:rPr lang="en-US" sz="2000" b="0" i="0" dirty="0">
                <a:solidFill>
                  <a:srgbClr val="080809"/>
                </a:solidFill>
                <a:effectLst/>
              </a:rPr>
              <a:t>Form recognition is a field of artificial intelligence that identifies patterns (forms) from raw data to assign them to categories. These forms can be visual (e.g., faces, barcodes), auditory (e.g., speech), or medical/satellite images. The goal is to classify unknown forms based on learned or predefined features.</a:t>
            </a:r>
            <a:endParaRPr lang="en-US" sz="2000" dirty="0">
              <a:solidFill>
                <a:schemeClr val="bg1">
                  <a:lumMod val="65000"/>
                </a:schemeClr>
              </a:solidFill>
              <a:ea typeface="Tahoma" panose="020B060403050404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86820756-B524-0868-0A31-EE47F3B683D7}"/>
              </a:ext>
            </a:extLst>
          </p:cNvPr>
          <p:cNvGrpSpPr/>
          <p:nvPr/>
        </p:nvGrpSpPr>
        <p:grpSpPr>
          <a:xfrm>
            <a:off x="5041233" y="1706879"/>
            <a:ext cx="2871726" cy="1821948"/>
            <a:chOff x="6096000" y="2065583"/>
            <a:chExt cx="2871726" cy="1606385"/>
          </a:xfrm>
        </p:grpSpPr>
        <p:sp>
          <p:nvSpPr>
            <p:cNvPr id="7" name="TextBox 6">
              <a:extLst>
                <a:ext uri="{FF2B5EF4-FFF2-40B4-BE49-F238E27FC236}">
                  <a16:creationId xmlns:a16="http://schemas.microsoft.com/office/drawing/2014/main" id="{73E6569F-7F7D-4A3F-106F-5B1C99111A8F}"/>
                </a:ext>
              </a:extLst>
            </p:cNvPr>
            <p:cNvSpPr txBox="1"/>
            <p:nvPr/>
          </p:nvSpPr>
          <p:spPr>
            <a:xfrm>
              <a:off x="6167376" y="2505111"/>
              <a:ext cx="2800350" cy="1166857"/>
            </a:xfrm>
            <a:prstGeom prst="rect">
              <a:avLst/>
            </a:prstGeom>
            <a:noFill/>
          </p:spPr>
          <p:txBody>
            <a:bodyPr wrap="square" rtlCol="0">
              <a:spAutoFit/>
            </a:bodyPr>
            <a:lstStyle/>
            <a:p>
              <a:r>
                <a:rPr lang="en-US" sz="2000" b="0" i="0" dirty="0">
                  <a:solidFill>
                    <a:srgbClr val="080809"/>
                  </a:solidFill>
                  <a:effectLst/>
                </a:rPr>
                <a:t>(Histogram of Oriented Gradients): Captures edge and gradient patterns.</a:t>
              </a:r>
              <a:endParaRPr lang="en-US" sz="1600" dirty="0">
                <a:solidFill>
                  <a:schemeClr val="tx1">
                    <a:lumMod val="75000"/>
                    <a:lumOff val="25000"/>
                  </a:schemeClr>
                </a:solidFill>
                <a:ea typeface="Tahoma" panose="020B0604030504040204" pitchFamily="34" charset="0"/>
                <a:cs typeface="Arial" panose="020B0604020202020204" pitchFamily="34" charset="0"/>
              </a:endParaRPr>
            </a:p>
          </p:txBody>
        </p:sp>
        <p:sp>
          <p:nvSpPr>
            <p:cNvPr id="8" name="TextBox 7">
              <a:extLst>
                <a:ext uri="{FF2B5EF4-FFF2-40B4-BE49-F238E27FC236}">
                  <a16:creationId xmlns:a16="http://schemas.microsoft.com/office/drawing/2014/main" id="{58B6D3FB-CF59-A656-7494-5B4F183A5E01}"/>
                </a:ext>
              </a:extLst>
            </p:cNvPr>
            <p:cNvSpPr txBox="1"/>
            <p:nvPr/>
          </p:nvSpPr>
          <p:spPr>
            <a:xfrm>
              <a:off x="6096000" y="2065583"/>
              <a:ext cx="2800350" cy="407043"/>
            </a:xfrm>
            <a:prstGeom prst="rect">
              <a:avLst/>
            </a:prstGeom>
            <a:noFill/>
          </p:spPr>
          <p:txBody>
            <a:bodyPr wrap="square" rtlCol="0">
              <a:spAutoFit/>
            </a:bodyPr>
            <a:lstStyle/>
            <a:p>
              <a:r>
                <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rPr>
                <a:t>01. </a:t>
              </a:r>
              <a:r>
                <a:rPr lang="fr-FR" sz="2400" b="1" dirty="0">
                  <a:solidFill>
                    <a:srgbClr val="F25245"/>
                  </a:solidFill>
                  <a:latin typeface="Tw Cen MT" panose="020B0602020104020603" pitchFamily="34" charset="0"/>
                  <a:ea typeface="Tahoma" panose="020B0604030504040204" pitchFamily="34" charset="0"/>
                  <a:cs typeface="Arial" panose="020B0604020202020204" pitchFamily="34" charset="0"/>
                </a:rPr>
                <a:t>HOG</a:t>
              </a:r>
              <a:endPar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endParaRPr>
            </a:p>
          </p:txBody>
        </p:sp>
      </p:grpSp>
      <p:grpSp>
        <p:nvGrpSpPr>
          <p:cNvPr id="9" name="Group 8">
            <a:extLst>
              <a:ext uri="{FF2B5EF4-FFF2-40B4-BE49-F238E27FC236}">
                <a16:creationId xmlns:a16="http://schemas.microsoft.com/office/drawing/2014/main" id="{5A321F4D-A8E4-148D-5CCC-C92B4671451F}"/>
              </a:ext>
            </a:extLst>
          </p:cNvPr>
          <p:cNvGrpSpPr/>
          <p:nvPr/>
        </p:nvGrpSpPr>
        <p:grpSpPr>
          <a:xfrm>
            <a:off x="5041233" y="3528827"/>
            <a:ext cx="3243010" cy="1776375"/>
            <a:chOff x="6096000" y="2065583"/>
            <a:chExt cx="3243010" cy="1776375"/>
          </a:xfrm>
        </p:grpSpPr>
        <p:sp>
          <p:nvSpPr>
            <p:cNvPr id="10" name="TextBox 9">
              <a:extLst>
                <a:ext uri="{FF2B5EF4-FFF2-40B4-BE49-F238E27FC236}">
                  <a16:creationId xmlns:a16="http://schemas.microsoft.com/office/drawing/2014/main" id="{F64C1B9B-CCF6-1E34-7B42-8397072A28FA}"/>
                </a:ext>
              </a:extLst>
            </p:cNvPr>
            <p:cNvSpPr txBox="1"/>
            <p:nvPr/>
          </p:nvSpPr>
          <p:spPr>
            <a:xfrm>
              <a:off x="6162932" y="2826295"/>
              <a:ext cx="2960125" cy="1015663"/>
            </a:xfrm>
            <a:prstGeom prst="rect">
              <a:avLst/>
            </a:prstGeom>
            <a:noFill/>
          </p:spPr>
          <p:txBody>
            <a:bodyPr wrap="square" rtlCol="0">
              <a:spAutoFit/>
            </a:bodyPr>
            <a:lstStyle/>
            <a:p>
              <a:r>
                <a:rPr lang="en-US" sz="2000" dirty="0">
                  <a:solidFill>
                    <a:srgbClr val="080809"/>
                  </a:solidFill>
                </a:rPr>
                <a:t>Detects geometric shapes like lines and circles.</a:t>
              </a:r>
            </a:p>
            <a:p>
              <a:endParaRPr lang="en-US" sz="2000" dirty="0">
                <a:solidFill>
                  <a:srgbClr val="080809"/>
                </a:solidFill>
              </a:endParaRPr>
            </a:p>
          </p:txBody>
        </p:sp>
        <p:sp>
          <p:nvSpPr>
            <p:cNvPr id="11" name="TextBox 10">
              <a:extLst>
                <a:ext uri="{FF2B5EF4-FFF2-40B4-BE49-F238E27FC236}">
                  <a16:creationId xmlns:a16="http://schemas.microsoft.com/office/drawing/2014/main" id="{6FED255F-CDDE-4150-EE1B-21A31AEBBBD1}"/>
                </a:ext>
              </a:extLst>
            </p:cNvPr>
            <p:cNvSpPr txBox="1"/>
            <p:nvPr/>
          </p:nvSpPr>
          <p:spPr>
            <a:xfrm>
              <a:off x="6096000" y="2065583"/>
              <a:ext cx="3243010" cy="1200329"/>
            </a:xfrm>
            <a:prstGeom prst="rect">
              <a:avLst/>
            </a:prstGeom>
            <a:noFill/>
          </p:spPr>
          <p:txBody>
            <a:bodyPr wrap="square" rtlCol="0">
              <a:spAutoFit/>
            </a:bodyPr>
            <a:lstStyle/>
            <a:p>
              <a:r>
                <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rPr>
                <a:t>02. </a:t>
              </a:r>
              <a:r>
                <a:rPr lang="fr-FR" sz="2400" b="1" dirty="0">
                  <a:solidFill>
                    <a:srgbClr val="F25245"/>
                  </a:solidFill>
                  <a:latin typeface="Tw Cen MT" panose="020B0602020104020603" pitchFamily="34" charset="0"/>
                  <a:ea typeface="Tahoma" panose="020B0604030504040204" pitchFamily="34" charset="0"/>
                  <a:cs typeface="Arial" panose="020B0604020202020204" pitchFamily="34" charset="0"/>
                </a:rPr>
                <a:t>HOUGH TRANSFORM</a:t>
              </a:r>
              <a:endPar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endParaRPr>
            </a:p>
            <a:p>
              <a:endPar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endParaRPr>
            </a:p>
          </p:txBody>
        </p:sp>
      </p:grpSp>
      <p:grpSp>
        <p:nvGrpSpPr>
          <p:cNvPr id="12" name="Group 11">
            <a:extLst>
              <a:ext uri="{FF2B5EF4-FFF2-40B4-BE49-F238E27FC236}">
                <a16:creationId xmlns:a16="http://schemas.microsoft.com/office/drawing/2014/main" id="{C4917F3C-647B-3BAF-5909-457A97C7CCBE}"/>
              </a:ext>
            </a:extLst>
          </p:cNvPr>
          <p:cNvGrpSpPr/>
          <p:nvPr/>
        </p:nvGrpSpPr>
        <p:grpSpPr>
          <a:xfrm>
            <a:off x="5074644" y="5026178"/>
            <a:ext cx="3048000" cy="1440363"/>
            <a:chOff x="6096000" y="2065583"/>
            <a:chExt cx="3048000" cy="1440363"/>
          </a:xfrm>
        </p:grpSpPr>
        <p:sp>
          <p:nvSpPr>
            <p:cNvPr id="13" name="TextBox 12">
              <a:extLst>
                <a:ext uri="{FF2B5EF4-FFF2-40B4-BE49-F238E27FC236}">
                  <a16:creationId xmlns:a16="http://schemas.microsoft.com/office/drawing/2014/main" id="{82A7ED7E-BEDD-751A-97BE-FE3EB1E8A78C}"/>
                </a:ext>
              </a:extLst>
            </p:cNvPr>
            <p:cNvSpPr txBox="1"/>
            <p:nvPr/>
          </p:nvSpPr>
          <p:spPr>
            <a:xfrm>
              <a:off x="6133965" y="2490283"/>
              <a:ext cx="2800350" cy="1015663"/>
            </a:xfrm>
            <a:prstGeom prst="rect">
              <a:avLst/>
            </a:prstGeom>
            <a:noFill/>
          </p:spPr>
          <p:txBody>
            <a:bodyPr wrap="square" rtlCol="0">
              <a:spAutoFit/>
            </a:bodyPr>
            <a:lstStyle/>
            <a:p>
              <a:r>
                <a:rPr lang="en-US" sz="2000" dirty="0">
                  <a:solidFill>
                    <a:srgbClr val="080809"/>
                  </a:solidFill>
                </a:rPr>
                <a:t>Finds scale and rotation-invariant </a:t>
              </a:r>
              <a:r>
                <a:rPr lang="en-US" sz="2000" dirty="0" err="1">
                  <a:solidFill>
                    <a:srgbClr val="080809"/>
                  </a:solidFill>
                </a:rPr>
                <a:t>keypoints</a:t>
              </a:r>
              <a:r>
                <a:rPr lang="en-US" sz="2000" dirty="0">
                  <a:solidFill>
                    <a:srgbClr val="080809"/>
                  </a:solidFill>
                </a:rPr>
                <a:t> for matching.</a:t>
              </a:r>
            </a:p>
          </p:txBody>
        </p:sp>
        <p:sp>
          <p:nvSpPr>
            <p:cNvPr id="14" name="TextBox 13">
              <a:extLst>
                <a:ext uri="{FF2B5EF4-FFF2-40B4-BE49-F238E27FC236}">
                  <a16:creationId xmlns:a16="http://schemas.microsoft.com/office/drawing/2014/main" id="{4BEAF01F-DE60-1D42-14A6-F0C72159E27F}"/>
                </a:ext>
              </a:extLst>
            </p:cNvPr>
            <p:cNvSpPr txBox="1"/>
            <p:nvPr/>
          </p:nvSpPr>
          <p:spPr>
            <a:xfrm>
              <a:off x="6096000" y="2065583"/>
              <a:ext cx="3048000" cy="830997"/>
            </a:xfrm>
            <a:prstGeom prst="rect">
              <a:avLst/>
            </a:prstGeom>
            <a:noFill/>
          </p:spPr>
          <p:txBody>
            <a:bodyPr wrap="square" rtlCol="0">
              <a:spAutoFit/>
            </a:bodyPr>
            <a:lstStyle/>
            <a:p>
              <a:r>
                <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rPr>
                <a:t>03. SIFT</a:t>
              </a:r>
            </a:p>
            <a:p>
              <a:endPar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endParaRPr>
            </a:p>
          </p:txBody>
        </p:sp>
      </p:grpSp>
      <p:grpSp>
        <p:nvGrpSpPr>
          <p:cNvPr id="15" name="Group 14">
            <a:extLst>
              <a:ext uri="{FF2B5EF4-FFF2-40B4-BE49-F238E27FC236}">
                <a16:creationId xmlns:a16="http://schemas.microsoft.com/office/drawing/2014/main" id="{D199AB76-63FF-09AD-4A60-6C13D3F2847C}"/>
              </a:ext>
            </a:extLst>
          </p:cNvPr>
          <p:cNvGrpSpPr/>
          <p:nvPr/>
        </p:nvGrpSpPr>
        <p:grpSpPr>
          <a:xfrm>
            <a:off x="8666281" y="1680936"/>
            <a:ext cx="2813340" cy="1748064"/>
            <a:chOff x="6096000" y="2065583"/>
            <a:chExt cx="2833090" cy="1748064"/>
          </a:xfrm>
        </p:grpSpPr>
        <p:sp>
          <p:nvSpPr>
            <p:cNvPr id="16" name="TextBox 15">
              <a:extLst>
                <a:ext uri="{FF2B5EF4-FFF2-40B4-BE49-F238E27FC236}">
                  <a16:creationId xmlns:a16="http://schemas.microsoft.com/office/drawing/2014/main" id="{68734F0B-1658-644F-1180-D16C984C5D41}"/>
                </a:ext>
              </a:extLst>
            </p:cNvPr>
            <p:cNvSpPr txBox="1"/>
            <p:nvPr/>
          </p:nvSpPr>
          <p:spPr>
            <a:xfrm>
              <a:off x="6128741" y="2490208"/>
              <a:ext cx="2800349" cy="1323439"/>
            </a:xfrm>
            <a:prstGeom prst="rect">
              <a:avLst/>
            </a:prstGeom>
            <a:noFill/>
          </p:spPr>
          <p:txBody>
            <a:bodyPr wrap="square" rtlCol="0">
              <a:spAutoFit/>
            </a:bodyPr>
            <a:lstStyle/>
            <a:p>
              <a:r>
                <a:rPr lang="en-US" sz="2000" dirty="0">
                  <a:solidFill>
                    <a:srgbClr val="080809"/>
                  </a:solidFill>
                </a:rPr>
                <a:t>Classifies based on the nearest neighbors in feature space.</a:t>
              </a:r>
            </a:p>
            <a:p>
              <a:endParaRPr lang="en-US" sz="2000" dirty="0">
                <a:solidFill>
                  <a:srgbClr val="080809"/>
                </a:solidFill>
              </a:endParaRPr>
            </a:p>
          </p:txBody>
        </p:sp>
        <p:sp>
          <p:nvSpPr>
            <p:cNvPr id="17" name="TextBox 16">
              <a:extLst>
                <a:ext uri="{FF2B5EF4-FFF2-40B4-BE49-F238E27FC236}">
                  <a16:creationId xmlns:a16="http://schemas.microsoft.com/office/drawing/2014/main" id="{DCAB9478-CE56-4462-C64B-8A2A020ACE50}"/>
                </a:ext>
              </a:extLst>
            </p:cNvPr>
            <p:cNvSpPr txBox="1"/>
            <p:nvPr/>
          </p:nvSpPr>
          <p:spPr>
            <a:xfrm>
              <a:off x="6096000" y="2065583"/>
              <a:ext cx="2800350" cy="830997"/>
            </a:xfrm>
            <a:prstGeom prst="rect">
              <a:avLst/>
            </a:prstGeom>
            <a:noFill/>
          </p:spPr>
          <p:txBody>
            <a:bodyPr wrap="square" rtlCol="0">
              <a:spAutoFit/>
            </a:bodyPr>
            <a:lstStyle/>
            <a:p>
              <a:pPr algn="just"/>
              <a:r>
                <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rPr>
                <a:t>01. KNN</a:t>
              </a:r>
            </a:p>
            <a:p>
              <a:pPr algn="just"/>
              <a:endPar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endParaRPr>
            </a:p>
          </p:txBody>
        </p:sp>
      </p:grpSp>
      <p:grpSp>
        <p:nvGrpSpPr>
          <p:cNvPr id="18" name="Group 17">
            <a:extLst>
              <a:ext uri="{FF2B5EF4-FFF2-40B4-BE49-F238E27FC236}">
                <a16:creationId xmlns:a16="http://schemas.microsoft.com/office/drawing/2014/main" id="{F892221B-DB3E-B504-A6FA-BD96AD78F1CA}"/>
              </a:ext>
            </a:extLst>
          </p:cNvPr>
          <p:cNvGrpSpPr/>
          <p:nvPr/>
        </p:nvGrpSpPr>
        <p:grpSpPr>
          <a:xfrm>
            <a:off x="8636918" y="3210999"/>
            <a:ext cx="3314904" cy="1766674"/>
            <a:chOff x="6095999" y="2065583"/>
            <a:chExt cx="3314904" cy="1766674"/>
          </a:xfrm>
        </p:grpSpPr>
        <p:sp>
          <p:nvSpPr>
            <p:cNvPr id="19" name="TextBox 18">
              <a:extLst>
                <a:ext uri="{FF2B5EF4-FFF2-40B4-BE49-F238E27FC236}">
                  <a16:creationId xmlns:a16="http://schemas.microsoft.com/office/drawing/2014/main" id="{897362A4-C004-F84B-DFAF-1210B395A237}"/>
                </a:ext>
              </a:extLst>
            </p:cNvPr>
            <p:cNvSpPr txBox="1"/>
            <p:nvPr/>
          </p:nvSpPr>
          <p:spPr>
            <a:xfrm>
              <a:off x="6160030" y="2508818"/>
              <a:ext cx="3091731" cy="1323439"/>
            </a:xfrm>
            <a:prstGeom prst="rect">
              <a:avLst/>
            </a:prstGeom>
            <a:noFill/>
          </p:spPr>
          <p:txBody>
            <a:bodyPr wrap="square" rtlCol="0">
              <a:spAutoFit/>
            </a:bodyPr>
            <a:lstStyle/>
            <a:p>
              <a:r>
                <a:rPr lang="en-US" sz="2000" dirty="0">
                  <a:solidFill>
                    <a:srgbClr val="080809"/>
                  </a:solidFill>
                </a:rPr>
                <a:t>Separates data using optimal hyperplanes, effective with extracted features.</a:t>
              </a:r>
            </a:p>
          </p:txBody>
        </p:sp>
        <p:sp>
          <p:nvSpPr>
            <p:cNvPr id="20" name="TextBox 19">
              <a:extLst>
                <a:ext uri="{FF2B5EF4-FFF2-40B4-BE49-F238E27FC236}">
                  <a16:creationId xmlns:a16="http://schemas.microsoft.com/office/drawing/2014/main" id="{4C9B607F-99EE-B4FA-33E0-713D6B925CF1}"/>
                </a:ext>
              </a:extLst>
            </p:cNvPr>
            <p:cNvSpPr txBox="1"/>
            <p:nvPr/>
          </p:nvSpPr>
          <p:spPr>
            <a:xfrm>
              <a:off x="6095999" y="2065583"/>
              <a:ext cx="3314904" cy="461665"/>
            </a:xfrm>
            <a:prstGeom prst="rect">
              <a:avLst/>
            </a:prstGeom>
            <a:noFill/>
          </p:spPr>
          <p:txBody>
            <a:bodyPr wrap="square" rtlCol="0">
              <a:spAutoFit/>
            </a:bodyPr>
            <a:lstStyle/>
            <a:p>
              <a:r>
                <a:rPr lang="en-US" sz="2400" b="1" dirty="0">
                  <a:solidFill>
                    <a:srgbClr val="F25245"/>
                  </a:solidFill>
                  <a:latin typeface="Tw Cen MT" panose="020B0602020104020603" pitchFamily="34" charset="0"/>
                  <a:ea typeface="Tahoma" panose="020B0604030504040204" pitchFamily="34" charset="0"/>
                  <a:cs typeface="Arial" panose="020B0604020202020204" pitchFamily="34" charset="0"/>
                </a:rPr>
                <a:t>02. SVM</a:t>
              </a:r>
            </a:p>
          </p:txBody>
        </p:sp>
      </p:grpSp>
      <p:cxnSp>
        <p:nvCxnSpPr>
          <p:cNvPr id="21" name="Straight Connector 20">
            <a:extLst>
              <a:ext uri="{FF2B5EF4-FFF2-40B4-BE49-F238E27FC236}">
                <a16:creationId xmlns:a16="http://schemas.microsoft.com/office/drawing/2014/main" id="{C353CF7A-0FC8-9C3C-99A3-3B9CB90A93FB}"/>
              </a:ext>
            </a:extLst>
          </p:cNvPr>
          <p:cNvCxnSpPr>
            <a:cxnSpLocks/>
          </p:cNvCxnSpPr>
          <p:nvPr/>
        </p:nvCxnSpPr>
        <p:spPr>
          <a:xfrm>
            <a:off x="8294997" y="1453074"/>
            <a:ext cx="0" cy="4977633"/>
          </a:xfrm>
          <a:prstGeom prst="line">
            <a:avLst/>
          </a:prstGeom>
          <a:ln w="3175"/>
          <a:effectLst/>
        </p:spPr>
        <p:style>
          <a:lnRef idx="3">
            <a:schemeClr val="accent2"/>
          </a:lnRef>
          <a:fillRef idx="0">
            <a:schemeClr val="accent2"/>
          </a:fillRef>
          <a:effectRef idx="2">
            <a:schemeClr val="accent2"/>
          </a:effectRef>
          <a:fontRef idx="minor">
            <a:schemeClr val="tx1"/>
          </a:fontRef>
        </p:style>
      </p:cxnSp>
      <p:sp>
        <p:nvSpPr>
          <p:cNvPr id="22" name="TextBox 21">
            <a:extLst>
              <a:ext uri="{FF2B5EF4-FFF2-40B4-BE49-F238E27FC236}">
                <a16:creationId xmlns:a16="http://schemas.microsoft.com/office/drawing/2014/main" id="{4FE2A8BE-F03C-2184-B6ED-8E78F7655819}"/>
              </a:ext>
            </a:extLst>
          </p:cNvPr>
          <p:cNvSpPr txBox="1"/>
          <p:nvPr/>
        </p:nvSpPr>
        <p:spPr>
          <a:xfrm>
            <a:off x="4885540" y="1050016"/>
            <a:ext cx="2934270" cy="461665"/>
          </a:xfrm>
          <a:prstGeom prst="rect">
            <a:avLst/>
          </a:prstGeom>
          <a:noFill/>
        </p:spPr>
        <p:txBody>
          <a:bodyPr wrap="square" rtlCol="0">
            <a:spAutoFit/>
          </a:bodyPr>
          <a:lstStyle/>
          <a:p>
            <a:pPr algn="ctr"/>
            <a:r>
              <a:rPr lang="fr-FR" sz="2400" b="1" u="sng" dirty="0" err="1">
                <a:solidFill>
                  <a:schemeClr val="bg1">
                    <a:lumMod val="50000"/>
                  </a:schemeClr>
                </a:solidFill>
                <a:latin typeface="Tw Cen MT" panose="020B0602020104020603" pitchFamily="34" charset="0"/>
                <a:ea typeface="Tahoma" panose="020B0604030504040204" pitchFamily="34" charset="0"/>
                <a:cs typeface="Arial" panose="020B0604020202020204" pitchFamily="34" charset="0"/>
              </a:rPr>
              <a:t>Traditional</a:t>
            </a:r>
            <a:r>
              <a:rPr lang="fr-FR" sz="2400" b="1" u="sng" dirty="0">
                <a:solidFill>
                  <a:schemeClr val="bg1">
                    <a:lumMod val="50000"/>
                  </a:schemeClr>
                </a:solidFill>
                <a:latin typeface="Tw Cen MT" panose="020B0602020104020603" pitchFamily="34" charset="0"/>
                <a:ea typeface="Tahoma" panose="020B0604030504040204" pitchFamily="34" charset="0"/>
                <a:cs typeface="Arial" panose="020B0604020202020204" pitchFamily="34" charset="0"/>
              </a:rPr>
              <a:t> Methods:</a:t>
            </a:r>
            <a:endParaRPr lang="en-US" sz="2400" b="1" u="sng" dirty="0">
              <a:solidFill>
                <a:schemeClr val="bg1">
                  <a:lumMod val="50000"/>
                </a:schemeClr>
              </a:solidFill>
              <a:latin typeface="Tw Cen MT" panose="020B0602020104020603" pitchFamily="34" charset="0"/>
              <a:ea typeface="Tahoma" panose="020B060403050404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4F7DB4D8-F06B-CDB1-659E-C194050C7F63}"/>
              </a:ext>
            </a:extLst>
          </p:cNvPr>
          <p:cNvSpPr txBox="1"/>
          <p:nvPr/>
        </p:nvSpPr>
        <p:spPr>
          <a:xfrm>
            <a:off x="8252018" y="1055403"/>
            <a:ext cx="2934270" cy="461665"/>
          </a:xfrm>
          <a:prstGeom prst="rect">
            <a:avLst/>
          </a:prstGeom>
          <a:noFill/>
        </p:spPr>
        <p:txBody>
          <a:bodyPr wrap="square" rtlCol="0">
            <a:spAutoFit/>
          </a:bodyPr>
          <a:lstStyle/>
          <a:p>
            <a:pPr algn="ctr"/>
            <a:r>
              <a:rPr lang="fr-FR" sz="2400" b="1" u="sng" dirty="0">
                <a:solidFill>
                  <a:schemeClr val="bg1">
                    <a:lumMod val="50000"/>
                  </a:schemeClr>
                </a:solidFill>
                <a:latin typeface="Tw Cen MT" panose="020B0602020104020603" pitchFamily="34" charset="0"/>
                <a:ea typeface="Tahoma" panose="020B0604030504040204" pitchFamily="34" charset="0"/>
                <a:cs typeface="Arial" panose="020B0604020202020204" pitchFamily="34" charset="0"/>
              </a:rPr>
              <a:t>Learning-</a:t>
            </a:r>
            <a:r>
              <a:rPr lang="fr-FR" sz="2400" b="1" u="sng" dirty="0" err="1">
                <a:solidFill>
                  <a:schemeClr val="bg1">
                    <a:lumMod val="50000"/>
                  </a:schemeClr>
                </a:solidFill>
                <a:latin typeface="Tw Cen MT" panose="020B0602020104020603" pitchFamily="34" charset="0"/>
                <a:ea typeface="Tahoma" panose="020B0604030504040204" pitchFamily="34" charset="0"/>
                <a:cs typeface="Arial" panose="020B0604020202020204" pitchFamily="34" charset="0"/>
              </a:rPr>
              <a:t>Based</a:t>
            </a:r>
            <a:r>
              <a:rPr lang="fr-FR" sz="2400" b="1" u="sng" dirty="0">
                <a:solidFill>
                  <a:schemeClr val="bg1">
                    <a:lumMod val="50000"/>
                  </a:schemeClr>
                </a:solidFill>
                <a:latin typeface="Tw Cen MT" panose="020B0602020104020603" pitchFamily="34" charset="0"/>
                <a:ea typeface="Tahoma" panose="020B0604030504040204" pitchFamily="34" charset="0"/>
                <a:cs typeface="Arial" panose="020B0604020202020204" pitchFamily="34" charset="0"/>
              </a:rPr>
              <a:t>:</a:t>
            </a:r>
            <a:endParaRPr lang="en-US" sz="2400" b="1" u="sng" dirty="0">
              <a:solidFill>
                <a:schemeClr val="bg1">
                  <a:lumMod val="50000"/>
                </a:schemeClr>
              </a:solidFill>
              <a:latin typeface="Tw Cen MT" panose="020B0602020104020603" pitchFamily="34" charset="0"/>
              <a:ea typeface="Tahoma" panose="020B0604030504040204" pitchFamily="34" charset="0"/>
              <a:cs typeface="Arial" panose="020B0604020202020204" pitchFamily="34" charset="0"/>
            </a:endParaRPr>
          </a:p>
        </p:txBody>
      </p:sp>
      <p:grpSp>
        <p:nvGrpSpPr>
          <p:cNvPr id="24" name="Group 23">
            <a:extLst>
              <a:ext uri="{FF2B5EF4-FFF2-40B4-BE49-F238E27FC236}">
                <a16:creationId xmlns:a16="http://schemas.microsoft.com/office/drawing/2014/main" id="{DEF0EE2B-05DE-7F28-9151-812AA80B2123}"/>
              </a:ext>
            </a:extLst>
          </p:cNvPr>
          <p:cNvGrpSpPr/>
          <p:nvPr/>
        </p:nvGrpSpPr>
        <p:grpSpPr>
          <a:xfrm>
            <a:off x="9766344" y="0"/>
            <a:ext cx="2425656" cy="432651"/>
            <a:chOff x="8758971" y="310479"/>
            <a:chExt cx="2538533" cy="346380"/>
          </a:xfrm>
        </p:grpSpPr>
        <p:grpSp>
          <p:nvGrpSpPr>
            <p:cNvPr id="25" name="Group 24">
              <a:extLst>
                <a:ext uri="{FF2B5EF4-FFF2-40B4-BE49-F238E27FC236}">
                  <a16:creationId xmlns:a16="http://schemas.microsoft.com/office/drawing/2014/main" id="{A4C1FF40-FFFD-F3E7-FAA7-BFD2037CC8D6}"/>
                </a:ext>
              </a:extLst>
            </p:cNvPr>
            <p:cNvGrpSpPr/>
            <p:nvPr/>
          </p:nvGrpSpPr>
          <p:grpSpPr>
            <a:xfrm>
              <a:off x="8758971" y="310479"/>
              <a:ext cx="2538533" cy="346380"/>
              <a:chOff x="8758971" y="310479"/>
              <a:chExt cx="2538533" cy="346380"/>
            </a:xfrm>
          </p:grpSpPr>
          <p:sp>
            <p:nvSpPr>
              <p:cNvPr id="27" name="Rectangle 26">
                <a:extLst>
                  <a:ext uri="{FF2B5EF4-FFF2-40B4-BE49-F238E27FC236}">
                    <a16:creationId xmlns:a16="http://schemas.microsoft.com/office/drawing/2014/main" id="{7C506E7A-5A36-D990-FFD2-812E8B2F558A}"/>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Parallelogram 27">
                <a:extLst>
                  <a:ext uri="{FF2B5EF4-FFF2-40B4-BE49-F238E27FC236}">
                    <a16:creationId xmlns:a16="http://schemas.microsoft.com/office/drawing/2014/main" id="{101725B9-17F2-24F9-754F-46308FB36DFB}"/>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26" name="TextBox 25">
              <a:extLst>
                <a:ext uri="{FF2B5EF4-FFF2-40B4-BE49-F238E27FC236}">
                  <a16:creationId xmlns:a16="http://schemas.microsoft.com/office/drawing/2014/main" id="{5645EA9D-1C30-3AF6-4E9B-9B8639D15488}"/>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FROMS RECOGNITION</a:t>
              </a:r>
              <a:endParaRPr lang="fr-FR" sz="1700" dirty="0">
                <a:effectLst/>
              </a:endParaRPr>
            </a:p>
          </p:txBody>
        </p:sp>
      </p:grpSp>
    </p:spTree>
    <p:extLst>
      <p:ext uri="{BB962C8B-B14F-4D97-AF65-F5344CB8AC3E}">
        <p14:creationId xmlns:p14="http://schemas.microsoft.com/office/powerpoint/2010/main" val="2338743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fltVal val="0"/>
                                          </p:val>
                                        </p:tav>
                                        <p:tav tm="100000">
                                          <p:val>
                                            <p:strVal val="#ppt_w"/>
                                          </p:val>
                                        </p:tav>
                                      </p:tavLst>
                                    </p:anim>
                                    <p:anim calcmode="lin" valueType="num">
                                      <p:cBhvr>
                                        <p:cTn id="22" dur="500" fill="hold"/>
                                        <p:tgtEl>
                                          <p:spTgt spid="12"/>
                                        </p:tgtEl>
                                        <p:attrNameLst>
                                          <p:attrName>ppt_h</p:attrName>
                                        </p:attrNameLst>
                                      </p:cBhvr>
                                      <p:tavLst>
                                        <p:tav tm="0">
                                          <p:val>
                                            <p:fltVal val="0"/>
                                          </p:val>
                                        </p:tav>
                                        <p:tav tm="100000">
                                          <p:val>
                                            <p:strVal val="#ppt_h"/>
                                          </p:val>
                                        </p:tav>
                                      </p:tavLst>
                                    </p:anim>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p:cTn id="28" dur="500" fill="hold"/>
                                        <p:tgtEl>
                                          <p:spTgt spid="15"/>
                                        </p:tgtEl>
                                        <p:attrNameLst>
                                          <p:attrName>ppt_w</p:attrName>
                                        </p:attrNameLst>
                                      </p:cBhvr>
                                      <p:tavLst>
                                        <p:tav tm="0">
                                          <p:val>
                                            <p:fltVal val="0"/>
                                          </p:val>
                                        </p:tav>
                                        <p:tav tm="100000">
                                          <p:val>
                                            <p:strVal val="#ppt_w"/>
                                          </p:val>
                                        </p:tav>
                                      </p:tavLst>
                                    </p:anim>
                                    <p:anim calcmode="lin" valueType="num">
                                      <p:cBhvr>
                                        <p:cTn id="29" dur="500" fill="hold"/>
                                        <p:tgtEl>
                                          <p:spTgt spid="15"/>
                                        </p:tgtEl>
                                        <p:attrNameLst>
                                          <p:attrName>ppt_h</p:attrName>
                                        </p:attrNameLst>
                                      </p:cBhvr>
                                      <p:tavLst>
                                        <p:tav tm="0">
                                          <p:val>
                                            <p:fltVal val="0"/>
                                          </p:val>
                                        </p:tav>
                                        <p:tav tm="100000">
                                          <p:val>
                                            <p:strVal val="#ppt_h"/>
                                          </p:val>
                                        </p:tav>
                                      </p:tavLst>
                                    </p:anim>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p:cTn id="35" dur="500" fill="hold"/>
                                        <p:tgtEl>
                                          <p:spTgt spid="18"/>
                                        </p:tgtEl>
                                        <p:attrNameLst>
                                          <p:attrName>ppt_w</p:attrName>
                                        </p:attrNameLst>
                                      </p:cBhvr>
                                      <p:tavLst>
                                        <p:tav tm="0">
                                          <p:val>
                                            <p:fltVal val="0"/>
                                          </p:val>
                                        </p:tav>
                                        <p:tav tm="100000">
                                          <p:val>
                                            <p:strVal val="#ppt_w"/>
                                          </p:val>
                                        </p:tav>
                                      </p:tavLst>
                                    </p:anim>
                                    <p:anim calcmode="lin" valueType="num">
                                      <p:cBhvr>
                                        <p:cTn id="36" dur="500" fill="hold"/>
                                        <p:tgtEl>
                                          <p:spTgt spid="18"/>
                                        </p:tgtEl>
                                        <p:attrNameLst>
                                          <p:attrName>ppt_h</p:attrName>
                                        </p:attrNameLst>
                                      </p:cBhvr>
                                      <p:tavLst>
                                        <p:tav tm="0">
                                          <p:val>
                                            <p:fltVal val="0"/>
                                          </p:val>
                                        </p:tav>
                                        <p:tav tm="100000">
                                          <p:val>
                                            <p:strVal val="#ppt_h"/>
                                          </p:val>
                                        </p:tav>
                                      </p:tavLst>
                                    </p:anim>
                                    <p:animEffect transition="in" filter="fade">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ABDCF1-970D-66BC-BDE1-3510EE41C155}"/>
              </a:ext>
            </a:extLst>
          </p:cNvPr>
          <p:cNvSpPr txBox="1"/>
          <p:nvPr/>
        </p:nvSpPr>
        <p:spPr>
          <a:xfrm>
            <a:off x="1667913" y="1005028"/>
            <a:ext cx="9563304" cy="400110"/>
          </a:xfrm>
          <a:prstGeom prst="rect">
            <a:avLst/>
          </a:prstGeom>
          <a:noFill/>
        </p:spPr>
        <p:txBody>
          <a:bodyPr wrap="square" rtlCol="0">
            <a:spAutoFit/>
          </a:bodyPr>
          <a:lstStyle/>
          <a:p>
            <a:pPr algn="just"/>
            <a:r>
              <a:rPr lang="en-US" sz="2000" dirty="0"/>
              <a:t>CNNs (Convolutional Neural Networks) automate feature extraction and improve accuracy.</a:t>
            </a:r>
          </a:p>
        </p:txBody>
      </p:sp>
      <p:sp>
        <p:nvSpPr>
          <p:cNvPr id="3" name="TextBox 2">
            <a:extLst>
              <a:ext uri="{FF2B5EF4-FFF2-40B4-BE49-F238E27FC236}">
                <a16:creationId xmlns:a16="http://schemas.microsoft.com/office/drawing/2014/main" id="{1747C77F-F0DA-5129-1EDB-A72DF713B3FB}"/>
              </a:ext>
            </a:extLst>
          </p:cNvPr>
          <p:cNvSpPr txBox="1"/>
          <p:nvPr/>
        </p:nvSpPr>
        <p:spPr>
          <a:xfrm>
            <a:off x="1441623" y="345110"/>
            <a:ext cx="4118032" cy="461665"/>
          </a:xfrm>
          <a:prstGeom prst="rect">
            <a:avLst/>
          </a:prstGeom>
          <a:noFill/>
        </p:spPr>
        <p:txBody>
          <a:bodyPr wrap="square" rtlCol="0">
            <a:spAutoFit/>
          </a:bodyPr>
          <a:lstStyle/>
          <a:p>
            <a:pPr algn="just"/>
            <a:r>
              <a:rPr lang="fr-FR" sz="2400" b="1" dirty="0">
                <a:latin typeface="Tw Cen MT" panose="020B0602020104020603" pitchFamily="34" charset="0"/>
                <a:ea typeface="Tahoma" panose="020B0604030504040204" pitchFamily="34" charset="0"/>
                <a:cs typeface="Arial" panose="020B0604020202020204" pitchFamily="34" charset="0"/>
              </a:rPr>
              <a:t>Deep Learning Contribution:</a:t>
            </a:r>
            <a:endParaRPr lang="en-US" sz="2400" b="1" dirty="0">
              <a:latin typeface="Tw Cen MT" panose="020B0602020104020603" pitchFamily="34" charset="0"/>
              <a:ea typeface="Tahoma" panose="020B0604030504040204" pitchFamily="34" charset="0"/>
              <a:cs typeface="Arial" panose="020B0604020202020204" pitchFamily="34" charset="0"/>
            </a:endParaRPr>
          </a:p>
        </p:txBody>
      </p:sp>
      <p:sp>
        <p:nvSpPr>
          <p:cNvPr id="4" name="TextBox 3">
            <a:extLst>
              <a:ext uri="{FF2B5EF4-FFF2-40B4-BE49-F238E27FC236}">
                <a16:creationId xmlns:a16="http://schemas.microsoft.com/office/drawing/2014/main" id="{838E3664-D422-AAF1-9072-E16A62F3C8E1}"/>
              </a:ext>
            </a:extLst>
          </p:cNvPr>
          <p:cNvSpPr txBox="1"/>
          <p:nvPr/>
        </p:nvSpPr>
        <p:spPr>
          <a:xfrm>
            <a:off x="1267139" y="1632030"/>
            <a:ext cx="10606209" cy="4051558"/>
          </a:xfrm>
          <a:prstGeom prst="rect">
            <a:avLst/>
          </a:prstGeom>
          <a:noFill/>
        </p:spPr>
        <p:txBody>
          <a:bodyPr wrap="square" rtlCol="0">
            <a:spAutoFit/>
          </a:bodyPr>
          <a:lstStyle/>
          <a:p>
            <a:pPr marL="342900" indent="-342900">
              <a:lnSpc>
                <a:spcPct val="200000"/>
              </a:lnSpc>
              <a:buFont typeface="Wingdings" panose="05000000000000000000" pitchFamily="2" charset="2"/>
              <a:buChar char="q"/>
            </a:pPr>
            <a:r>
              <a:rPr lang="fr-FR" sz="2400" b="1" i="0" dirty="0">
                <a:solidFill>
                  <a:srgbClr val="080809"/>
                </a:solidFill>
                <a:effectLst/>
              </a:rPr>
              <a:t>LeNet-5:</a:t>
            </a:r>
            <a:r>
              <a:rPr lang="fr-FR" sz="2400" b="0" i="0" dirty="0">
                <a:solidFill>
                  <a:srgbClr val="080809"/>
                </a:solidFill>
                <a:effectLst/>
              </a:rPr>
              <a:t> </a:t>
            </a:r>
            <a:r>
              <a:rPr lang="fr-FR" sz="2400" b="0" i="0" dirty="0" err="1">
                <a:solidFill>
                  <a:srgbClr val="080809"/>
                </a:solidFill>
                <a:effectLst/>
              </a:rPr>
              <a:t>Early</a:t>
            </a:r>
            <a:r>
              <a:rPr lang="fr-FR" sz="2400" b="0" i="0" dirty="0">
                <a:solidFill>
                  <a:srgbClr val="080809"/>
                </a:solidFill>
                <a:effectLst/>
              </a:rPr>
              <a:t> CNN for digit recognition. </a:t>
            </a:r>
          </a:p>
          <a:p>
            <a:pPr marL="342900" indent="-342900">
              <a:lnSpc>
                <a:spcPct val="200000"/>
              </a:lnSpc>
              <a:buFont typeface="Wingdings" panose="05000000000000000000" pitchFamily="2" charset="2"/>
              <a:buChar char="q"/>
            </a:pPr>
            <a:r>
              <a:rPr lang="fr-FR" sz="2400" b="1" dirty="0" err="1">
                <a:solidFill>
                  <a:srgbClr val="080809"/>
                </a:solidFill>
              </a:rPr>
              <a:t>AlexNet</a:t>
            </a:r>
            <a:r>
              <a:rPr lang="fr-FR" sz="2400" b="1" dirty="0">
                <a:solidFill>
                  <a:srgbClr val="080809"/>
                </a:solidFill>
              </a:rPr>
              <a:t>:</a:t>
            </a:r>
            <a:r>
              <a:rPr lang="fr-FR" sz="2400" b="0" i="0" dirty="0">
                <a:solidFill>
                  <a:srgbClr val="080809"/>
                </a:solidFill>
                <a:effectLst/>
              </a:rPr>
              <a:t> Deep CNN </a:t>
            </a:r>
            <a:r>
              <a:rPr lang="fr-FR" sz="2400" b="0" i="0" dirty="0" err="1">
                <a:solidFill>
                  <a:srgbClr val="080809"/>
                </a:solidFill>
                <a:effectLst/>
              </a:rPr>
              <a:t>that</a:t>
            </a:r>
            <a:r>
              <a:rPr lang="fr-FR" sz="2400" b="0" i="0" dirty="0">
                <a:solidFill>
                  <a:srgbClr val="080809"/>
                </a:solidFill>
                <a:effectLst/>
              </a:rPr>
              <a:t> </a:t>
            </a:r>
            <a:r>
              <a:rPr lang="fr-FR" sz="2400" b="0" i="0" dirty="0" err="1">
                <a:solidFill>
                  <a:srgbClr val="080809"/>
                </a:solidFill>
                <a:effectLst/>
              </a:rPr>
              <a:t>popularized</a:t>
            </a:r>
            <a:r>
              <a:rPr lang="fr-FR" sz="2400" b="0" i="0" dirty="0">
                <a:solidFill>
                  <a:srgbClr val="080809"/>
                </a:solidFill>
                <a:effectLst/>
              </a:rPr>
              <a:t> </a:t>
            </a:r>
            <a:r>
              <a:rPr lang="fr-FR" sz="2400" b="0" i="0" dirty="0" err="1">
                <a:solidFill>
                  <a:srgbClr val="080809"/>
                </a:solidFill>
                <a:effectLst/>
              </a:rPr>
              <a:t>deep</a:t>
            </a:r>
            <a:r>
              <a:rPr lang="fr-FR" sz="2400" b="0" i="0" dirty="0">
                <a:solidFill>
                  <a:srgbClr val="080809"/>
                </a:solidFill>
                <a:effectLst/>
              </a:rPr>
              <a:t> </a:t>
            </a:r>
            <a:r>
              <a:rPr lang="fr-FR" sz="2400" b="0" i="0" dirty="0" err="1">
                <a:solidFill>
                  <a:srgbClr val="080809"/>
                </a:solidFill>
                <a:effectLst/>
              </a:rPr>
              <a:t>learning</a:t>
            </a:r>
            <a:r>
              <a:rPr lang="fr-FR" sz="2400" b="0" i="0" dirty="0">
                <a:solidFill>
                  <a:srgbClr val="080809"/>
                </a:solidFill>
                <a:effectLst/>
              </a:rPr>
              <a:t> for image classification. </a:t>
            </a:r>
          </a:p>
          <a:p>
            <a:pPr marL="342900" indent="-342900">
              <a:lnSpc>
                <a:spcPct val="200000"/>
              </a:lnSpc>
              <a:buFont typeface="Wingdings" panose="05000000000000000000" pitchFamily="2" charset="2"/>
              <a:buChar char="q"/>
            </a:pPr>
            <a:r>
              <a:rPr lang="fr-FR" sz="2400" b="1" dirty="0" err="1">
                <a:solidFill>
                  <a:srgbClr val="080809"/>
                </a:solidFill>
              </a:rPr>
              <a:t>ResNet</a:t>
            </a:r>
            <a:r>
              <a:rPr lang="fr-FR" sz="2400" b="1" dirty="0">
                <a:solidFill>
                  <a:srgbClr val="080809"/>
                </a:solidFill>
              </a:rPr>
              <a:t>:</a:t>
            </a:r>
            <a:r>
              <a:rPr lang="fr-FR" sz="2400" b="0" i="0" dirty="0">
                <a:solidFill>
                  <a:srgbClr val="080809"/>
                </a:solidFill>
                <a:effectLst/>
              </a:rPr>
              <a:t> </a:t>
            </a:r>
            <a:r>
              <a:rPr lang="fr-FR" sz="2400" b="0" i="0" dirty="0" err="1">
                <a:solidFill>
                  <a:srgbClr val="080809"/>
                </a:solidFill>
                <a:effectLst/>
              </a:rPr>
              <a:t>Introduced</a:t>
            </a:r>
            <a:r>
              <a:rPr lang="fr-FR" sz="2400" b="0" i="0" dirty="0">
                <a:solidFill>
                  <a:srgbClr val="080809"/>
                </a:solidFill>
                <a:effectLst/>
              </a:rPr>
              <a:t> </a:t>
            </a:r>
            <a:r>
              <a:rPr lang="fr-FR" sz="2400" b="0" i="0" dirty="0" err="1">
                <a:solidFill>
                  <a:srgbClr val="080809"/>
                </a:solidFill>
                <a:effectLst/>
              </a:rPr>
              <a:t>residual</a:t>
            </a:r>
            <a:r>
              <a:rPr lang="fr-FR" sz="2400" b="0" i="0" dirty="0">
                <a:solidFill>
                  <a:srgbClr val="080809"/>
                </a:solidFill>
                <a:effectLst/>
              </a:rPr>
              <a:t> </a:t>
            </a:r>
            <a:r>
              <a:rPr lang="fr-FR" sz="2400" b="0" i="0" dirty="0" err="1">
                <a:solidFill>
                  <a:srgbClr val="080809"/>
                </a:solidFill>
                <a:effectLst/>
              </a:rPr>
              <a:t>learning</a:t>
            </a:r>
            <a:r>
              <a:rPr lang="fr-FR" sz="2400" b="0" i="0" dirty="0">
                <a:solidFill>
                  <a:srgbClr val="080809"/>
                </a:solidFill>
                <a:effectLst/>
              </a:rPr>
              <a:t> for </a:t>
            </a:r>
            <a:r>
              <a:rPr lang="fr-FR" sz="2400" b="0" i="0" dirty="0" err="1">
                <a:solidFill>
                  <a:srgbClr val="080809"/>
                </a:solidFill>
                <a:effectLst/>
              </a:rPr>
              <a:t>very</a:t>
            </a:r>
            <a:r>
              <a:rPr lang="fr-FR" sz="2400" b="0" i="0" dirty="0">
                <a:solidFill>
                  <a:srgbClr val="080809"/>
                </a:solidFill>
                <a:effectLst/>
              </a:rPr>
              <a:t> </a:t>
            </a:r>
            <a:r>
              <a:rPr lang="fr-FR" sz="2400" b="0" i="0" dirty="0" err="1">
                <a:solidFill>
                  <a:srgbClr val="080809"/>
                </a:solidFill>
                <a:effectLst/>
              </a:rPr>
              <a:t>deep</a:t>
            </a:r>
            <a:r>
              <a:rPr lang="fr-FR" sz="2400" b="0" i="0" dirty="0">
                <a:solidFill>
                  <a:srgbClr val="080809"/>
                </a:solidFill>
                <a:effectLst/>
              </a:rPr>
              <a:t> networks. </a:t>
            </a:r>
          </a:p>
          <a:p>
            <a:endParaRPr lang="fr-FR" sz="2400" b="0" i="0" dirty="0">
              <a:solidFill>
                <a:srgbClr val="080809"/>
              </a:solidFill>
              <a:effectLst/>
            </a:endParaRPr>
          </a:p>
          <a:p>
            <a:pPr marL="342900" indent="-342900">
              <a:buFont typeface="Wingdings" panose="05000000000000000000" pitchFamily="2" charset="2"/>
              <a:buChar char="q"/>
            </a:pPr>
            <a:r>
              <a:rPr lang="fr-FR" sz="2400" b="1" dirty="0" err="1">
                <a:solidFill>
                  <a:srgbClr val="080809"/>
                </a:solidFill>
              </a:rPr>
              <a:t>Faster</a:t>
            </a:r>
            <a:r>
              <a:rPr lang="fr-FR" sz="2400" b="1" dirty="0">
                <a:solidFill>
                  <a:srgbClr val="080809"/>
                </a:solidFill>
              </a:rPr>
              <a:t> R-CNN: </a:t>
            </a:r>
            <a:r>
              <a:rPr lang="fr-FR" sz="2400" b="0" i="0" dirty="0">
                <a:solidFill>
                  <a:srgbClr val="080809"/>
                </a:solidFill>
                <a:effectLst/>
              </a:rPr>
              <a:t>Combines </a:t>
            </a:r>
            <a:r>
              <a:rPr lang="fr-FR" sz="2400" b="0" i="0" dirty="0" err="1">
                <a:solidFill>
                  <a:srgbClr val="080809"/>
                </a:solidFill>
                <a:effectLst/>
              </a:rPr>
              <a:t>region</a:t>
            </a:r>
            <a:r>
              <a:rPr lang="fr-FR" sz="2400" b="0" i="0" dirty="0">
                <a:solidFill>
                  <a:srgbClr val="080809"/>
                </a:solidFill>
                <a:effectLst/>
              </a:rPr>
              <a:t> </a:t>
            </a:r>
            <a:r>
              <a:rPr lang="fr-FR" sz="2400" b="0" i="0" dirty="0" err="1">
                <a:solidFill>
                  <a:srgbClr val="080809"/>
                </a:solidFill>
                <a:effectLst/>
              </a:rPr>
              <a:t>proposal</a:t>
            </a:r>
            <a:r>
              <a:rPr lang="fr-FR" sz="2400" b="0" i="0" dirty="0">
                <a:solidFill>
                  <a:srgbClr val="080809"/>
                </a:solidFill>
                <a:effectLst/>
              </a:rPr>
              <a:t> and </a:t>
            </a:r>
            <a:r>
              <a:rPr lang="fr-FR" sz="2400" b="0" i="0" dirty="0" err="1">
                <a:solidFill>
                  <a:srgbClr val="080809"/>
                </a:solidFill>
                <a:effectLst/>
              </a:rPr>
              <a:t>object</a:t>
            </a:r>
            <a:r>
              <a:rPr lang="fr-FR" sz="2400" b="0" i="0" dirty="0">
                <a:solidFill>
                  <a:srgbClr val="080809"/>
                </a:solidFill>
                <a:effectLst/>
              </a:rPr>
              <a:t> </a:t>
            </a:r>
            <a:r>
              <a:rPr lang="fr-FR" sz="2400" b="0" i="0" dirty="0" err="1">
                <a:solidFill>
                  <a:srgbClr val="080809"/>
                </a:solidFill>
                <a:effectLst/>
              </a:rPr>
              <a:t>detection</a:t>
            </a:r>
            <a:r>
              <a:rPr lang="fr-FR" sz="2400" b="0" i="0" dirty="0">
                <a:solidFill>
                  <a:srgbClr val="080809"/>
                </a:solidFill>
                <a:effectLst/>
              </a:rPr>
              <a:t> in a single network. </a:t>
            </a:r>
          </a:p>
          <a:p>
            <a:pPr marL="342900" indent="-342900">
              <a:lnSpc>
                <a:spcPct val="200000"/>
              </a:lnSpc>
              <a:buFont typeface="Wingdings" panose="05000000000000000000" pitchFamily="2" charset="2"/>
              <a:buChar char="q"/>
            </a:pPr>
            <a:r>
              <a:rPr lang="fr-FR" sz="2400" b="1" dirty="0">
                <a:solidFill>
                  <a:srgbClr val="080809"/>
                </a:solidFill>
              </a:rPr>
              <a:t>YOLO: </a:t>
            </a:r>
            <a:r>
              <a:rPr lang="fr-FR" sz="2400" b="0" i="0" dirty="0" err="1">
                <a:solidFill>
                  <a:srgbClr val="080809"/>
                </a:solidFill>
                <a:effectLst/>
              </a:rPr>
              <a:t>Performs</a:t>
            </a:r>
            <a:r>
              <a:rPr lang="fr-FR" sz="2400" b="0" i="0" dirty="0">
                <a:solidFill>
                  <a:srgbClr val="080809"/>
                </a:solidFill>
                <a:effectLst/>
              </a:rPr>
              <a:t> real-time </a:t>
            </a:r>
            <a:r>
              <a:rPr lang="fr-FR" sz="2400" b="0" i="0" dirty="0" err="1">
                <a:solidFill>
                  <a:srgbClr val="080809"/>
                </a:solidFill>
                <a:effectLst/>
              </a:rPr>
              <a:t>detection</a:t>
            </a:r>
            <a:r>
              <a:rPr lang="fr-FR" sz="2400" b="0" i="0" dirty="0">
                <a:solidFill>
                  <a:srgbClr val="080809"/>
                </a:solidFill>
                <a:effectLst/>
              </a:rPr>
              <a:t> in a single </a:t>
            </a:r>
            <a:r>
              <a:rPr lang="fr-FR" sz="2400" b="0" i="0" dirty="0" err="1">
                <a:solidFill>
                  <a:srgbClr val="080809"/>
                </a:solidFill>
                <a:effectLst/>
              </a:rPr>
              <a:t>forward</a:t>
            </a:r>
            <a:r>
              <a:rPr lang="fr-FR" sz="2400" b="0" i="0" dirty="0">
                <a:solidFill>
                  <a:srgbClr val="080809"/>
                </a:solidFill>
                <a:effectLst/>
              </a:rPr>
              <a:t> </a:t>
            </a:r>
            <a:r>
              <a:rPr lang="fr-FR" sz="2400" b="0" i="0" dirty="0" err="1">
                <a:solidFill>
                  <a:srgbClr val="080809"/>
                </a:solidFill>
                <a:effectLst/>
              </a:rPr>
              <a:t>pass</a:t>
            </a:r>
            <a:r>
              <a:rPr lang="fr-FR" sz="2400" b="0" i="0" dirty="0">
                <a:solidFill>
                  <a:srgbClr val="080809"/>
                </a:solidFill>
                <a:effectLst/>
              </a:rPr>
              <a:t>.</a:t>
            </a:r>
            <a:endParaRPr lang="en-US" sz="2400" dirty="0">
              <a:ea typeface="Tahoma" panose="020B060403050404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B657BD48-0F88-1E4F-B477-81363A04B070}"/>
              </a:ext>
            </a:extLst>
          </p:cNvPr>
          <p:cNvGrpSpPr/>
          <p:nvPr/>
        </p:nvGrpSpPr>
        <p:grpSpPr>
          <a:xfrm>
            <a:off x="9766344" y="0"/>
            <a:ext cx="2425656" cy="432651"/>
            <a:chOff x="8758971" y="310479"/>
            <a:chExt cx="2538533" cy="346380"/>
          </a:xfrm>
        </p:grpSpPr>
        <p:grpSp>
          <p:nvGrpSpPr>
            <p:cNvPr id="6" name="Group 5">
              <a:extLst>
                <a:ext uri="{FF2B5EF4-FFF2-40B4-BE49-F238E27FC236}">
                  <a16:creationId xmlns:a16="http://schemas.microsoft.com/office/drawing/2014/main" id="{872582E3-7E9A-8D3E-115F-0A6FEFF779F3}"/>
                </a:ext>
              </a:extLst>
            </p:cNvPr>
            <p:cNvGrpSpPr/>
            <p:nvPr/>
          </p:nvGrpSpPr>
          <p:grpSpPr>
            <a:xfrm>
              <a:off x="8758971" y="310479"/>
              <a:ext cx="2538533" cy="346380"/>
              <a:chOff x="8758971" y="310479"/>
              <a:chExt cx="2538533" cy="346380"/>
            </a:xfrm>
          </p:grpSpPr>
          <p:sp>
            <p:nvSpPr>
              <p:cNvPr id="8" name="Rectangle 7">
                <a:extLst>
                  <a:ext uri="{FF2B5EF4-FFF2-40B4-BE49-F238E27FC236}">
                    <a16:creationId xmlns:a16="http://schemas.microsoft.com/office/drawing/2014/main" id="{70659CE2-E4F5-F979-FC21-40D3F0EE7575}"/>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Parallelogram 8">
                <a:extLst>
                  <a:ext uri="{FF2B5EF4-FFF2-40B4-BE49-F238E27FC236}">
                    <a16:creationId xmlns:a16="http://schemas.microsoft.com/office/drawing/2014/main" id="{251869A0-E26B-3B20-3135-5ECB26324D7A}"/>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7" name="TextBox 6">
              <a:extLst>
                <a:ext uri="{FF2B5EF4-FFF2-40B4-BE49-F238E27FC236}">
                  <a16:creationId xmlns:a16="http://schemas.microsoft.com/office/drawing/2014/main" id="{708DE840-5B88-9C7A-7C36-46E34E1666B3}"/>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FROMS RECOGNITION</a:t>
              </a:r>
              <a:endParaRPr lang="fr-FR" sz="1700" dirty="0">
                <a:effectLst/>
              </a:endParaRPr>
            </a:p>
          </p:txBody>
        </p:sp>
      </p:grpSp>
    </p:spTree>
    <p:extLst>
      <p:ext uri="{BB962C8B-B14F-4D97-AF65-F5344CB8AC3E}">
        <p14:creationId xmlns:p14="http://schemas.microsoft.com/office/powerpoint/2010/main" val="1051325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05DC4-0B48-2607-2A26-B6AB87E820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220BC6-1D99-23D6-DD68-F79E67246E18}"/>
              </a:ext>
            </a:extLst>
          </p:cNvPr>
          <p:cNvSpPr txBox="1"/>
          <p:nvPr/>
        </p:nvSpPr>
        <p:spPr>
          <a:xfrm>
            <a:off x="5101145" y="820732"/>
            <a:ext cx="1989708" cy="923330"/>
          </a:xfrm>
          <a:prstGeom prst="rect">
            <a:avLst/>
          </a:prstGeom>
          <a:noFill/>
        </p:spPr>
        <p:txBody>
          <a:bodyPr wrap="square" rtlCol="0">
            <a:spAutoFit/>
          </a:bodyPr>
          <a:lstStyle/>
          <a:p>
            <a:r>
              <a:rPr lang="en-US" sz="5400" b="1" dirty="0">
                <a:solidFill>
                  <a:schemeClr val="tx1">
                    <a:lumMod val="75000"/>
                    <a:lumOff val="25000"/>
                  </a:schemeClr>
                </a:solidFill>
                <a:latin typeface="Tw Cen MT" panose="020B0602020104020603" pitchFamily="34" charset="0"/>
                <a:ea typeface="Tahoma" panose="020B0604030504040204" pitchFamily="34" charset="0"/>
                <a:cs typeface="Arial" panose="020B0604020202020204" pitchFamily="34" charset="0"/>
              </a:rPr>
              <a:t>YOLO</a:t>
            </a:r>
            <a:endParaRPr lang="fr-FR" sz="5400" b="1" dirty="0">
              <a:solidFill>
                <a:schemeClr val="tx1">
                  <a:lumMod val="75000"/>
                  <a:lumOff val="25000"/>
                </a:schemeClr>
              </a:solidFill>
              <a:latin typeface="Tw Cen MT" panose="020B0602020104020603" pitchFamily="34" charset="0"/>
              <a:ea typeface="Tahoma" panose="020B0604030504040204" pitchFamily="34" charset="0"/>
              <a:cs typeface="Arial" panose="020B0604020202020204" pitchFamily="34" charset="0"/>
            </a:endParaRPr>
          </a:p>
        </p:txBody>
      </p:sp>
      <p:sp>
        <p:nvSpPr>
          <p:cNvPr id="3" name="TextBox 2">
            <a:extLst>
              <a:ext uri="{FF2B5EF4-FFF2-40B4-BE49-F238E27FC236}">
                <a16:creationId xmlns:a16="http://schemas.microsoft.com/office/drawing/2014/main" id="{CC7ECCA2-9E88-D805-DAE8-F848CDCB05FF}"/>
              </a:ext>
            </a:extLst>
          </p:cNvPr>
          <p:cNvSpPr txBox="1"/>
          <p:nvPr/>
        </p:nvSpPr>
        <p:spPr>
          <a:xfrm>
            <a:off x="427545" y="2561104"/>
            <a:ext cx="11336907" cy="1938992"/>
          </a:xfrm>
          <a:prstGeom prst="rect">
            <a:avLst/>
          </a:prstGeom>
          <a:noFill/>
        </p:spPr>
        <p:txBody>
          <a:bodyPr wrap="square" rtlCol="0">
            <a:spAutoFit/>
          </a:bodyPr>
          <a:lstStyle/>
          <a:p>
            <a:pPr marL="342900" indent="-342900" algn="just">
              <a:buFont typeface="Wingdings" panose="05000000000000000000" pitchFamily="2" charset="2"/>
              <a:buChar char="q"/>
            </a:pPr>
            <a:r>
              <a:rPr lang="en-US" sz="2400" b="1" dirty="0"/>
              <a:t>Definition</a:t>
            </a:r>
            <a:r>
              <a:rPr lang="en-US" sz="2400" dirty="0"/>
              <a:t>: You Only Look Once (YOLO) is one of the most popular object detection algorithms, widely used by researchers and industries globally. Developed by Joseph Redmon et al. and introduced in 2015, YOLO revolutionized object detection by enabling predictions in a single pass over the image—unlike region-based approaches like R-CNN and its variants</a:t>
            </a:r>
          </a:p>
        </p:txBody>
      </p:sp>
      <p:grpSp>
        <p:nvGrpSpPr>
          <p:cNvPr id="6" name="Group 5">
            <a:extLst>
              <a:ext uri="{FF2B5EF4-FFF2-40B4-BE49-F238E27FC236}">
                <a16:creationId xmlns:a16="http://schemas.microsoft.com/office/drawing/2014/main" id="{0E0645B0-3D76-B4DE-7DA1-53BA641791A2}"/>
              </a:ext>
            </a:extLst>
          </p:cNvPr>
          <p:cNvGrpSpPr/>
          <p:nvPr/>
        </p:nvGrpSpPr>
        <p:grpSpPr>
          <a:xfrm>
            <a:off x="9766344" y="0"/>
            <a:ext cx="2425656" cy="432651"/>
            <a:chOff x="8758971" y="310479"/>
            <a:chExt cx="2538533" cy="346380"/>
          </a:xfrm>
        </p:grpSpPr>
        <p:grpSp>
          <p:nvGrpSpPr>
            <p:cNvPr id="7" name="Group 6">
              <a:extLst>
                <a:ext uri="{FF2B5EF4-FFF2-40B4-BE49-F238E27FC236}">
                  <a16:creationId xmlns:a16="http://schemas.microsoft.com/office/drawing/2014/main" id="{56B4E326-48C4-4400-D3A7-F0128873F9BB}"/>
                </a:ext>
              </a:extLst>
            </p:cNvPr>
            <p:cNvGrpSpPr/>
            <p:nvPr/>
          </p:nvGrpSpPr>
          <p:grpSpPr>
            <a:xfrm>
              <a:off x="8758971" y="310479"/>
              <a:ext cx="2538533" cy="346380"/>
              <a:chOff x="8758971" y="310479"/>
              <a:chExt cx="2538533" cy="346380"/>
            </a:xfrm>
          </p:grpSpPr>
          <p:sp>
            <p:nvSpPr>
              <p:cNvPr id="9" name="Rectangle 8">
                <a:extLst>
                  <a:ext uri="{FF2B5EF4-FFF2-40B4-BE49-F238E27FC236}">
                    <a16:creationId xmlns:a16="http://schemas.microsoft.com/office/drawing/2014/main" id="{F5462B4F-3329-C964-850F-79FBB48F7FA4}"/>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Parallelogram 9">
                <a:extLst>
                  <a:ext uri="{FF2B5EF4-FFF2-40B4-BE49-F238E27FC236}">
                    <a16:creationId xmlns:a16="http://schemas.microsoft.com/office/drawing/2014/main" id="{F838E516-DAA0-6D40-7CCB-FD1748737A25}"/>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8" name="TextBox 7">
              <a:extLst>
                <a:ext uri="{FF2B5EF4-FFF2-40B4-BE49-F238E27FC236}">
                  <a16:creationId xmlns:a16="http://schemas.microsoft.com/office/drawing/2014/main" id="{D84391D5-CC1E-21BA-A442-3FC93BF17386}"/>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FROMS RECOGNITION</a:t>
              </a:r>
              <a:endParaRPr lang="fr-FR" sz="1700" dirty="0">
                <a:effectLst/>
              </a:endParaRPr>
            </a:p>
          </p:txBody>
        </p:sp>
      </p:grpSp>
    </p:spTree>
    <p:extLst>
      <p:ext uri="{BB962C8B-B14F-4D97-AF65-F5344CB8AC3E}">
        <p14:creationId xmlns:p14="http://schemas.microsoft.com/office/powerpoint/2010/main" val="2357439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2A520-3DD3-42C7-2635-416BE0B506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5EA7D7-1F6F-84C4-DE90-C61A8A459AE2}"/>
              </a:ext>
            </a:extLst>
          </p:cNvPr>
          <p:cNvSpPr txBox="1"/>
          <p:nvPr/>
        </p:nvSpPr>
        <p:spPr>
          <a:xfrm>
            <a:off x="194692" y="511095"/>
            <a:ext cx="11336907" cy="1487330"/>
          </a:xfrm>
          <a:prstGeom prst="rect">
            <a:avLst/>
          </a:prstGeom>
          <a:noFill/>
        </p:spPr>
        <p:txBody>
          <a:bodyPr wrap="square" rtlCol="0">
            <a:spAutoFit/>
          </a:bodyPr>
          <a:lstStyle/>
          <a:p>
            <a:pPr marL="342900" marR="0" indent="-342900">
              <a:lnSpc>
                <a:spcPct val="115000"/>
              </a:lnSpc>
              <a:spcAft>
                <a:spcPts val="1000"/>
              </a:spcAft>
              <a:buFont typeface="Wingdings" panose="05000000000000000000" pitchFamily="2" charset="2"/>
              <a:buChar char="q"/>
            </a:pPr>
            <a:r>
              <a:rPr lang="en-US" sz="2000" b="1" dirty="0"/>
              <a:t>Architecture</a:t>
            </a:r>
            <a:r>
              <a:rPr lang="en-US" sz="2000" dirty="0"/>
              <a:t>: YOLO processes the entire image at once, predicting bounding boxes and class probabilities simultaneously. This global approach allows YOLO to be extremely fast while maintaining high accuracy. The architecture is inspired by the </a:t>
            </a:r>
            <a:r>
              <a:rPr lang="en-US" sz="2000" dirty="0" err="1"/>
              <a:t>GoogLeNet</a:t>
            </a:r>
            <a:r>
              <a:rPr lang="en-US" sz="2000" dirty="0"/>
              <a:t> CNN, consisting of 24 convolutional layers followed by 2 fully connected layers.</a:t>
            </a:r>
            <a:endParaRPr lang="fr-FR" sz="2000" dirty="0"/>
          </a:p>
        </p:txBody>
      </p:sp>
      <p:pic>
        <p:nvPicPr>
          <p:cNvPr id="3" name="Image 0">
            <a:extLst>
              <a:ext uri="{FF2B5EF4-FFF2-40B4-BE49-F238E27FC236}">
                <a16:creationId xmlns:a16="http://schemas.microsoft.com/office/drawing/2014/main" id="{B8B554C8-4074-49C4-4ED6-75D3EF98916F}"/>
              </a:ext>
            </a:extLst>
          </p:cNvPr>
          <p:cNvPicPr>
            <a:picLocks noChangeAspect="1"/>
          </p:cNvPicPr>
          <p:nvPr/>
        </p:nvPicPr>
        <p:blipFill>
          <a:blip r:embed="rId2"/>
          <a:stretch>
            <a:fillRect/>
          </a:stretch>
        </p:blipFill>
        <p:spPr>
          <a:xfrm>
            <a:off x="629920" y="2186502"/>
            <a:ext cx="11021169" cy="4549578"/>
          </a:xfrm>
          <a:prstGeom prst="rect">
            <a:avLst/>
          </a:prstGeom>
        </p:spPr>
      </p:pic>
      <p:grpSp>
        <p:nvGrpSpPr>
          <p:cNvPr id="4" name="Group 3">
            <a:extLst>
              <a:ext uri="{FF2B5EF4-FFF2-40B4-BE49-F238E27FC236}">
                <a16:creationId xmlns:a16="http://schemas.microsoft.com/office/drawing/2014/main" id="{53397EC5-F729-7DB3-710F-CB7129BDA471}"/>
              </a:ext>
            </a:extLst>
          </p:cNvPr>
          <p:cNvGrpSpPr/>
          <p:nvPr/>
        </p:nvGrpSpPr>
        <p:grpSpPr>
          <a:xfrm>
            <a:off x="9766344" y="0"/>
            <a:ext cx="2425656" cy="432651"/>
            <a:chOff x="8758971" y="310479"/>
            <a:chExt cx="2538533" cy="346380"/>
          </a:xfrm>
        </p:grpSpPr>
        <p:grpSp>
          <p:nvGrpSpPr>
            <p:cNvPr id="5" name="Group 4">
              <a:extLst>
                <a:ext uri="{FF2B5EF4-FFF2-40B4-BE49-F238E27FC236}">
                  <a16:creationId xmlns:a16="http://schemas.microsoft.com/office/drawing/2014/main" id="{D763CE73-8792-4410-09BA-2C121B35A5E5}"/>
                </a:ext>
              </a:extLst>
            </p:cNvPr>
            <p:cNvGrpSpPr/>
            <p:nvPr/>
          </p:nvGrpSpPr>
          <p:grpSpPr>
            <a:xfrm>
              <a:off x="8758971" y="310479"/>
              <a:ext cx="2538533" cy="346380"/>
              <a:chOff x="8758971" y="310479"/>
              <a:chExt cx="2538533" cy="346380"/>
            </a:xfrm>
          </p:grpSpPr>
          <p:sp>
            <p:nvSpPr>
              <p:cNvPr id="7" name="Rectangle 6">
                <a:extLst>
                  <a:ext uri="{FF2B5EF4-FFF2-40B4-BE49-F238E27FC236}">
                    <a16:creationId xmlns:a16="http://schemas.microsoft.com/office/drawing/2014/main" id="{9787869E-69B4-950B-7ECD-441DD1CC0230}"/>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Parallelogram 7">
                <a:extLst>
                  <a:ext uri="{FF2B5EF4-FFF2-40B4-BE49-F238E27FC236}">
                    <a16:creationId xmlns:a16="http://schemas.microsoft.com/office/drawing/2014/main" id="{0D512125-18D6-2197-6572-B61705FC1580}"/>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6" name="TextBox 5">
              <a:extLst>
                <a:ext uri="{FF2B5EF4-FFF2-40B4-BE49-F238E27FC236}">
                  <a16:creationId xmlns:a16="http://schemas.microsoft.com/office/drawing/2014/main" id="{3089ECCD-B3E2-A164-5FE0-F3DCA8F32E25}"/>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FROMS RECOGNITION</a:t>
              </a:r>
              <a:endParaRPr lang="fr-FR" sz="1700" dirty="0">
                <a:effectLst/>
              </a:endParaRPr>
            </a:p>
          </p:txBody>
        </p:sp>
      </p:grpSp>
    </p:spTree>
    <p:extLst>
      <p:ext uri="{BB962C8B-B14F-4D97-AF65-F5344CB8AC3E}">
        <p14:creationId xmlns:p14="http://schemas.microsoft.com/office/powerpoint/2010/main" val="58360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C18A9-88A0-95E6-EFF3-BB02F2760D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8EEA69-C6A8-84C0-7163-FF26368DFD81}"/>
              </a:ext>
            </a:extLst>
          </p:cNvPr>
          <p:cNvSpPr txBox="1"/>
          <p:nvPr/>
        </p:nvSpPr>
        <p:spPr>
          <a:xfrm>
            <a:off x="458024" y="302572"/>
            <a:ext cx="2661096" cy="523220"/>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en-US" dirty="0"/>
              <a:t>YOLO workflow</a:t>
            </a:r>
            <a:endParaRPr lang="fr-FR" dirty="0"/>
          </a:p>
        </p:txBody>
      </p:sp>
      <p:sp>
        <p:nvSpPr>
          <p:cNvPr id="3" name="TextBox 2">
            <a:extLst>
              <a:ext uri="{FF2B5EF4-FFF2-40B4-BE49-F238E27FC236}">
                <a16:creationId xmlns:a16="http://schemas.microsoft.com/office/drawing/2014/main" id="{A88D46DF-1ED5-F869-B266-CFB5A21DCEAC}"/>
              </a:ext>
            </a:extLst>
          </p:cNvPr>
          <p:cNvSpPr txBox="1"/>
          <p:nvPr/>
        </p:nvSpPr>
        <p:spPr>
          <a:xfrm>
            <a:off x="759906" y="967250"/>
            <a:ext cx="9563304" cy="707886"/>
          </a:xfrm>
          <a:prstGeom prst="rect">
            <a:avLst/>
          </a:prstGeom>
          <a:noFill/>
        </p:spPr>
        <p:txBody>
          <a:bodyPr wrap="square" rtlCol="0">
            <a:spAutoFit/>
          </a:bodyPr>
          <a:lstStyle/>
          <a:p>
            <a:pPr marL="342900" indent="-342900" algn="just">
              <a:buFont typeface="Wingdings" panose="05000000000000000000" pitchFamily="2" charset="2"/>
              <a:buChar char="q"/>
            </a:pPr>
            <a:r>
              <a:rPr lang="en-US" sz="2000" b="1" dirty="0">
                <a:solidFill>
                  <a:srgbClr val="080809"/>
                </a:solidFill>
              </a:rPr>
              <a:t>Grid Division</a:t>
            </a:r>
            <a:r>
              <a:rPr lang="en-US" sz="2000" dirty="0">
                <a:solidFill>
                  <a:srgbClr val="080809"/>
                </a:solidFill>
              </a:rPr>
              <a:t>: The input image is divided into an S × S grid Each cell is responsible for detecting objects whose center falls inside it.</a:t>
            </a:r>
          </a:p>
        </p:txBody>
      </p:sp>
      <p:sp>
        <p:nvSpPr>
          <p:cNvPr id="4" name="TextBox 3">
            <a:extLst>
              <a:ext uri="{FF2B5EF4-FFF2-40B4-BE49-F238E27FC236}">
                <a16:creationId xmlns:a16="http://schemas.microsoft.com/office/drawing/2014/main" id="{A7904F7C-9836-A97D-053C-2015D0198105}"/>
              </a:ext>
            </a:extLst>
          </p:cNvPr>
          <p:cNvSpPr txBox="1"/>
          <p:nvPr/>
        </p:nvSpPr>
        <p:spPr>
          <a:xfrm>
            <a:off x="759906" y="1712022"/>
            <a:ext cx="9563304" cy="4739759"/>
          </a:xfrm>
          <a:prstGeom prst="rect">
            <a:avLst/>
          </a:prstGeom>
          <a:noFill/>
        </p:spPr>
        <p:txBody>
          <a:bodyPr wrap="square" rtlCol="0">
            <a:spAutoFit/>
          </a:bodyPr>
          <a:lstStyle/>
          <a:p>
            <a:pPr marL="342900" indent="-342900" algn="just">
              <a:buFont typeface="Wingdings" panose="05000000000000000000" pitchFamily="2" charset="2"/>
              <a:buChar char="q"/>
            </a:pPr>
            <a:r>
              <a:rPr lang="en-US" sz="2000" b="1" dirty="0">
                <a:solidFill>
                  <a:srgbClr val="080809"/>
                </a:solidFill>
              </a:rPr>
              <a:t>Bounding Box Prediction</a:t>
            </a:r>
            <a:r>
              <a:rPr lang="en-US" sz="2000" dirty="0">
                <a:solidFill>
                  <a:srgbClr val="080809"/>
                </a:solidFill>
              </a:rPr>
              <a:t>: Each cell predicts B bounding boxes. Each box includes 5 components: x, y, w, h, and confidence. </a:t>
            </a:r>
          </a:p>
          <a:p>
            <a:pPr marL="457200" algn="just"/>
            <a:r>
              <a:rPr lang="en-US" sz="2000" dirty="0">
                <a:solidFill>
                  <a:srgbClr val="080809"/>
                </a:solidFill>
              </a:rPr>
              <a:t>- (x, y): Center of the box relative to the cell </a:t>
            </a:r>
          </a:p>
          <a:p>
            <a:pPr marL="457200" algn="just"/>
            <a:r>
              <a:rPr lang="en-US" sz="2000" dirty="0">
                <a:solidFill>
                  <a:srgbClr val="080809"/>
                </a:solidFill>
              </a:rPr>
              <a:t>- (w, h): Width and height relative to the whole image </a:t>
            </a:r>
          </a:p>
          <a:p>
            <a:pPr marL="457200" algn="just"/>
            <a:r>
              <a:rPr lang="en-US" sz="2000" dirty="0">
                <a:solidFill>
                  <a:srgbClr val="080809"/>
                </a:solidFill>
              </a:rPr>
              <a:t>Confidence score reflects the Intersection over Union (</a:t>
            </a:r>
            <a:r>
              <a:rPr lang="en-US" sz="2000" dirty="0" err="1">
                <a:solidFill>
                  <a:srgbClr val="080809"/>
                </a:solidFill>
              </a:rPr>
              <a:t>IoU</a:t>
            </a:r>
            <a:r>
              <a:rPr lang="en-US" sz="2000" dirty="0">
                <a:solidFill>
                  <a:srgbClr val="080809"/>
                </a:solidFill>
              </a:rPr>
              <a:t>) between the predicted and ground truth boxes</a:t>
            </a:r>
          </a:p>
          <a:p>
            <a:pPr marL="457200" algn="just"/>
            <a:endParaRPr lang="en-US" sz="2000" dirty="0">
              <a:solidFill>
                <a:srgbClr val="080809"/>
              </a:solidFill>
            </a:endParaRPr>
          </a:p>
          <a:p>
            <a:pPr marL="347663" indent="-347663" algn="just">
              <a:buFont typeface="Arial" panose="020B0604020202020204" pitchFamily="34" charset="0"/>
              <a:buChar char="•"/>
            </a:pPr>
            <a:r>
              <a:rPr lang="fr-FR" sz="2200" b="1" dirty="0">
                <a:solidFill>
                  <a:srgbClr val="080809"/>
                </a:solidFill>
              </a:rPr>
              <a:t>Putting </a:t>
            </a:r>
            <a:r>
              <a:rPr lang="fr-FR" sz="2200" b="1" dirty="0" err="1">
                <a:solidFill>
                  <a:srgbClr val="080809"/>
                </a:solidFill>
              </a:rPr>
              <a:t>it</a:t>
            </a:r>
            <a:r>
              <a:rPr lang="fr-FR" sz="2200" b="1" dirty="0">
                <a:solidFill>
                  <a:srgbClr val="080809"/>
                </a:solidFill>
              </a:rPr>
              <a:t> all </a:t>
            </a:r>
            <a:r>
              <a:rPr lang="fr-FR" sz="2200" b="1" dirty="0" err="1">
                <a:solidFill>
                  <a:srgbClr val="080809"/>
                </a:solidFill>
              </a:rPr>
              <a:t>together</a:t>
            </a:r>
            <a:r>
              <a:rPr lang="fr-FR" sz="2200" b="1" dirty="0">
                <a:solidFill>
                  <a:srgbClr val="080809"/>
                </a:solidFill>
              </a:rPr>
              <a:t>:</a:t>
            </a:r>
          </a:p>
          <a:p>
            <a:pPr marL="746125" indent="-349250" algn="just"/>
            <a:r>
              <a:rPr lang="en-US" sz="2000" dirty="0">
                <a:solidFill>
                  <a:srgbClr val="080809"/>
                </a:solidFill>
              </a:rPr>
              <a:t>For each grid cell, we output:</a:t>
            </a:r>
            <a:endParaRPr lang="fr-FR" sz="2000" dirty="0">
              <a:solidFill>
                <a:srgbClr val="080809"/>
              </a:solidFill>
            </a:endParaRPr>
          </a:p>
          <a:p>
            <a:pPr marL="914400" indent="-288925" algn="just">
              <a:buFont typeface="Wingdings" panose="05000000000000000000" pitchFamily="2" charset="2"/>
              <a:buChar char="Ø"/>
            </a:pPr>
            <a:r>
              <a:rPr lang="en-US" sz="2000" dirty="0">
                <a:solidFill>
                  <a:srgbClr val="080809"/>
                </a:solidFill>
              </a:rPr>
              <a:t>B bounding boxes x 5 values each = B*5</a:t>
            </a:r>
            <a:endParaRPr lang="fr-FR" sz="2000" dirty="0">
              <a:solidFill>
                <a:srgbClr val="080809"/>
              </a:solidFill>
            </a:endParaRPr>
          </a:p>
          <a:p>
            <a:pPr marL="914400" indent="-288925" algn="just">
              <a:buFont typeface="Wingdings" panose="05000000000000000000" pitchFamily="2" charset="2"/>
              <a:buChar char="Ø"/>
            </a:pPr>
            <a:r>
              <a:rPr lang="fr-FR" sz="2000" dirty="0">
                <a:solidFill>
                  <a:srgbClr val="080809"/>
                </a:solidFill>
              </a:rPr>
              <a:t>C class </a:t>
            </a:r>
            <a:r>
              <a:rPr lang="fr-FR" sz="2000" dirty="0" err="1">
                <a:solidFill>
                  <a:srgbClr val="080809"/>
                </a:solidFill>
              </a:rPr>
              <a:t>probabilities</a:t>
            </a:r>
            <a:endParaRPr lang="fr-FR" sz="2000" dirty="0">
              <a:solidFill>
                <a:srgbClr val="080809"/>
              </a:solidFill>
            </a:endParaRPr>
          </a:p>
          <a:p>
            <a:pPr marL="746125" indent="-349250" algn="just"/>
            <a:r>
              <a:rPr lang="en-US" sz="2000" dirty="0">
                <a:solidFill>
                  <a:srgbClr val="080809"/>
                </a:solidFill>
              </a:rPr>
              <a:t>So for each grid cell, the output size is: </a:t>
            </a:r>
          </a:p>
          <a:p>
            <a:pPr marL="974725" indent="-349250" algn="just">
              <a:buFont typeface="Wingdings" panose="05000000000000000000" pitchFamily="2" charset="2"/>
              <a:buChar char="Ø"/>
            </a:pPr>
            <a:r>
              <a:rPr lang="fr-FR" sz="2000" dirty="0">
                <a:solidFill>
                  <a:srgbClr val="080809"/>
                </a:solidFill>
              </a:rPr>
              <a:t>(B*5)+C</a:t>
            </a:r>
          </a:p>
          <a:p>
            <a:pPr marL="746125" indent="-349250" algn="just"/>
            <a:r>
              <a:rPr lang="en-US" sz="2000" dirty="0">
                <a:solidFill>
                  <a:srgbClr val="080809"/>
                </a:solidFill>
              </a:rPr>
              <a:t>And since there are S x S grid cells in the image, the total output shape is:</a:t>
            </a:r>
          </a:p>
          <a:p>
            <a:pPr marL="974725" indent="-349250" algn="just">
              <a:buFont typeface="Wingdings" panose="05000000000000000000" pitchFamily="2" charset="2"/>
              <a:buChar char="Ø"/>
            </a:pPr>
            <a:r>
              <a:rPr lang="fr-FR" sz="2000" dirty="0" err="1">
                <a:solidFill>
                  <a:srgbClr val="080809"/>
                </a:solidFill>
              </a:rPr>
              <a:t>SxSx</a:t>
            </a:r>
            <a:r>
              <a:rPr lang="fr-FR" sz="2000" dirty="0">
                <a:solidFill>
                  <a:srgbClr val="080809"/>
                </a:solidFill>
              </a:rPr>
              <a:t>(B*5+C)</a:t>
            </a:r>
            <a:endParaRPr lang="en-US" sz="2000" dirty="0">
              <a:solidFill>
                <a:srgbClr val="080809"/>
              </a:solidFill>
            </a:endParaRPr>
          </a:p>
        </p:txBody>
      </p:sp>
      <p:grpSp>
        <p:nvGrpSpPr>
          <p:cNvPr id="5" name="Group 4">
            <a:extLst>
              <a:ext uri="{FF2B5EF4-FFF2-40B4-BE49-F238E27FC236}">
                <a16:creationId xmlns:a16="http://schemas.microsoft.com/office/drawing/2014/main" id="{39FDBB6C-5EFA-76CC-AC8E-306D349DF8F7}"/>
              </a:ext>
            </a:extLst>
          </p:cNvPr>
          <p:cNvGrpSpPr/>
          <p:nvPr/>
        </p:nvGrpSpPr>
        <p:grpSpPr>
          <a:xfrm>
            <a:off x="9766344" y="0"/>
            <a:ext cx="2425656" cy="432651"/>
            <a:chOff x="8758971" y="310479"/>
            <a:chExt cx="2538533" cy="346380"/>
          </a:xfrm>
        </p:grpSpPr>
        <p:grpSp>
          <p:nvGrpSpPr>
            <p:cNvPr id="6" name="Group 5">
              <a:extLst>
                <a:ext uri="{FF2B5EF4-FFF2-40B4-BE49-F238E27FC236}">
                  <a16:creationId xmlns:a16="http://schemas.microsoft.com/office/drawing/2014/main" id="{54199DAD-CAED-6BED-4E68-FD5C0E01E8A7}"/>
                </a:ext>
              </a:extLst>
            </p:cNvPr>
            <p:cNvGrpSpPr/>
            <p:nvPr/>
          </p:nvGrpSpPr>
          <p:grpSpPr>
            <a:xfrm>
              <a:off x="8758971" y="310479"/>
              <a:ext cx="2538533" cy="346380"/>
              <a:chOff x="8758971" y="310479"/>
              <a:chExt cx="2538533" cy="346380"/>
            </a:xfrm>
          </p:grpSpPr>
          <p:sp>
            <p:nvSpPr>
              <p:cNvPr id="8" name="Rectangle 7">
                <a:extLst>
                  <a:ext uri="{FF2B5EF4-FFF2-40B4-BE49-F238E27FC236}">
                    <a16:creationId xmlns:a16="http://schemas.microsoft.com/office/drawing/2014/main" id="{540B4C2A-6516-47C5-7B41-1B4E71BF4986}"/>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Parallelogram 8">
                <a:extLst>
                  <a:ext uri="{FF2B5EF4-FFF2-40B4-BE49-F238E27FC236}">
                    <a16:creationId xmlns:a16="http://schemas.microsoft.com/office/drawing/2014/main" id="{4597CF90-FC04-253D-4EDB-C59E1F901764}"/>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7" name="TextBox 6">
              <a:extLst>
                <a:ext uri="{FF2B5EF4-FFF2-40B4-BE49-F238E27FC236}">
                  <a16:creationId xmlns:a16="http://schemas.microsoft.com/office/drawing/2014/main" id="{2F86B90A-0430-985C-CB33-2435827F548F}"/>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FROMS RECOGNITION</a:t>
              </a:r>
              <a:endParaRPr lang="fr-FR" sz="1700" dirty="0">
                <a:effectLst/>
              </a:endParaRPr>
            </a:p>
          </p:txBody>
        </p:sp>
      </p:grpSp>
    </p:spTree>
    <p:extLst>
      <p:ext uri="{BB962C8B-B14F-4D97-AF65-F5344CB8AC3E}">
        <p14:creationId xmlns:p14="http://schemas.microsoft.com/office/powerpoint/2010/main" val="1939853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31447-92DE-D80A-46B5-0E12D7927ACB}"/>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F2910368-AF79-9D95-C221-B48D2630D2FA}"/>
              </a:ext>
            </a:extLst>
          </p:cNvPr>
          <p:cNvPicPr>
            <a:picLocks noChangeAspect="1"/>
          </p:cNvPicPr>
          <p:nvPr/>
        </p:nvPicPr>
        <p:blipFill>
          <a:blip r:embed="rId2"/>
          <a:stretch>
            <a:fillRect/>
          </a:stretch>
        </p:blipFill>
        <p:spPr>
          <a:xfrm>
            <a:off x="1416222" y="768826"/>
            <a:ext cx="9359556" cy="6011228"/>
          </a:xfrm>
          <a:prstGeom prst="rect">
            <a:avLst/>
          </a:prstGeom>
        </p:spPr>
      </p:pic>
      <p:sp>
        <p:nvSpPr>
          <p:cNvPr id="3" name="TextBox 2">
            <a:extLst>
              <a:ext uri="{FF2B5EF4-FFF2-40B4-BE49-F238E27FC236}">
                <a16:creationId xmlns:a16="http://schemas.microsoft.com/office/drawing/2014/main" id="{77229142-F0F0-977A-5902-D73FB9BBE895}"/>
              </a:ext>
            </a:extLst>
          </p:cNvPr>
          <p:cNvSpPr txBox="1"/>
          <p:nvPr/>
        </p:nvSpPr>
        <p:spPr>
          <a:xfrm>
            <a:off x="386904" y="245606"/>
            <a:ext cx="2671256" cy="523220"/>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en-US" dirty="0"/>
              <a:t>YOLO workflow</a:t>
            </a:r>
            <a:endParaRPr lang="fr-FR" dirty="0"/>
          </a:p>
        </p:txBody>
      </p:sp>
      <p:grpSp>
        <p:nvGrpSpPr>
          <p:cNvPr id="4" name="Group 3">
            <a:extLst>
              <a:ext uri="{FF2B5EF4-FFF2-40B4-BE49-F238E27FC236}">
                <a16:creationId xmlns:a16="http://schemas.microsoft.com/office/drawing/2014/main" id="{6610BF5E-9BEF-2B95-75AC-4371D7B8FF6A}"/>
              </a:ext>
            </a:extLst>
          </p:cNvPr>
          <p:cNvGrpSpPr/>
          <p:nvPr/>
        </p:nvGrpSpPr>
        <p:grpSpPr>
          <a:xfrm>
            <a:off x="9766344" y="0"/>
            <a:ext cx="2425656" cy="432651"/>
            <a:chOff x="8758971" y="310479"/>
            <a:chExt cx="2538533" cy="346380"/>
          </a:xfrm>
        </p:grpSpPr>
        <p:grpSp>
          <p:nvGrpSpPr>
            <p:cNvPr id="5" name="Group 4">
              <a:extLst>
                <a:ext uri="{FF2B5EF4-FFF2-40B4-BE49-F238E27FC236}">
                  <a16:creationId xmlns:a16="http://schemas.microsoft.com/office/drawing/2014/main" id="{AE7E9F88-C911-90D7-2CF2-9D7885398AA6}"/>
                </a:ext>
              </a:extLst>
            </p:cNvPr>
            <p:cNvGrpSpPr/>
            <p:nvPr/>
          </p:nvGrpSpPr>
          <p:grpSpPr>
            <a:xfrm>
              <a:off x="8758971" y="310479"/>
              <a:ext cx="2538533" cy="346380"/>
              <a:chOff x="8758971" y="310479"/>
              <a:chExt cx="2538533" cy="346380"/>
            </a:xfrm>
          </p:grpSpPr>
          <p:sp>
            <p:nvSpPr>
              <p:cNvPr id="7" name="Rectangle 6">
                <a:extLst>
                  <a:ext uri="{FF2B5EF4-FFF2-40B4-BE49-F238E27FC236}">
                    <a16:creationId xmlns:a16="http://schemas.microsoft.com/office/drawing/2014/main" id="{0292234F-65C5-E291-8854-AF3B8D81706F}"/>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Parallelogram 7">
                <a:extLst>
                  <a:ext uri="{FF2B5EF4-FFF2-40B4-BE49-F238E27FC236}">
                    <a16:creationId xmlns:a16="http://schemas.microsoft.com/office/drawing/2014/main" id="{D1A4741B-984F-5C22-EF33-FB7C0C30FF3E}"/>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6" name="TextBox 5">
              <a:extLst>
                <a:ext uri="{FF2B5EF4-FFF2-40B4-BE49-F238E27FC236}">
                  <a16:creationId xmlns:a16="http://schemas.microsoft.com/office/drawing/2014/main" id="{93F4F0C5-A89B-C3E8-8F19-BEB9E4E10672}"/>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FROMS RECOGNITION</a:t>
              </a:r>
              <a:endParaRPr lang="fr-FR" sz="1700" dirty="0">
                <a:effectLst/>
              </a:endParaRPr>
            </a:p>
          </p:txBody>
        </p:sp>
      </p:grpSp>
    </p:spTree>
    <p:extLst>
      <p:ext uri="{BB962C8B-B14F-4D97-AF65-F5344CB8AC3E}">
        <p14:creationId xmlns:p14="http://schemas.microsoft.com/office/powerpoint/2010/main" val="1814048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850E5-4E0B-10B3-13C9-0507A9A37B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745CC4-60C7-A58D-1909-403B8DA74F65}"/>
              </a:ext>
            </a:extLst>
          </p:cNvPr>
          <p:cNvSpPr txBox="1"/>
          <p:nvPr/>
        </p:nvSpPr>
        <p:spPr>
          <a:xfrm>
            <a:off x="739586" y="872700"/>
            <a:ext cx="10812334" cy="707886"/>
          </a:xfrm>
          <a:prstGeom prst="rect">
            <a:avLst/>
          </a:prstGeom>
          <a:noFill/>
        </p:spPr>
        <p:txBody>
          <a:bodyPr wrap="square" rtlCol="0">
            <a:spAutoFit/>
          </a:bodyPr>
          <a:lstStyle>
            <a:defPPr>
              <a:defRPr lang="fr-FR"/>
            </a:defPPr>
            <a:lvl1pPr marL="342900" indent="-342900" algn="just">
              <a:buFont typeface="Wingdings" panose="05000000000000000000" pitchFamily="2" charset="2"/>
              <a:buChar char="q"/>
              <a:defRPr sz="2000" b="1">
                <a:solidFill>
                  <a:srgbClr val="080809"/>
                </a:solidFill>
              </a:defRPr>
            </a:lvl1pPr>
          </a:lstStyle>
          <a:p>
            <a:r>
              <a:rPr lang="en-US" dirty="0"/>
              <a:t>Intersection over Union (</a:t>
            </a:r>
            <a:r>
              <a:rPr lang="en-US" dirty="0" err="1"/>
              <a:t>IoU</a:t>
            </a:r>
            <a:r>
              <a:rPr lang="en-US" dirty="0"/>
              <a:t>): </a:t>
            </a:r>
            <a:r>
              <a:rPr lang="en-US" b="0" dirty="0"/>
              <a:t>This is a score that shows how much the predicted box overlaps with the actual object box. A higher score means a better match</a:t>
            </a:r>
            <a:endParaRPr lang="fr-FR" b="0" dirty="0"/>
          </a:p>
        </p:txBody>
      </p:sp>
      <p:sp>
        <p:nvSpPr>
          <p:cNvPr id="3" name="TextBox 2">
            <a:extLst>
              <a:ext uri="{FF2B5EF4-FFF2-40B4-BE49-F238E27FC236}">
                <a16:creationId xmlns:a16="http://schemas.microsoft.com/office/drawing/2014/main" id="{6613AA3C-8401-8AFB-CF43-2D386FBF8552}"/>
              </a:ext>
            </a:extLst>
          </p:cNvPr>
          <p:cNvSpPr txBox="1"/>
          <p:nvPr/>
        </p:nvSpPr>
        <p:spPr>
          <a:xfrm>
            <a:off x="132904" y="77946"/>
            <a:ext cx="2640776" cy="523220"/>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en-US" dirty="0"/>
              <a:t>YOLO workflow</a:t>
            </a:r>
            <a:endParaRPr lang="fr-FR" dirty="0"/>
          </a:p>
        </p:txBody>
      </p:sp>
      <p:pic>
        <p:nvPicPr>
          <p:cNvPr id="4" name="Image 2">
            <a:extLst>
              <a:ext uri="{FF2B5EF4-FFF2-40B4-BE49-F238E27FC236}">
                <a16:creationId xmlns:a16="http://schemas.microsoft.com/office/drawing/2014/main" id="{752E9B17-C2AC-D94F-B82E-22545EE76F7B}"/>
              </a:ext>
            </a:extLst>
          </p:cNvPr>
          <p:cNvPicPr>
            <a:picLocks noChangeAspect="1"/>
          </p:cNvPicPr>
          <p:nvPr/>
        </p:nvPicPr>
        <p:blipFill>
          <a:blip r:embed="rId2"/>
          <a:stretch>
            <a:fillRect/>
          </a:stretch>
        </p:blipFill>
        <p:spPr>
          <a:xfrm>
            <a:off x="1984533" y="1605899"/>
            <a:ext cx="7349173" cy="2809263"/>
          </a:xfrm>
          <a:prstGeom prst="rect">
            <a:avLst/>
          </a:prstGeom>
        </p:spPr>
      </p:pic>
      <p:sp>
        <p:nvSpPr>
          <p:cNvPr id="6" name="TextBox 5">
            <a:extLst>
              <a:ext uri="{FF2B5EF4-FFF2-40B4-BE49-F238E27FC236}">
                <a16:creationId xmlns:a16="http://schemas.microsoft.com/office/drawing/2014/main" id="{DA4F63A8-D668-505F-7F5F-0B1829BC4644}"/>
              </a:ext>
            </a:extLst>
          </p:cNvPr>
          <p:cNvSpPr txBox="1"/>
          <p:nvPr/>
        </p:nvSpPr>
        <p:spPr>
          <a:xfrm>
            <a:off x="353060" y="4752620"/>
            <a:ext cx="5306060" cy="1666354"/>
          </a:xfrm>
          <a:prstGeom prst="rect">
            <a:avLst/>
          </a:prstGeom>
          <a:noFill/>
        </p:spPr>
        <p:txBody>
          <a:bodyPr wrap="square">
            <a:spAutoFit/>
          </a:bodyPr>
          <a:lstStyle/>
          <a:p>
            <a:pPr marL="342900" marR="0" lvl="0" indent="-342900" algn="just" rtl="0">
              <a:lnSpc>
                <a:spcPct val="115000"/>
              </a:lnSpc>
              <a:spcAft>
                <a:spcPts val="1000"/>
              </a:spcAft>
              <a:buFont typeface="Wingdings" panose="05000000000000000000" pitchFamily="2"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Anchor Boxes</a:t>
            </a:r>
            <a:r>
              <a:rPr lang="en-US" sz="1800" dirty="0">
                <a:effectLst/>
                <a:latin typeface="Calibri" panose="020F0502020204030204" pitchFamily="34" charset="0"/>
                <a:ea typeface="Calibri" panose="020F0502020204030204" pitchFamily="34" charset="0"/>
                <a:cs typeface="Arial" panose="020B0604020202020204" pitchFamily="34" charset="0"/>
              </a:rPr>
              <a:t>: Sometimes, multiple objects appear in one cell. To handle that, YOLO uses pre-made boxes of different sizes and shapes (called anchor boxes) to help find and separate each object correctly. </a:t>
            </a:r>
            <a:endParaRPr lang="fr-FR"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DF009550-F478-D3D3-7FD6-6FCDE0E5B5F2}"/>
              </a:ext>
            </a:extLst>
          </p:cNvPr>
          <p:cNvSpPr txBox="1"/>
          <p:nvPr/>
        </p:nvSpPr>
        <p:spPr>
          <a:xfrm>
            <a:off x="6096000" y="4752620"/>
            <a:ext cx="5577118" cy="1666354"/>
          </a:xfrm>
          <a:prstGeom prst="rect">
            <a:avLst/>
          </a:prstGeom>
          <a:noFill/>
        </p:spPr>
        <p:txBody>
          <a:bodyPr wrap="square">
            <a:spAutoFit/>
          </a:bodyPr>
          <a:lstStyle/>
          <a:p>
            <a:pPr marL="342900" marR="0" lvl="0" indent="-342900" algn="just">
              <a:lnSpc>
                <a:spcPct val="115000"/>
              </a:lnSpc>
              <a:spcAft>
                <a:spcPts val="1000"/>
              </a:spcAft>
              <a:buFont typeface="Wingdings" panose="05000000000000000000" pitchFamily="2"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Non-Maximum Suppression (NMS)</a:t>
            </a:r>
            <a:r>
              <a:rPr lang="en-US" sz="1800" dirty="0">
                <a:effectLst/>
                <a:latin typeface="Calibri" panose="020F0502020204030204" pitchFamily="34" charset="0"/>
                <a:ea typeface="Calibri" panose="020F0502020204030204" pitchFamily="34" charset="0"/>
                <a:cs typeface="Arial" panose="020B0604020202020204" pitchFamily="34" charset="0"/>
              </a:rPr>
              <a:t>: After predicting many boxes, YOLO uses a process called non-maximum suppression to remove extra boxes that overlap too much. It keeps only the best box for each object. </a:t>
            </a:r>
            <a:endParaRPr lang="fr-FR" sz="1400" dirty="0">
              <a:effectLst/>
              <a:latin typeface="Calibri" panose="020F0502020204030204" pitchFamily="34" charset="0"/>
              <a:ea typeface="Calibri" panose="020F050202020403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F3168928-D5F2-2AF8-EB97-A43783DE3F8F}"/>
              </a:ext>
            </a:extLst>
          </p:cNvPr>
          <p:cNvGrpSpPr/>
          <p:nvPr/>
        </p:nvGrpSpPr>
        <p:grpSpPr>
          <a:xfrm>
            <a:off x="9766344" y="0"/>
            <a:ext cx="2425656" cy="432651"/>
            <a:chOff x="8758971" y="310479"/>
            <a:chExt cx="2538533" cy="346380"/>
          </a:xfrm>
        </p:grpSpPr>
        <p:grpSp>
          <p:nvGrpSpPr>
            <p:cNvPr id="10" name="Group 9">
              <a:extLst>
                <a:ext uri="{FF2B5EF4-FFF2-40B4-BE49-F238E27FC236}">
                  <a16:creationId xmlns:a16="http://schemas.microsoft.com/office/drawing/2014/main" id="{AE41FDCF-9316-3755-8C10-F77E9ABA8B7E}"/>
                </a:ext>
              </a:extLst>
            </p:cNvPr>
            <p:cNvGrpSpPr/>
            <p:nvPr/>
          </p:nvGrpSpPr>
          <p:grpSpPr>
            <a:xfrm>
              <a:off x="8758971" y="310479"/>
              <a:ext cx="2538533" cy="346380"/>
              <a:chOff x="8758971" y="310479"/>
              <a:chExt cx="2538533" cy="346380"/>
            </a:xfrm>
          </p:grpSpPr>
          <p:sp>
            <p:nvSpPr>
              <p:cNvPr id="12" name="Rectangle 11">
                <a:extLst>
                  <a:ext uri="{FF2B5EF4-FFF2-40B4-BE49-F238E27FC236}">
                    <a16:creationId xmlns:a16="http://schemas.microsoft.com/office/drawing/2014/main" id="{5F27E2EA-580E-70BD-CDB1-1F6382CCCD5C}"/>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Parallelogram 12">
                <a:extLst>
                  <a:ext uri="{FF2B5EF4-FFF2-40B4-BE49-F238E27FC236}">
                    <a16:creationId xmlns:a16="http://schemas.microsoft.com/office/drawing/2014/main" id="{91EF3183-448F-F1A5-1F4C-3B00E200A227}"/>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1" name="TextBox 10">
              <a:extLst>
                <a:ext uri="{FF2B5EF4-FFF2-40B4-BE49-F238E27FC236}">
                  <a16:creationId xmlns:a16="http://schemas.microsoft.com/office/drawing/2014/main" id="{A635F5AB-11B2-64E4-B707-DA4C352DCE02}"/>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FROMS RECOGNITION</a:t>
              </a:r>
              <a:endParaRPr lang="fr-FR" sz="1700" dirty="0">
                <a:effectLst/>
              </a:endParaRPr>
            </a:p>
          </p:txBody>
        </p:sp>
      </p:grpSp>
    </p:spTree>
    <p:extLst>
      <p:ext uri="{BB962C8B-B14F-4D97-AF65-F5344CB8AC3E}">
        <p14:creationId xmlns:p14="http://schemas.microsoft.com/office/powerpoint/2010/main" val="388426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82E0B-E936-46E0-814D-2BC35BCDBF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D27BDD-39BE-8AFE-4C29-4D664C224912}"/>
              </a:ext>
            </a:extLst>
          </p:cNvPr>
          <p:cNvSpPr txBox="1"/>
          <p:nvPr/>
        </p:nvSpPr>
        <p:spPr>
          <a:xfrm>
            <a:off x="3422822" y="277849"/>
            <a:ext cx="4776297" cy="923330"/>
          </a:xfrm>
          <a:prstGeom prst="rect">
            <a:avLst/>
          </a:prstGeom>
          <a:noFill/>
        </p:spPr>
        <p:txBody>
          <a:bodyPr wrap="square" rtlCol="0">
            <a:spAutoFit/>
          </a:bodyPr>
          <a:lstStyle>
            <a:defPPr>
              <a:defRPr lang="fr-FR"/>
            </a:defPPr>
            <a:lvl1pPr>
              <a:defRPr sz="5400" b="1">
                <a:solidFill>
                  <a:schemeClr val="tx1">
                    <a:lumMod val="75000"/>
                    <a:lumOff val="25000"/>
                  </a:schemeClr>
                </a:solidFill>
                <a:latin typeface="Tw Cen MT" panose="020B0602020104020603" pitchFamily="34" charset="0"/>
                <a:ea typeface="Tahoma" panose="020B0604030504040204" pitchFamily="34" charset="0"/>
                <a:cs typeface="Arial" panose="020B0604020202020204" pitchFamily="34" charset="0"/>
              </a:defRPr>
            </a:lvl1pPr>
          </a:lstStyle>
          <a:p>
            <a:r>
              <a:rPr lang="en-US" dirty="0"/>
              <a:t>FASTER</a:t>
            </a:r>
            <a:r>
              <a:rPr lang="fr-FR" dirty="0"/>
              <a:t> R-CNN</a:t>
            </a:r>
            <a:endParaRPr lang="en-US" dirty="0"/>
          </a:p>
        </p:txBody>
      </p:sp>
      <p:sp>
        <p:nvSpPr>
          <p:cNvPr id="3" name="TextBox 2">
            <a:extLst>
              <a:ext uri="{FF2B5EF4-FFF2-40B4-BE49-F238E27FC236}">
                <a16:creationId xmlns:a16="http://schemas.microsoft.com/office/drawing/2014/main" id="{3F203654-CA8E-607D-FEDC-CF1C139CE639}"/>
              </a:ext>
            </a:extLst>
          </p:cNvPr>
          <p:cNvSpPr txBox="1"/>
          <p:nvPr/>
        </p:nvSpPr>
        <p:spPr>
          <a:xfrm>
            <a:off x="404306" y="1960940"/>
            <a:ext cx="10995214" cy="1569660"/>
          </a:xfrm>
          <a:prstGeom prst="rect">
            <a:avLst/>
          </a:prstGeom>
          <a:noFill/>
        </p:spPr>
        <p:txBody>
          <a:bodyPr wrap="square" rtlCol="0">
            <a:spAutoFit/>
          </a:bodyPr>
          <a:lstStyle/>
          <a:p>
            <a:pPr marL="342900" indent="-342900" algn="just">
              <a:buFont typeface="Wingdings" panose="05000000000000000000" pitchFamily="2" charset="2"/>
              <a:buChar char="q"/>
            </a:pPr>
            <a:r>
              <a:rPr lang="en-US" sz="2400" b="1" i="0" dirty="0">
                <a:solidFill>
                  <a:srgbClr val="080809"/>
                </a:solidFill>
                <a:effectLst/>
              </a:rPr>
              <a:t>Definition</a:t>
            </a:r>
            <a:r>
              <a:rPr lang="en-US" sz="2400" b="0" i="0" dirty="0">
                <a:solidFill>
                  <a:srgbClr val="080809"/>
                </a:solidFill>
                <a:effectLst/>
              </a:rPr>
              <a:t>: </a:t>
            </a:r>
            <a:r>
              <a:rPr lang="en-US" sz="2400" dirty="0"/>
              <a:t>Faster R-CNN, a sophisticated evolution of region-based detection, significantly improved accuracy and efficiency. Introduced in 2015 with its integrated Region Proposal Network, it enables more precise object localization, leading to more accurate detection (compared to the single-pass YOLO) and a reliable results.</a:t>
            </a:r>
          </a:p>
        </p:txBody>
      </p:sp>
      <p:sp>
        <p:nvSpPr>
          <p:cNvPr id="6" name="TextBox 5">
            <a:extLst>
              <a:ext uri="{FF2B5EF4-FFF2-40B4-BE49-F238E27FC236}">
                <a16:creationId xmlns:a16="http://schemas.microsoft.com/office/drawing/2014/main" id="{19D8AACE-C5FA-46DB-DD41-3F9C4CCBB0CD}"/>
              </a:ext>
            </a:extLst>
          </p:cNvPr>
          <p:cNvSpPr txBox="1"/>
          <p:nvPr/>
        </p:nvSpPr>
        <p:spPr>
          <a:xfrm>
            <a:off x="404306" y="3775433"/>
            <a:ext cx="11066334" cy="1938992"/>
          </a:xfrm>
          <a:prstGeom prst="rect">
            <a:avLst/>
          </a:prstGeom>
          <a:noFill/>
        </p:spPr>
        <p:txBody>
          <a:bodyPr wrap="square" rtlCol="0">
            <a:spAutoFit/>
          </a:bodyPr>
          <a:lstStyle/>
          <a:p>
            <a:pPr marL="342900" indent="-342900" algn="just">
              <a:buFont typeface="Wingdings" panose="05000000000000000000" pitchFamily="2" charset="2"/>
              <a:buChar char="q"/>
            </a:pPr>
            <a:r>
              <a:rPr lang="fr-FR" sz="2400" b="1" dirty="0">
                <a:solidFill>
                  <a:srgbClr val="080809"/>
                </a:solidFill>
              </a:rPr>
              <a:t>Architecture</a:t>
            </a:r>
            <a:r>
              <a:rPr lang="fr-FR" sz="2400" dirty="0">
                <a:solidFill>
                  <a:srgbClr val="080809"/>
                </a:solidFill>
              </a:rPr>
              <a:t>: </a:t>
            </a:r>
            <a:r>
              <a:rPr lang="en-US" sz="2400" dirty="0"/>
              <a:t>The Faster R-CNN architecture features two main parts: the Region Proposal Network (RPN) and the Fast R-CNN detector. The RPN generates object proposals from the input image. These proposals are then processed by the Fast R-CNN detector for classification and bounding box refinement, utilizing shared features from a backbone CNN like VGG or </a:t>
            </a:r>
            <a:r>
              <a:rPr lang="en-US" sz="2400" dirty="0" err="1"/>
              <a:t>ResNet</a:t>
            </a:r>
            <a:r>
              <a:rPr lang="en-US" sz="2400" dirty="0"/>
              <a:t> for efficiency.</a:t>
            </a:r>
            <a:endParaRPr lang="en-US" sz="2400" dirty="0">
              <a:solidFill>
                <a:srgbClr val="080809"/>
              </a:solidFill>
            </a:endParaRPr>
          </a:p>
        </p:txBody>
      </p:sp>
      <p:grpSp>
        <p:nvGrpSpPr>
          <p:cNvPr id="7" name="Group 6">
            <a:extLst>
              <a:ext uri="{FF2B5EF4-FFF2-40B4-BE49-F238E27FC236}">
                <a16:creationId xmlns:a16="http://schemas.microsoft.com/office/drawing/2014/main" id="{92D0B35C-E1EB-4375-240A-FE9726741173}"/>
              </a:ext>
            </a:extLst>
          </p:cNvPr>
          <p:cNvGrpSpPr/>
          <p:nvPr/>
        </p:nvGrpSpPr>
        <p:grpSpPr>
          <a:xfrm>
            <a:off x="9766344" y="0"/>
            <a:ext cx="2425656" cy="432651"/>
            <a:chOff x="8758971" y="310479"/>
            <a:chExt cx="2538533" cy="346380"/>
          </a:xfrm>
        </p:grpSpPr>
        <p:grpSp>
          <p:nvGrpSpPr>
            <p:cNvPr id="8" name="Group 7">
              <a:extLst>
                <a:ext uri="{FF2B5EF4-FFF2-40B4-BE49-F238E27FC236}">
                  <a16:creationId xmlns:a16="http://schemas.microsoft.com/office/drawing/2014/main" id="{31C0ADE4-5EDE-D899-EC2A-8B187A34A4FB}"/>
                </a:ext>
              </a:extLst>
            </p:cNvPr>
            <p:cNvGrpSpPr/>
            <p:nvPr/>
          </p:nvGrpSpPr>
          <p:grpSpPr>
            <a:xfrm>
              <a:off x="8758971" y="310479"/>
              <a:ext cx="2538533" cy="346380"/>
              <a:chOff x="8758971" y="310479"/>
              <a:chExt cx="2538533" cy="346380"/>
            </a:xfrm>
          </p:grpSpPr>
          <p:sp>
            <p:nvSpPr>
              <p:cNvPr id="10" name="Rectangle 9">
                <a:extLst>
                  <a:ext uri="{FF2B5EF4-FFF2-40B4-BE49-F238E27FC236}">
                    <a16:creationId xmlns:a16="http://schemas.microsoft.com/office/drawing/2014/main" id="{23D45F23-AB17-4DBA-6611-5D2D2397BAAA}"/>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Parallelogram 10">
                <a:extLst>
                  <a:ext uri="{FF2B5EF4-FFF2-40B4-BE49-F238E27FC236}">
                    <a16:creationId xmlns:a16="http://schemas.microsoft.com/office/drawing/2014/main" id="{4B3D8926-D9AB-41C8-24D9-2167826E2558}"/>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9" name="TextBox 8">
              <a:extLst>
                <a:ext uri="{FF2B5EF4-FFF2-40B4-BE49-F238E27FC236}">
                  <a16:creationId xmlns:a16="http://schemas.microsoft.com/office/drawing/2014/main" id="{70580042-C73C-4025-0B3B-D99CFAED4448}"/>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FROMS RECOGNITION</a:t>
              </a:r>
              <a:endParaRPr lang="fr-FR" sz="1700" dirty="0">
                <a:effectLst/>
              </a:endParaRPr>
            </a:p>
          </p:txBody>
        </p:sp>
      </p:grpSp>
    </p:spTree>
    <p:extLst>
      <p:ext uri="{BB962C8B-B14F-4D97-AF65-F5344CB8AC3E}">
        <p14:creationId xmlns:p14="http://schemas.microsoft.com/office/powerpoint/2010/main" val="681047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A87A7-9482-9D3E-63BF-9F00A70B29B6}"/>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167E9C90-A184-9EF0-5518-D67E16B07219}"/>
              </a:ext>
            </a:extLst>
          </p:cNvPr>
          <p:cNvSpPr txBox="1"/>
          <p:nvPr/>
        </p:nvSpPr>
        <p:spPr>
          <a:xfrm>
            <a:off x="264159" y="148313"/>
            <a:ext cx="8950961" cy="461665"/>
          </a:xfrm>
          <a:prstGeom prst="rect">
            <a:avLst/>
          </a:prstGeom>
          <a:noFill/>
        </p:spPr>
        <p:txBody>
          <a:bodyPr wrap="square">
            <a:spAutoFit/>
          </a:bodyPr>
          <a:lstStyle/>
          <a:p>
            <a:pPr marL="342900" indent="-342900">
              <a:buFont typeface="Wingdings" panose="05000000000000000000" pitchFamily="2" charset="2"/>
              <a:buChar char="q"/>
            </a:pPr>
            <a:r>
              <a:rPr lang="fr-FR" sz="2400" b="1" dirty="0">
                <a:solidFill>
                  <a:srgbClr val="080809"/>
                </a:solidFill>
              </a:rPr>
              <a:t>R-CNN Quick </a:t>
            </a:r>
            <a:r>
              <a:rPr lang="fr-FR" sz="2400" b="1" dirty="0" err="1">
                <a:solidFill>
                  <a:srgbClr val="080809"/>
                </a:solidFill>
              </a:rPr>
              <a:t>Overview</a:t>
            </a:r>
            <a:r>
              <a:rPr lang="fr-FR" sz="2400" b="1" dirty="0">
                <a:solidFill>
                  <a:srgbClr val="080809"/>
                </a:solidFill>
              </a:rPr>
              <a:t> : </a:t>
            </a:r>
            <a:r>
              <a:rPr lang="en-US" sz="2000" dirty="0"/>
              <a:t>RPN's role in generating region proposals</a:t>
            </a:r>
            <a:endParaRPr lang="fr-FR" sz="2400" b="1" dirty="0">
              <a:solidFill>
                <a:srgbClr val="080809"/>
              </a:solidFill>
            </a:endParaRPr>
          </a:p>
        </p:txBody>
      </p:sp>
      <p:sp>
        <p:nvSpPr>
          <p:cNvPr id="15" name="TextBox 14">
            <a:extLst>
              <a:ext uri="{FF2B5EF4-FFF2-40B4-BE49-F238E27FC236}">
                <a16:creationId xmlns:a16="http://schemas.microsoft.com/office/drawing/2014/main" id="{BD0CED41-0097-2870-E7C2-DDFF640EC8AA}"/>
              </a:ext>
            </a:extLst>
          </p:cNvPr>
          <p:cNvSpPr txBox="1"/>
          <p:nvPr/>
        </p:nvSpPr>
        <p:spPr>
          <a:xfrm>
            <a:off x="264160" y="3429000"/>
            <a:ext cx="11043920" cy="769441"/>
          </a:xfrm>
          <a:prstGeom prst="rect">
            <a:avLst/>
          </a:prstGeom>
          <a:noFill/>
        </p:spPr>
        <p:txBody>
          <a:bodyPr wrap="square">
            <a:spAutoFit/>
          </a:bodyPr>
          <a:lstStyle/>
          <a:p>
            <a:pPr marL="342900" indent="-342900">
              <a:buFont typeface="Wingdings" panose="05000000000000000000" pitchFamily="2" charset="2"/>
              <a:buChar char="q"/>
            </a:pPr>
            <a:r>
              <a:rPr lang="fr-FR" sz="2400" b="1" dirty="0" err="1">
                <a:solidFill>
                  <a:srgbClr val="080809"/>
                </a:solidFill>
              </a:rPr>
              <a:t>Faster</a:t>
            </a:r>
            <a:r>
              <a:rPr lang="fr-FR" sz="2400" b="1" dirty="0">
                <a:solidFill>
                  <a:srgbClr val="080809"/>
                </a:solidFill>
              </a:rPr>
              <a:t> R-CNN Quick </a:t>
            </a:r>
            <a:r>
              <a:rPr lang="fr-FR" sz="2400" b="1" dirty="0" err="1">
                <a:solidFill>
                  <a:srgbClr val="080809"/>
                </a:solidFill>
              </a:rPr>
              <a:t>Overview</a:t>
            </a:r>
            <a:r>
              <a:rPr lang="fr-FR" sz="2400" b="1" dirty="0">
                <a:solidFill>
                  <a:srgbClr val="080809"/>
                </a:solidFill>
              </a:rPr>
              <a:t> :  </a:t>
            </a:r>
            <a:r>
              <a:rPr lang="fr-FR" sz="2000" b="1" dirty="0">
                <a:solidFill>
                  <a:srgbClr val="080809"/>
                </a:solidFill>
              </a:rPr>
              <a:t>T</a:t>
            </a:r>
            <a:r>
              <a:rPr lang="fr-FR" sz="2000" dirty="0">
                <a:solidFill>
                  <a:srgbClr val="080809"/>
                </a:solidFill>
              </a:rPr>
              <a:t>he </a:t>
            </a:r>
            <a:r>
              <a:rPr lang="en-US" sz="2000" dirty="0"/>
              <a:t>proposals are then processed by the Fast R-CNN detector using </a:t>
            </a:r>
            <a:r>
              <a:rPr lang="en-US" sz="2000" dirty="0" err="1"/>
              <a:t>RoI</a:t>
            </a:r>
            <a:r>
              <a:rPr lang="en-US" sz="2000" dirty="0"/>
              <a:t> pooling, classification, and bounding box regression.</a:t>
            </a:r>
            <a:endParaRPr lang="fr-FR" sz="2400" b="1" dirty="0">
              <a:solidFill>
                <a:srgbClr val="080809"/>
              </a:solidFill>
            </a:endParaRPr>
          </a:p>
        </p:txBody>
      </p:sp>
      <p:grpSp>
        <p:nvGrpSpPr>
          <p:cNvPr id="18" name="Group 17">
            <a:extLst>
              <a:ext uri="{FF2B5EF4-FFF2-40B4-BE49-F238E27FC236}">
                <a16:creationId xmlns:a16="http://schemas.microsoft.com/office/drawing/2014/main" id="{5E2594F2-278E-6416-DD65-C902FB28D424}"/>
              </a:ext>
            </a:extLst>
          </p:cNvPr>
          <p:cNvGrpSpPr/>
          <p:nvPr/>
        </p:nvGrpSpPr>
        <p:grpSpPr>
          <a:xfrm>
            <a:off x="2006642" y="715427"/>
            <a:ext cx="7739106" cy="2489847"/>
            <a:chOff x="2006642" y="715427"/>
            <a:chExt cx="7739106" cy="2489847"/>
          </a:xfrm>
        </p:grpSpPr>
        <p:pic>
          <p:nvPicPr>
            <p:cNvPr id="8" name="Picture 7">
              <a:extLst>
                <a:ext uri="{FF2B5EF4-FFF2-40B4-BE49-F238E27FC236}">
                  <a16:creationId xmlns:a16="http://schemas.microsoft.com/office/drawing/2014/main" id="{3F08F147-F4B6-88F1-A1A2-73460B13FE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418" y="715427"/>
              <a:ext cx="7361555" cy="2086026"/>
            </a:xfrm>
            <a:prstGeom prst="rect">
              <a:avLst/>
            </a:prstGeom>
          </p:spPr>
        </p:pic>
        <p:sp>
          <p:nvSpPr>
            <p:cNvPr id="16" name="TextBox 15">
              <a:extLst>
                <a:ext uri="{FF2B5EF4-FFF2-40B4-BE49-F238E27FC236}">
                  <a16:creationId xmlns:a16="http://schemas.microsoft.com/office/drawing/2014/main" id="{9D2A707D-BAEE-8522-2969-D7C393805FF5}"/>
                </a:ext>
              </a:extLst>
            </p:cNvPr>
            <p:cNvSpPr txBox="1"/>
            <p:nvPr/>
          </p:nvSpPr>
          <p:spPr>
            <a:xfrm>
              <a:off x="2006642" y="2928275"/>
              <a:ext cx="7739106" cy="276999"/>
            </a:xfrm>
            <a:prstGeom prst="rect">
              <a:avLst/>
            </a:prstGeom>
            <a:noFill/>
          </p:spPr>
          <p:txBody>
            <a:bodyPr wrap="none" rtlCol="0">
              <a:spAutoFit/>
            </a:bodyPr>
            <a:lstStyle/>
            <a:p>
              <a:r>
                <a:rPr lang="en-US" sz="1200" b="1" dirty="0"/>
                <a:t>R-CNN architecture </a:t>
              </a:r>
              <a:r>
                <a:rPr lang="en-US" sz="1200" dirty="0"/>
                <a:t>: https://doimages.nyc3.cdn.digitaloceanspaces.com/010AI-ML/content/images/2020/09/Fig02-2.jpg</a:t>
              </a:r>
              <a:endParaRPr lang="fr-FR" sz="1200" dirty="0"/>
            </a:p>
          </p:txBody>
        </p:sp>
      </p:grpSp>
      <p:grpSp>
        <p:nvGrpSpPr>
          <p:cNvPr id="19" name="Group 18">
            <a:extLst>
              <a:ext uri="{FF2B5EF4-FFF2-40B4-BE49-F238E27FC236}">
                <a16:creationId xmlns:a16="http://schemas.microsoft.com/office/drawing/2014/main" id="{7D75EA60-C068-28D1-769D-CC51D777250A}"/>
              </a:ext>
            </a:extLst>
          </p:cNvPr>
          <p:cNvGrpSpPr/>
          <p:nvPr/>
        </p:nvGrpSpPr>
        <p:grpSpPr>
          <a:xfrm>
            <a:off x="1786839" y="4198441"/>
            <a:ext cx="8178714" cy="2595296"/>
            <a:chOff x="1786839" y="4198441"/>
            <a:chExt cx="8178714" cy="2595296"/>
          </a:xfrm>
        </p:grpSpPr>
        <p:pic>
          <p:nvPicPr>
            <p:cNvPr id="10" name="Picture 9">
              <a:extLst>
                <a:ext uri="{FF2B5EF4-FFF2-40B4-BE49-F238E27FC236}">
                  <a16:creationId xmlns:a16="http://schemas.microsoft.com/office/drawing/2014/main" id="{444E7D2D-988E-C281-73D0-19AD4F61A7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8121" y="4198441"/>
              <a:ext cx="6050279" cy="2296925"/>
            </a:xfrm>
            <a:prstGeom prst="rect">
              <a:avLst/>
            </a:prstGeom>
          </p:spPr>
        </p:pic>
        <p:sp>
          <p:nvSpPr>
            <p:cNvPr id="17" name="TextBox 16">
              <a:extLst>
                <a:ext uri="{FF2B5EF4-FFF2-40B4-BE49-F238E27FC236}">
                  <a16:creationId xmlns:a16="http://schemas.microsoft.com/office/drawing/2014/main" id="{EABB5136-0595-F2DA-FBA1-463FFA61921F}"/>
                </a:ext>
              </a:extLst>
            </p:cNvPr>
            <p:cNvSpPr txBox="1"/>
            <p:nvPr/>
          </p:nvSpPr>
          <p:spPr>
            <a:xfrm>
              <a:off x="1786839" y="6516738"/>
              <a:ext cx="8178714" cy="276999"/>
            </a:xfrm>
            <a:prstGeom prst="rect">
              <a:avLst/>
            </a:prstGeom>
            <a:noFill/>
          </p:spPr>
          <p:txBody>
            <a:bodyPr wrap="none" rtlCol="0">
              <a:spAutoFit/>
            </a:bodyPr>
            <a:lstStyle/>
            <a:p>
              <a:r>
                <a:rPr lang="en-US" sz="1200" b="1" dirty="0"/>
                <a:t>Faster R-CNN architecture </a:t>
              </a:r>
              <a:r>
                <a:rPr lang="en-US" sz="1200" dirty="0"/>
                <a:t>: https://doimages.nyc3.cdn.digitaloceanspaces.com/010AI-ML/content/images/2020/09/Fig03-1.jpg</a:t>
              </a:r>
              <a:endParaRPr lang="fr-FR" sz="1200" dirty="0"/>
            </a:p>
          </p:txBody>
        </p:sp>
      </p:grpSp>
      <p:sp>
        <p:nvSpPr>
          <p:cNvPr id="20" name="TextBox 19">
            <a:extLst>
              <a:ext uri="{FF2B5EF4-FFF2-40B4-BE49-F238E27FC236}">
                <a16:creationId xmlns:a16="http://schemas.microsoft.com/office/drawing/2014/main" id="{88C2A627-8039-AA46-0674-63B6D487B15F}"/>
              </a:ext>
            </a:extLst>
          </p:cNvPr>
          <p:cNvSpPr txBox="1"/>
          <p:nvPr/>
        </p:nvSpPr>
        <p:spPr>
          <a:xfrm>
            <a:off x="9996582" y="393296"/>
            <a:ext cx="2214056" cy="954107"/>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en-US" dirty="0"/>
              <a:t>Faster R-CNN</a:t>
            </a:r>
          </a:p>
          <a:p>
            <a:r>
              <a:rPr lang="en-US" dirty="0"/>
              <a:t>workflow</a:t>
            </a:r>
            <a:endParaRPr lang="fr-FR" dirty="0"/>
          </a:p>
        </p:txBody>
      </p:sp>
      <p:grpSp>
        <p:nvGrpSpPr>
          <p:cNvPr id="21" name="Group 20">
            <a:extLst>
              <a:ext uri="{FF2B5EF4-FFF2-40B4-BE49-F238E27FC236}">
                <a16:creationId xmlns:a16="http://schemas.microsoft.com/office/drawing/2014/main" id="{AA45AA76-E03C-6CE0-636B-57676EF1FB7D}"/>
              </a:ext>
            </a:extLst>
          </p:cNvPr>
          <p:cNvGrpSpPr/>
          <p:nvPr/>
        </p:nvGrpSpPr>
        <p:grpSpPr>
          <a:xfrm>
            <a:off x="9766344" y="0"/>
            <a:ext cx="2425656" cy="432651"/>
            <a:chOff x="8758971" y="310479"/>
            <a:chExt cx="2538533" cy="346380"/>
          </a:xfrm>
        </p:grpSpPr>
        <p:grpSp>
          <p:nvGrpSpPr>
            <p:cNvPr id="22" name="Group 21">
              <a:extLst>
                <a:ext uri="{FF2B5EF4-FFF2-40B4-BE49-F238E27FC236}">
                  <a16:creationId xmlns:a16="http://schemas.microsoft.com/office/drawing/2014/main" id="{68695CE6-509A-379E-37BB-097AF361A0AF}"/>
                </a:ext>
              </a:extLst>
            </p:cNvPr>
            <p:cNvGrpSpPr/>
            <p:nvPr/>
          </p:nvGrpSpPr>
          <p:grpSpPr>
            <a:xfrm>
              <a:off x="8758971" y="310479"/>
              <a:ext cx="2538533" cy="346380"/>
              <a:chOff x="8758971" y="310479"/>
              <a:chExt cx="2538533" cy="346380"/>
            </a:xfrm>
          </p:grpSpPr>
          <p:sp>
            <p:nvSpPr>
              <p:cNvPr id="24" name="Rectangle 23">
                <a:extLst>
                  <a:ext uri="{FF2B5EF4-FFF2-40B4-BE49-F238E27FC236}">
                    <a16:creationId xmlns:a16="http://schemas.microsoft.com/office/drawing/2014/main" id="{AC9826B6-CB46-3C47-5F98-D4D3424823E5}"/>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Parallelogram 24">
                <a:extLst>
                  <a:ext uri="{FF2B5EF4-FFF2-40B4-BE49-F238E27FC236}">
                    <a16:creationId xmlns:a16="http://schemas.microsoft.com/office/drawing/2014/main" id="{7FB74329-F622-F9C4-0785-A00AA3E9B6D7}"/>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23" name="TextBox 22">
              <a:extLst>
                <a:ext uri="{FF2B5EF4-FFF2-40B4-BE49-F238E27FC236}">
                  <a16:creationId xmlns:a16="http://schemas.microsoft.com/office/drawing/2014/main" id="{76A5E4BE-A05B-BF18-D2CD-26FEB150ECA6}"/>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FROMS RECOGNITION</a:t>
              </a:r>
              <a:endParaRPr lang="fr-FR" sz="1700" dirty="0">
                <a:effectLst/>
              </a:endParaRPr>
            </a:p>
          </p:txBody>
        </p:sp>
      </p:grpSp>
    </p:spTree>
    <p:extLst>
      <p:ext uri="{BB962C8B-B14F-4D97-AF65-F5344CB8AC3E}">
        <p14:creationId xmlns:p14="http://schemas.microsoft.com/office/powerpoint/2010/main" val="241092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4822F4-0A9F-C0C0-CA4B-703889D2F82B}"/>
              </a:ext>
            </a:extLst>
          </p:cNvPr>
          <p:cNvSpPr txBox="1"/>
          <p:nvPr/>
        </p:nvSpPr>
        <p:spPr>
          <a:xfrm>
            <a:off x="3611880" y="276361"/>
            <a:ext cx="4968240" cy="523220"/>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fr-FR" dirty="0"/>
              <a:t>YOLO vs </a:t>
            </a:r>
            <a:r>
              <a:rPr lang="fr-FR" dirty="0" err="1"/>
              <a:t>Faster</a:t>
            </a:r>
            <a:r>
              <a:rPr lang="fr-FR" dirty="0"/>
              <a:t> R-CNN </a:t>
            </a:r>
            <a:r>
              <a:rPr lang="fr-FR" dirty="0" err="1"/>
              <a:t>results</a:t>
            </a:r>
            <a:endParaRPr lang="fr-FR" dirty="0"/>
          </a:p>
        </p:txBody>
      </p:sp>
      <p:pic>
        <p:nvPicPr>
          <p:cNvPr id="4" name="Image 3">
            <a:extLst>
              <a:ext uri="{FF2B5EF4-FFF2-40B4-BE49-F238E27FC236}">
                <a16:creationId xmlns:a16="http://schemas.microsoft.com/office/drawing/2014/main" id="{5296682A-9FED-F20F-F882-26ACC3677135}"/>
              </a:ext>
            </a:extLst>
          </p:cNvPr>
          <p:cNvPicPr>
            <a:picLocks noChangeAspect="1"/>
          </p:cNvPicPr>
          <p:nvPr/>
        </p:nvPicPr>
        <p:blipFill>
          <a:blip r:embed="rId2"/>
          <a:stretch>
            <a:fillRect/>
          </a:stretch>
        </p:blipFill>
        <p:spPr>
          <a:xfrm>
            <a:off x="754181" y="880861"/>
            <a:ext cx="10683637" cy="5475571"/>
          </a:xfrm>
          <a:prstGeom prst="rect">
            <a:avLst/>
          </a:prstGeom>
        </p:spPr>
      </p:pic>
      <p:grpSp>
        <p:nvGrpSpPr>
          <p:cNvPr id="5" name="Group 4">
            <a:extLst>
              <a:ext uri="{FF2B5EF4-FFF2-40B4-BE49-F238E27FC236}">
                <a16:creationId xmlns:a16="http://schemas.microsoft.com/office/drawing/2014/main" id="{D74CE8E7-8D58-10AF-6AB8-3D94D7F1D44C}"/>
              </a:ext>
            </a:extLst>
          </p:cNvPr>
          <p:cNvGrpSpPr/>
          <p:nvPr/>
        </p:nvGrpSpPr>
        <p:grpSpPr>
          <a:xfrm>
            <a:off x="9540240" y="1"/>
            <a:ext cx="2651760" cy="660399"/>
            <a:chOff x="8758971" y="310479"/>
            <a:chExt cx="2538533" cy="524318"/>
          </a:xfrm>
        </p:grpSpPr>
        <p:grpSp>
          <p:nvGrpSpPr>
            <p:cNvPr id="6" name="Group 5">
              <a:extLst>
                <a:ext uri="{FF2B5EF4-FFF2-40B4-BE49-F238E27FC236}">
                  <a16:creationId xmlns:a16="http://schemas.microsoft.com/office/drawing/2014/main" id="{34559896-3136-7D52-A4D1-10A97ED9B301}"/>
                </a:ext>
              </a:extLst>
            </p:cNvPr>
            <p:cNvGrpSpPr/>
            <p:nvPr/>
          </p:nvGrpSpPr>
          <p:grpSpPr>
            <a:xfrm>
              <a:off x="8758971" y="310479"/>
              <a:ext cx="2538533" cy="346380"/>
              <a:chOff x="8758971" y="310479"/>
              <a:chExt cx="2538533" cy="346380"/>
            </a:xfrm>
          </p:grpSpPr>
          <p:sp>
            <p:nvSpPr>
              <p:cNvPr id="8" name="Rectangle 7">
                <a:extLst>
                  <a:ext uri="{FF2B5EF4-FFF2-40B4-BE49-F238E27FC236}">
                    <a16:creationId xmlns:a16="http://schemas.microsoft.com/office/drawing/2014/main" id="{CF96DB5C-2213-FCAD-4DA1-58FE7A413892}"/>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Parallelogram 8">
                <a:extLst>
                  <a:ext uri="{FF2B5EF4-FFF2-40B4-BE49-F238E27FC236}">
                    <a16:creationId xmlns:a16="http://schemas.microsoft.com/office/drawing/2014/main" id="{259DB66B-7C46-5B44-12D9-86619889964C}"/>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7" name="TextBox 6">
              <a:extLst>
                <a:ext uri="{FF2B5EF4-FFF2-40B4-BE49-F238E27FC236}">
                  <a16:creationId xmlns:a16="http://schemas.microsoft.com/office/drawing/2014/main" id="{36AE8D30-70B3-9C07-2ECD-77791143A069}"/>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1556312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38AE91-96C0-2DAE-BD49-F6432E1EBBBF}"/>
              </a:ext>
            </a:extLst>
          </p:cNvPr>
          <p:cNvSpPr txBox="1"/>
          <p:nvPr/>
        </p:nvSpPr>
        <p:spPr>
          <a:xfrm>
            <a:off x="495746" y="230736"/>
            <a:ext cx="1617534" cy="523220"/>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en-US" dirty="0"/>
              <a:t>DATASET</a:t>
            </a:r>
          </a:p>
        </p:txBody>
      </p:sp>
      <p:grpSp>
        <p:nvGrpSpPr>
          <p:cNvPr id="7" name="Group 6">
            <a:extLst>
              <a:ext uri="{FF2B5EF4-FFF2-40B4-BE49-F238E27FC236}">
                <a16:creationId xmlns:a16="http://schemas.microsoft.com/office/drawing/2014/main" id="{45B9FF81-400A-94BF-5245-66D9498A3672}"/>
              </a:ext>
            </a:extLst>
          </p:cNvPr>
          <p:cNvGrpSpPr/>
          <p:nvPr/>
        </p:nvGrpSpPr>
        <p:grpSpPr>
          <a:xfrm>
            <a:off x="9540240" y="1"/>
            <a:ext cx="2651760" cy="634980"/>
            <a:chOff x="8758971" y="310479"/>
            <a:chExt cx="2538533" cy="524318"/>
          </a:xfrm>
        </p:grpSpPr>
        <p:grpSp>
          <p:nvGrpSpPr>
            <p:cNvPr id="8" name="Group 7">
              <a:extLst>
                <a:ext uri="{FF2B5EF4-FFF2-40B4-BE49-F238E27FC236}">
                  <a16:creationId xmlns:a16="http://schemas.microsoft.com/office/drawing/2014/main" id="{0242011D-370D-3AF7-AE6D-FEE2361872D7}"/>
                </a:ext>
              </a:extLst>
            </p:cNvPr>
            <p:cNvGrpSpPr/>
            <p:nvPr/>
          </p:nvGrpSpPr>
          <p:grpSpPr>
            <a:xfrm>
              <a:off x="8758971" y="310479"/>
              <a:ext cx="2538533" cy="346380"/>
              <a:chOff x="8758971" y="310479"/>
              <a:chExt cx="2538533" cy="346380"/>
            </a:xfrm>
          </p:grpSpPr>
          <p:sp>
            <p:nvSpPr>
              <p:cNvPr id="10" name="Rectangle 9">
                <a:extLst>
                  <a:ext uri="{FF2B5EF4-FFF2-40B4-BE49-F238E27FC236}">
                    <a16:creationId xmlns:a16="http://schemas.microsoft.com/office/drawing/2014/main" id="{E37AE944-308D-AA1B-130B-9ABEAFE81DD5}"/>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Parallelogram 10">
                <a:extLst>
                  <a:ext uri="{FF2B5EF4-FFF2-40B4-BE49-F238E27FC236}">
                    <a16:creationId xmlns:a16="http://schemas.microsoft.com/office/drawing/2014/main" id="{4EA0EB5C-F0A4-7E05-AC46-2F1F1555E464}"/>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9" name="TextBox 8">
              <a:extLst>
                <a:ext uri="{FF2B5EF4-FFF2-40B4-BE49-F238E27FC236}">
                  <a16:creationId xmlns:a16="http://schemas.microsoft.com/office/drawing/2014/main" id="{3A4FE7E7-41AA-9C78-509A-5F6BDD5F8169}"/>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pic>
        <p:nvPicPr>
          <p:cNvPr id="5" name="Image 100">
            <a:extLst>
              <a:ext uri="{FF2B5EF4-FFF2-40B4-BE49-F238E27FC236}">
                <a16:creationId xmlns:a16="http://schemas.microsoft.com/office/drawing/2014/main" id="{18AF5ABF-AA73-BB1B-C8E1-CF50D8F20FF3}"/>
              </a:ext>
            </a:extLst>
          </p:cNvPr>
          <p:cNvPicPr>
            <a:picLocks/>
          </p:cNvPicPr>
          <p:nvPr/>
        </p:nvPicPr>
        <p:blipFill>
          <a:blip r:embed="rId2" cstate="print"/>
          <a:stretch>
            <a:fillRect/>
          </a:stretch>
        </p:blipFill>
        <p:spPr>
          <a:xfrm>
            <a:off x="6268639" y="839518"/>
            <a:ext cx="5874444" cy="2127202"/>
          </a:xfrm>
          <a:prstGeom prst="rect">
            <a:avLst/>
          </a:prstGeom>
          <a:ln w="19050">
            <a:solidFill>
              <a:srgbClr val="1CA6DB"/>
            </a:solidFill>
          </a:ln>
        </p:spPr>
      </p:pic>
      <p:pic>
        <p:nvPicPr>
          <p:cNvPr id="6" name="Image 101">
            <a:extLst>
              <a:ext uri="{FF2B5EF4-FFF2-40B4-BE49-F238E27FC236}">
                <a16:creationId xmlns:a16="http://schemas.microsoft.com/office/drawing/2014/main" id="{3975A2C0-4B02-F0C4-C137-C6753071D921}"/>
              </a:ext>
            </a:extLst>
          </p:cNvPr>
          <p:cNvPicPr>
            <a:picLocks/>
          </p:cNvPicPr>
          <p:nvPr/>
        </p:nvPicPr>
        <p:blipFill>
          <a:blip r:embed="rId3" cstate="print"/>
          <a:stretch>
            <a:fillRect/>
          </a:stretch>
        </p:blipFill>
        <p:spPr>
          <a:xfrm>
            <a:off x="18009" y="839518"/>
            <a:ext cx="5874443" cy="2127202"/>
          </a:xfrm>
          <a:prstGeom prst="rect">
            <a:avLst/>
          </a:prstGeom>
          <a:ln w="19050">
            <a:solidFill>
              <a:srgbClr val="1CA6DB"/>
            </a:solidFill>
          </a:ln>
        </p:spPr>
      </p:pic>
      <p:pic>
        <p:nvPicPr>
          <p:cNvPr id="12" name="Image 102">
            <a:extLst>
              <a:ext uri="{FF2B5EF4-FFF2-40B4-BE49-F238E27FC236}">
                <a16:creationId xmlns:a16="http://schemas.microsoft.com/office/drawing/2014/main" id="{B85ACE58-31D3-E9FB-C4E6-C1476BEE4EE6}"/>
              </a:ext>
            </a:extLst>
          </p:cNvPr>
          <p:cNvPicPr>
            <a:picLocks/>
          </p:cNvPicPr>
          <p:nvPr/>
        </p:nvPicPr>
        <p:blipFill>
          <a:blip r:embed="rId4" cstate="print"/>
          <a:stretch>
            <a:fillRect/>
          </a:stretch>
        </p:blipFill>
        <p:spPr>
          <a:xfrm>
            <a:off x="1879076" y="3855987"/>
            <a:ext cx="8433847" cy="2963855"/>
          </a:xfrm>
          <a:prstGeom prst="rect">
            <a:avLst/>
          </a:prstGeom>
          <a:ln w="19050">
            <a:solidFill>
              <a:srgbClr val="1CA6DB"/>
            </a:solidFill>
          </a:ln>
        </p:spPr>
      </p:pic>
      <p:pic>
        <p:nvPicPr>
          <p:cNvPr id="14" name="Picture 13">
            <a:extLst>
              <a:ext uri="{FF2B5EF4-FFF2-40B4-BE49-F238E27FC236}">
                <a16:creationId xmlns:a16="http://schemas.microsoft.com/office/drawing/2014/main" id="{FBED905F-2FEE-0B34-B9B1-8D2A49E39F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34091" y="2324840"/>
            <a:ext cx="2123818" cy="2123818"/>
          </a:xfrm>
          <a:prstGeom prst="rect">
            <a:avLst/>
          </a:prstGeom>
          <a:effectLst>
            <a:glow rad="101600">
              <a:schemeClr val="accent5">
                <a:satMod val="175000"/>
                <a:alpha val="40000"/>
              </a:schemeClr>
            </a:glow>
          </a:effectLst>
        </p:spPr>
      </p:pic>
    </p:spTree>
    <p:extLst>
      <p:ext uri="{BB962C8B-B14F-4D97-AF65-F5344CB8AC3E}">
        <p14:creationId xmlns:p14="http://schemas.microsoft.com/office/powerpoint/2010/main" val="2981550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D5236-5EDD-9A43-A73E-3B3ADB2D904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6B3B1AB-A798-C5DE-9412-326540132C93}"/>
              </a:ext>
            </a:extLst>
          </p:cNvPr>
          <p:cNvSpPr txBox="1"/>
          <p:nvPr/>
        </p:nvSpPr>
        <p:spPr>
          <a:xfrm>
            <a:off x="1762760" y="581160"/>
            <a:ext cx="2418080" cy="392159"/>
          </a:xfrm>
          <a:prstGeom prst="rect">
            <a:avLst/>
          </a:prstGeom>
          <a:noFill/>
        </p:spPr>
        <p:txBody>
          <a:bodyPr wrap="square">
            <a:spAutoFit/>
          </a:bodyPr>
          <a:lstStyle/>
          <a:p>
            <a:pPr marL="0" marR="0">
              <a:lnSpc>
                <a:spcPct val="115000"/>
              </a:lnSpc>
              <a:spcAft>
                <a:spcPts val="1000"/>
              </a:spcAft>
            </a:pPr>
            <a:r>
              <a:rPr lang="en-US" sz="1800" b="1" dirty="0">
                <a:effectLst/>
                <a:latin typeface="Calibri" panose="020F0502020204030204" pitchFamily="34" charset="0"/>
                <a:ea typeface="Calibri" panose="020F0502020204030204" pitchFamily="34" charset="0"/>
                <a:cs typeface="Arial" panose="020B0604020202020204" pitchFamily="34" charset="0"/>
              </a:rPr>
              <a:t>Comparison of Speed:</a:t>
            </a:r>
            <a:endParaRPr lang="fr-FR" sz="1400" b="1"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4864D555-0ABE-6536-9E4A-4812CD3A9524}"/>
              </a:ext>
            </a:extLst>
          </p:cNvPr>
          <p:cNvGraphicFramePr>
            <a:graphicFrameLocks noGrp="1"/>
          </p:cNvGraphicFramePr>
          <p:nvPr>
            <p:extLst>
              <p:ext uri="{D42A27DB-BD31-4B8C-83A1-F6EECF244321}">
                <p14:modId xmlns:p14="http://schemas.microsoft.com/office/powerpoint/2010/main" val="2536737102"/>
              </p:ext>
            </p:extLst>
          </p:nvPr>
        </p:nvGraphicFramePr>
        <p:xfrm>
          <a:off x="411480" y="1371820"/>
          <a:ext cx="4831080" cy="2679189"/>
        </p:xfrm>
        <a:graphic>
          <a:graphicData uri="http://schemas.openxmlformats.org/drawingml/2006/table">
            <a:tbl>
              <a:tblPr firstRow="1" firstCol="1" bandRow="1">
                <a:tableStyleId>{5C22544A-7EE6-4342-B048-85BDC9FD1C3A}</a:tableStyleId>
              </a:tblPr>
              <a:tblGrid>
                <a:gridCol w="1610360">
                  <a:extLst>
                    <a:ext uri="{9D8B030D-6E8A-4147-A177-3AD203B41FA5}">
                      <a16:colId xmlns:a16="http://schemas.microsoft.com/office/drawing/2014/main" val="386196320"/>
                    </a:ext>
                  </a:extLst>
                </a:gridCol>
                <a:gridCol w="1610360">
                  <a:extLst>
                    <a:ext uri="{9D8B030D-6E8A-4147-A177-3AD203B41FA5}">
                      <a16:colId xmlns:a16="http://schemas.microsoft.com/office/drawing/2014/main" val="3061921757"/>
                    </a:ext>
                  </a:extLst>
                </a:gridCol>
                <a:gridCol w="1610360">
                  <a:extLst>
                    <a:ext uri="{9D8B030D-6E8A-4147-A177-3AD203B41FA5}">
                      <a16:colId xmlns:a16="http://schemas.microsoft.com/office/drawing/2014/main" val="3800014012"/>
                    </a:ext>
                  </a:extLst>
                </a:gridCol>
              </a:tblGrid>
              <a:tr h="298581">
                <a:tc>
                  <a:txBody>
                    <a:bodyPr/>
                    <a:lstStyle/>
                    <a:p>
                      <a:pPr marL="0" marR="0" algn="ctr">
                        <a:lnSpc>
                          <a:spcPct val="115000"/>
                        </a:lnSpc>
                        <a:spcAft>
                          <a:spcPts val="1000"/>
                        </a:spcAft>
                        <a:buNone/>
                      </a:pPr>
                      <a:r>
                        <a:rPr lang="fr-FR" sz="1600">
                          <a:effectLst/>
                        </a:rPr>
                        <a:t>Criterion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YOLOv11</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Faster R-CNN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341927444"/>
                  </a:ext>
                </a:extLst>
              </a:tr>
              <a:tr h="594482">
                <a:tc>
                  <a:txBody>
                    <a:bodyPr/>
                    <a:lstStyle/>
                    <a:p>
                      <a:pPr marL="0" marR="0" algn="ctr">
                        <a:lnSpc>
                          <a:spcPct val="115000"/>
                        </a:lnSpc>
                        <a:spcAft>
                          <a:spcPts val="1000"/>
                        </a:spcAft>
                        <a:buNone/>
                      </a:pPr>
                      <a:r>
                        <a:rPr lang="fr-FR" sz="1600" dirty="0" err="1">
                          <a:effectLst/>
                        </a:rPr>
                        <a:t>Preprocessing</a:t>
                      </a:r>
                      <a:r>
                        <a:rPr lang="fr-FR" sz="1600" dirty="0">
                          <a:effectLst/>
                        </a:rPr>
                        <a:t> Time</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5.4 ms</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39.41 ms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216094449"/>
                  </a:ext>
                </a:extLst>
              </a:tr>
              <a:tr h="298581">
                <a:tc>
                  <a:txBody>
                    <a:bodyPr/>
                    <a:lstStyle/>
                    <a:p>
                      <a:pPr marL="0" marR="0" algn="ctr">
                        <a:lnSpc>
                          <a:spcPct val="115000"/>
                        </a:lnSpc>
                        <a:spcAft>
                          <a:spcPts val="1000"/>
                        </a:spcAft>
                        <a:buNone/>
                      </a:pPr>
                      <a:r>
                        <a:rPr lang="fr-FR" sz="1600" dirty="0" err="1">
                          <a:effectLst/>
                        </a:rPr>
                        <a:t>Inference</a:t>
                      </a:r>
                      <a:r>
                        <a:rPr lang="fr-FR" sz="1600" dirty="0">
                          <a:effectLst/>
                        </a:rPr>
                        <a:t> Time</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347.8 ms</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1513.32 ms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565849058"/>
                  </a:ext>
                </a:extLst>
              </a:tr>
              <a:tr h="594482">
                <a:tc>
                  <a:txBody>
                    <a:bodyPr/>
                    <a:lstStyle/>
                    <a:p>
                      <a:pPr marL="0" marR="0" algn="ctr">
                        <a:lnSpc>
                          <a:spcPct val="115000"/>
                        </a:lnSpc>
                        <a:spcAft>
                          <a:spcPts val="1000"/>
                        </a:spcAft>
                        <a:buNone/>
                      </a:pPr>
                      <a:r>
                        <a:rPr lang="fr-FR" sz="1600" dirty="0">
                          <a:effectLst/>
                        </a:rPr>
                        <a:t>Post-</a:t>
                      </a:r>
                      <a:r>
                        <a:rPr lang="fr-FR" sz="1600" dirty="0" err="1">
                          <a:effectLst/>
                        </a:rPr>
                        <a:t>processing</a:t>
                      </a:r>
                      <a:r>
                        <a:rPr lang="fr-FR" sz="1600" dirty="0">
                          <a:effectLst/>
                        </a:rPr>
                        <a:t> Time</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2.1 ms</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0.98 ms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814186601"/>
                  </a:ext>
                </a:extLst>
              </a:tr>
              <a:tr h="594482">
                <a:tc>
                  <a:txBody>
                    <a:bodyPr/>
                    <a:lstStyle/>
                    <a:p>
                      <a:pPr marL="0" marR="0" algn="ctr">
                        <a:lnSpc>
                          <a:spcPct val="115000"/>
                        </a:lnSpc>
                        <a:spcAft>
                          <a:spcPts val="1000"/>
                        </a:spcAft>
                        <a:buNone/>
                      </a:pPr>
                      <a:r>
                        <a:rPr lang="fr-FR" sz="1600" dirty="0">
                          <a:effectLst/>
                        </a:rPr>
                        <a:t>Total </a:t>
                      </a:r>
                      <a:r>
                        <a:rPr lang="fr-FR" sz="1600" dirty="0" err="1">
                          <a:effectLst/>
                        </a:rPr>
                        <a:t>Detection</a:t>
                      </a:r>
                      <a:r>
                        <a:rPr lang="fr-FR" sz="1600" dirty="0">
                          <a:effectLst/>
                        </a:rPr>
                        <a:t> Time</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~355.3 ms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~1554 ms</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280515173"/>
                  </a:ext>
                </a:extLst>
              </a:tr>
              <a:tr h="298581">
                <a:tc>
                  <a:txBody>
                    <a:bodyPr/>
                    <a:lstStyle/>
                    <a:p>
                      <a:pPr marL="0" marR="0" algn="ctr">
                        <a:lnSpc>
                          <a:spcPct val="115000"/>
                        </a:lnSpc>
                        <a:spcAft>
                          <a:spcPts val="1000"/>
                        </a:spcAft>
                        <a:buNone/>
                      </a:pPr>
                      <a:r>
                        <a:rPr lang="fr-FR" sz="1600" dirty="0" err="1">
                          <a:effectLst/>
                        </a:rPr>
                        <a:t>Overall</a:t>
                      </a:r>
                      <a:r>
                        <a:rPr lang="fr-FR" sz="1600" dirty="0">
                          <a:effectLst/>
                        </a:rPr>
                        <a:t> Speed</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Faster</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err="1">
                          <a:effectLst/>
                        </a:rPr>
                        <a:t>Slower</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03268512"/>
                  </a:ext>
                </a:extLst>
              </a:tr>
            </a:tbl>
          </a:graphicData>
        </a:graphic>
      </p:graphicFrame>
      <p:sp>
        <p:nvSpPr>
          <p:cNvPr id="10" name="TextBox 9">
            <a:extLst>
              <a:ext uri="{FF2B5EF4-FFF2-40B4-BE49-F238E27FC236}">
                <a16:creationId xmlns:a16="http://schemas.microsoft.com/office/drawing/2014/main" id="{4971067B-0976-474E-4464-276A0473376C}"/>
              </a:ext>
            </a:extLst>
          </p:cNvPr>
          <p:cNvSpPr txBox="1"/>
          <p:nvPr/>
        </p:nvSpPr>
        <p:spPr>
          <a:xfrm>
            <a:off x="335280" y="4270101"/>
            <a:ext cx="5273040" cy="779444"/>
          </a:xfrm>
          <a:prstGeom prst="rect">
            <a:avLst/>
          </a:prstGeom>
          <a:noFill/>
        </p:spPr>
        <p:txBody>
          <a:bodyPr wrap="square">
            <a:spAutoFit/>
          </a:bodyPr>
          <a:lstStyle/>
          <a:p>
            <a:pPr marL="0" marR="0" algn="ctr">
              <a:lnSpc>
                <a:spcPct val="115000"/>
              </a:lnSpc>
              <a:spcAft>
                <a:spcPts val="1000"/>
              </a:spcAft>
            </a:pPr>
            <a:r>
              <a:rPr lang="en-US" sz="2000" dirty="0"/>
              <a:t>YOLOv11 is approximately 4 times faster than Faster R-CNN</a:t>
            </a:r>
            <a:endParaRPr lang="fr-FR" sz="2000" dirty="0"/>
          </a:p>
        </p:txBody>
      </p:sp>
      <p:sp>
        <p:nvSpPr>
          <p:cNvPr id="12" name="TextBox 11">
            <a:extLst>
              <a:ext uri="{FF2B5EF4-FFF2-40B4-BE49-F238E27FC236}">
                <a16:creationId xmlns:a16="http://schemas.microsoft.com/office/drawing/2014/main" id="{0CDF3E2C-E45F-6454-9B11-C36FDB756A52}"/>
              </a:ext>
            </a:extLst>
          </p:cNvPr>
          <p:cNvSpPr txBox="1"/>
          <p:nvPr/>
        </p:nvSpPr>
        <p:spPr>
          <a:xfrm>
            <a:off x="7670800" y="581161"/>
            <a:ext cx="2733040" cy="392159"/>
          </a:xfrm>
          <a:prstGeom prst="rect">
            <a:avLst/>
          </a:prstGeom>
          <a:noFill/>
        </p:spPr>
        <p:txBody>
          <a:bodyPr wrap="square">
            <a:spAutoFit/>
          </a:bodyPr>
          <a:lstStyle>
            <a:defPPr>
              <a:defRPr lang="fr-FR"/>
            </a:defPPr>
            <a:lvl1pPr marR="0">
              <a:lnSpc>
                <a:spcPct val="115000"/>
              </a:lnSpc>
              <a:spcAft>
                <a:spcPts val="1000"/>
              </a:spcAft>
              <a:defRPr b="1">
                <a:effectLst/>
                <a:latin typeface="Calibri" panose="020F0502020204030204" pitchFamily="34" charset="0"/>
                <a:ea typeface="Calibri" panose="020F0502020204030204" pitchFamily="34" charset="0"/>
                <a:cs typeface="Arial" panose="020B0604020202020204" pitchFamily="34" charset="0"/>
              </a:defRPr>
            </a:lvl1pPr>
          </a:lstStyle>
          <a:p>
            <a:r>
              <a:rPr lang="en-US" dirty="0"/>
              <a:t>Performance Comparison:</a:t>
            </a:r>
            <a:endParaRPr lang="fr-FR" dirty="0"/>
          </a:p>
        </p:txBody>
      </p:sp>
      <p:graphicFrame>
        <p:nvGraphicFramePr>
          <p:cNvPr id="13" name="Table 12">
            <a:extLst>
              <a:ext uri="{FF2B5EF4-FFF2-40B4-BE49-F238E27FC236}">
                <a16:creationId xmlns:a16="http://schemas.microsoft.com/office/drawing/2014/main" id="{1EB8F4DB-240B-01E8-6240-C3DF92D947C2}"/>
              </a:ext>
            </a:extLst>
          </p:cNvPr>
          <p:cNvGraphicFramePr>
            <a:graphicFrameLocks noGrp="1"/>
          </p:cNvGraphicFramePr>
          <p:nvPr>
            <p:extLst>
              <p:ext uri="{D42A27DB-BD31-4B8C-83A1-F6EECF244321}">
                <p14:modId xmlns:p14="http://schemas.microsoft.com/office/powerpoint/2010/main" val="2627201008"/>
              </p:ext>
            </p:extLst>
          </p:nvPr>
        </p:nvGraphicFramePr>
        <p:xfrm>
          <a:off x="6621780" y="1371820"/>
          <a:ext cx="4831080" cy="2679192"/>
        </p:xfrm>
        <a:graphic>
          <a:graphicData uri="http://schemas.openxmlformats.org/drawingml/2006/table">
            <a:tbl>
              <a:tblPr firstRow="1" firstCol="1" bandRow="1">
                <a:tableStyleId>{5C22544A-7EE6-4342-B048-85BDC9FD1C3A}</a:tableStyleId>
              </a:tblPr>
              <a:tblGrid>
                <a:gridCol w="1610360">
                  <a:extLst>
                    <a:ext uri="{9D8B030D-6E8A-4147-A177-3AD203B41FA5}">
                      <a16:colId xmlns:a16="http://schemas.microsoft.com/office/drawing/2014/main" val="1832525226"/>
                    </a:ext>
                  </a:extLst>
                </a:gridCol>
                <a:gridCol w="1610360">
                  <a:extLst>
                    <a:ext uri="{9D8B030D-6E8A-4147-A177-3AD203B41FA5}">
                      <a16:colId xmlns:a16="http://schemas.microsoft.com/office/drawing/2014/main" val="248196620"/>
                    </a:ext>
                  </a:extLst>
                </a:gridCol>
                <a:gridCol w="1610360">
                  <a:extLst>
                    <a:ext uri="{9D8B030D-6E8A-4147-A177-3AD203B41FA5}">
                      <a16:colId xmlns:a16="http://schemas.microsoft.com/office/drawing/2014/main" val="2826432676"/>
                    </a:ext>
                  </a:extLst>
                </a:gridCol>
              </a:tblGrid>
              <a:tr h="423164">
                <a:tc>
                  <a:txBody>
                    <a:bodyPr/>
                    <a:lstStyle/>
                    <a:p>
                      <a:pPr marL="0" marR="0" algn="ctr">
                        <a:lnSpc>
                          <a:spcPct val="115000"/>
                        </a:lnSpc>
                        <a:spcAft>
                          <a:spcPts val="1000"/>
                        </a:spcAft>
                        <a:buNone/>
                      </a:pPr>
                      <a:r>
                        <a:rPr lang="fr-FR" sz="1600" dirty="0" err="1">
                          <a:effectLst/>
                        </a:rPr>
                        <a:t>Criterion</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YOLOv11</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Faster R-CNN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323354502"/>
                  </a:ext>
                </a:extLst>
              </a:tr>
              <a:tr h="423164">
                <a:tc>
                  <a:txBody>
                    <a:bodyPr/>
                    <a:lstStyle/>
                    <a:p>
                      <a:pPr marL="0" marR="0" algn="ctr">
                        <a:lnSpc>
                          <a:spcPct val="115000"/>
                        </a:lnSpc>
                        <a:spcAft>
                          <a:spcPts val="1000"/>
                        </a:spcAft>
                        <a:buNone/>
                      </a:pPr>
                      <a:r>
                        <a:rPr lang="fr-FR" sz="1600" dirty="0" err="1">
                          <a:effectLst/>
                        </a:rPr>
                        <a:t>Detected</a:t>
                      </a:r>
                      <a:r>
                        <a:rPr lang="fr-FR" sz="1600" dirty="0">
                          <a:effectLst/>
                        </a:rPr>
                        <a:t> Class</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Scorpion</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Scorpion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416278981"/>
                  </a:ext>
                </a:extLst>
              </a:tr>
              <a:tr h="423164">
                <a:tc>
                  <a:txBody>
                    <a:bodyPr/>
                    <a:lstStyle/>
                    <a:p>
                      <a:pPr marL="0" marR="0" algn="ctr">
                        <a:lnSpc>
                          <a:spcPct val="115000"/>
                        </a:lnSpc>
                        <a:spcAft>
                          <a:spcPts val="1000"/>
                        </a:spcAft>
                        <a:buNone/>
                      </a:pPr>
                      <a:r>
                        <a:rPr lang="fr-FR" sz="1600" dirty="0" err="1">
                          <a:effectLst/>
                        </a:rPr>
                        <a:t>Accuracy</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76.53%</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98%</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508367489"/>
                  </a:ext>
                </a:extLst>
              </a:tr>
              <a:tr h="423164">
                <a:tc>
                  <a:txBody>
                    <a:bodyPr/>
                    <a:lstStyle/>
                    <a:p>
                      <a:pPr marL="0" marR="0" algn="ctr">
                        <a:lnSpc>
                          <a:spcPct val="115000"/>
                        </a:lnSpc>
                        <a:spcAft>
                          <a:spcPts val="1000"/>
                        </a:spcAft>
                        <a:buNone/>
                      </a:pPr>
                      <a:r>
                        <a:rPr lang="fr-FR" sz="1600">
                          <a:effectLst/>
                        </a:rPr>
                        <a:t>F1 Score (Scorpion)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0.45 – 0.5</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1.0</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383359388"/>
                  </a:ext>
                </a:extLst>
              </a:tr>
              <a:tr h="423164">
                <a:tc>
                  <a:txBody>
                    <a:bodyPr/>
                    <a:lstStyle/>
                    <a:p>
                      <a:pPr marL="0" marR="0" algn="ctr">
                        <a:lnSpc>
                          <a:spcPct val="115000"/>
                        </a:lnSpc>
                        <a:spcAft>
                          <a:spcPts val="1000"/>
                        </a:spcAft>
                        <a:buNone/>
                      </a:pPr>
                      <a:r>
                        <a:rPr lang="fr-FR" sz="1600" dirty="0" err="1">
                          <a:effectLst/>
                        </a:rPr>
                        <a:t>Precision</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~1.0</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~1.0</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036767543"/>
                  </a:ext>
                </a:extLst>
              </a:tr>
              <a:tr h="423164">
                <a:tc>
                  <a:txBody>
                    <a:bodyPr/>
                    <a:lstStyle/>
                    <a:p>
                      <a:pPr marL="0" marR="0" algn="ctr">
                        <a:lnSpc>
                          <a:spcPct val="115000"/>
                        </a:lnSpc>
                        <a:spcAft>
                          <a:spcPts val="1000"/>
                        </a:spcAft>
                        <a:buNone/>
                      </a:pPr>
                      <a:r>
                        <a:rPr lang="fr-FR" sz="1600">
                          <a:effectLst/>
                        </a:rPr>
                        <a:t>Recall</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~0.5</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~1.0</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069759401"/>
                  </a:ext>
                </a:extLst>
              </a:tr>
            </a:tbl>
          </a:graphicData>
        </a:graphic>
      </p:graphicFrame>
      <p:sp>
        <p:nvSpPr>
          <p:cNvPr id="14" name="TextBox 13">
            <a:extLst>
              <a:ext uri="{FF2B5EF4-FFF2-40B4-BE49-F238E27FC236}">
                <a16:creationId xmlns:a16="http://schemas.microsoft.com/office/drawing/2014/main" id="{A2F31DB5-6469-7293-D3E2-AC87E9633877}"/>
              </a:ext>
            </a:extLst>
          </p:cNvPr>
          <p:cNvSpPr txBox="1"/>
          <p:nvPr/>
        </p:nvSpPr>
        <p:spPr>
          <a:xfrm>
            <a:off x="6621780" y="4270101"/>
            <a:ext cx="4958080" cy="425501"/>
          </a:xfrm>
          <a:prstGeom prst="rect">
            <a:avLst/>
          </a:prstGeom>
          <a:noFill/>
        </p:spPr>
        <p:txBody>
          <a:bodyPr wrap="square">
            <a:spAutoFit/>
          </a:bodyPr>
          <a:lstStyle/>
          <a:p>
            <a:pPr marL="0" marR="0">
              <a:lnSpc>
                <a:spcPct val="115000"/>
              </a:lnSpc>
              <a:spcAft>
                <a:spcPts val="1000"/>
              </a:spcAft>
            </a:pPr>
            <a:r>
              <a:rPr lang="en-US" sz="2000" dirty="0"/>
              <a:t>Faster R-CNN is more accurate than YOLOv11</a:t>
            </a:r>
            <a:endParaRPr lang="fr-FR" sz="2000" dirty="0"/>
          </a:p>
        </p:txBody>
      </p:sp>
      <p:sp>
        <p:nvSpPr>
          <p:cNvPr id="16" name="TextBox 15">
            <a:extLst>
              <a:ext uri="{FF2B5EF4-FFF2-40B4-BE49-F238E27FC236}">
                <a16:creationId xmlns:a16="http://schemas.microsoft.com/office/drawing/2014/main" id="{C1B31E43-3E30-E082-D70E-0EDB777F767F}"/>
              </a:ext>
            </a:extLst>
          </p:cNvPr>
          <p:cNvSpPr txBox="1"/>
          <p:nvPr/>
        </p:nvSpPr>
        <p:spPr>
          <a:xfrm>
            <a:off x="1534160" y="5172194"/>
            <a:ext cx="10045700" cy="907684"/>
          </a:xfrm>
          <a:prstGeom prst="rect">
            <a:avLst/>
          </a:prstGeom>
          <a:noFill/>
        </p:spPr>
        <p:txBody>
          <a:bodyPr wrap="square">
            <a:spAutoFit/>
          </a:bodyPr>
          <a:lstStyle/>
          <a:p>
            <a:pPr marL="285750" marR="0" indent="-285750">
              <a:lnSpc>
                <a:spcPct val="115000"/>
              </a:lnSpc>
              <a:spcAft>
                <a:spcPts val="1000"/>
              </a:spcAft>
              <a:buFont typeface="Wingdings" panose="05000000000000000000" pitchFamily="2" charset="2"/>
              <a:buChar char="v"/>
            </a:pPr>
            <a:r>
              <a:rPr lang="en-US" sz="2000" dirty="0"/>
              <a:t>In terms of speed YOLOv11 is more preferable for tasks that needs fast detection</a:t>
            </a:r>
          </a:p>
          <a:p>
            <a:pPr marL="285750" marR="0" indent="-285750">
              <a:lnSpc>
                <a:spcPct val="115000"/>
              </a:lnSpc>
              <a:spcAft>
                <a:spcPts val="1000"/>
              </a:spcAft>
              <a:buFont typeface="Wingdings" panose="05000000000000000000" pitchFamily="2" charset="2"/>
              <a:buChar char="v"/>
            </a:pPr>
            <a:r>
              <a:rPr lang="en-US" sz="2000" dirty="0"/>
              <a:t>For accuracy Faster R-CNN is designed to be used in tasks that requires highest performance</a:t>
            </a:r>
            <a:endParaRPr lang="fr-FR" sz="2000" dirty="0"/>
          </a:p>
        </p:txBody>
      </p:sp>
      <p:grpSp>
        <p:nvGrpSpPr>
          <p:cNvPr id="2" name="Group 1">
            <a:extLst>
              <a:ext uri="{FF2B5EF4-FFF2-40B4-BE49-F238E27FC236}">
                <a16:creationId xmlns:a16="http://schemas.microsoft.com/office/drawing/2014/main" id="{1132D1C3-0F37-062F-5606-C0A65FF58D76}"/>
              </a:ext>
            </a:extLst>
          </p:cNvPr>
          <p:cNvGrpSpPr/>
          <p:nvPr/>
        </p:nvGrpSpPr>
        <p:grpSpPr>
          <a:xfrm>
            <a:off x="9540240" y="1"/>
            <a:ext cx="2651760" cy="634980"/>
            <a:chOff x="8758971" y="310479"/>
            <a:chExt cx="2538533" cy="524318"/>
          </a:xfrm>
        </p:grpSpPr>
        <p:grpSp>
          <p:nvGrpSpPr>
            <p:cNvPr id="3" name="Group 2">
              <a:extLst>
                <a:ext uri="{FF2B5EF4-FFF2-40B4-BE49-F238E27FC236}">
                  <a16:creationId xmlns:a16="http://schemas.microsoft.com/office/drawing/2014/main" id="{26E7D7EE-B206-9B5C-0A7F-04EAF7B764E9}"/>
                </a:ext>
              </a:extLst>
            </p:cNvPr>
            <p:cNvGrpSpPr/>
            <p:nvPr/>
          </p:nvGrpSpPr>
          <p:grpSpPr>
            <a:xfrm>
              <a:off x="8758971" y="310479"/>
              <a:ext cx="2538533" cy="346380"/>
              <a:chOff x="8758971" y="310479"/>
              <a:chExt cx="2538533" cy="346380"/>
            </a:xfrm>
          </p:grpSpPr>
          <p:sp>
            <p:nvSpPr>
              <p:cNvPr id="5" name="Rectangle 4">
                <a:extLst>
                  <a:ext uri="{FF2B5EF4-FFF2-40B4-BE49-F238E27FC236}">
                    <a16:creationId xmlns:a16="http://schemas.microsoft.com/office/drawing/2014/main" id="{002C91C5-1BB7-6EA9-DFBD-CD5FF4CCD9E5}"/>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Parallelogram 5">
                <a:extLst>
                  <a:ext uri="{FF2B5EF4-FFF2-40B4-BE49-F238E27FC236}">
                    <a16:creationId xmlns:a16="http://schemas.microsoft.com/office/drawing/2014/main" id="{14557AB7-8575-C509-2037-03E69E8F91C8}"/>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4" name="TextBox 3">
              <a:extLst>
                <a:ext uri="{FF2B5EF4-FFF2-40B4-BE49-F238E27FC236}">
                  <a16:creationId xmlns:a16="http://schemas.microsoft.com/office/drawing/2014/main" id="{C1C474B6-4A5A-11A4-98EF-873411A1DC02}"/>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3993737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49983-D1C8-E067-F191-734A68F57E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7D21C4-198E-D1B0-9484-F0EEC6B44454}"/>
              </a:ext>
            </a:extLst>
          </p:cNvPr>
          <p:cNvSpPr txBox="1"/>
          <p:nvPr/>
        </p:nvSpPr>
        <p:spPr>
          <a:xfrm>
            <a:off x="294640" y="205241"/>
            <a:ext cx="3708400" cy="523220"/>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en-US" dirty="0"/>
              <a:t>Loss Function Analysis:</a:t>
            </a:r>
            <a:endParaRPr lang="fr-FR" dirty="0"/>
          </a:p>
        </p:txBody>
      </p:sp>
      <p:pic>
        <p:nvPicPr>
          <p:cNvPr id="8" name="Picture 7">
            <a:extLst>
              <a:ext uri="{FF2B5EF4-FFF2-40B4-BE49-F238E27FC236}">
                <a16:creationId xmlns:a16="http://schemas.microsoft.com/office/drawing/2014/main" id="{8527302A-77D9-C146-63D8-F3D834370574}"/>
              </a:ext>
            </a:extLst>
          </p:cNvPr>
          <p:cNvPicPr>
            <a:picLocks noChangeAspect="1"/>
          </p:cNvPicPr>
          <p:nvPr/>
        </p:nvPicPr>
        <p:blipFill>
          <a:blip r:embed="rId2"/>
          <a:stretch>
            <a:fillRect/>
          </a:stretch>
        </p:blipFill>
        <p:spPr>
          <a:xfrm>
            <a:off x="16933" y="1412240"/>
            <a:ext cx="12112333" cy="5373781"/>
          </a:xfrm>
          <a:prstGeom prst="rect">
            <a:avLst/>
          </a:prstGeom>
        </p:spPr>
      </p:pic>
      <p:sp>
        <p:nvSpPr>
          <p:cNvPr id="9" name="TextBox 8">
            <a:extLst>
              <a:ext uri="{FF2B5EF4-FFF2-40B4-BE49-F238E27FC236}">
                <a16:creationId xmlns:a16="http://schemas.microsoft.com/office/drawing/2014/main" id="{9D9C0913-6C0F-35AA-3593-E53EA4D5EA45}"/>
              </a:ext>
            </a:extLst>
          </p:cNvPr>
          <p:cNvSpPr txBox="1"/>
          <p:nvPr/>
        </p:nvSpPr>
        <p:spPr>
          <a:xfrm>
            <a:off x="4606290" y="653571"/>
            <a:ext cx="2979420" cy="758669"/>
          </a:xfrm>
          <a:prstGeom prst="rect">
            <a:avLst/>
          </a:prstGeom>
          <a:noFill/>
        </p:spPr>
        <p:txBody>
          <a:bodyPr wrap="square">
            <a:spAutoFit/>
          </a:bodyPr>
          <a:lstStyle/>
          <a:p>
            <a:pPr marL="0" marR="0">
              <a:lnSpc>
                <a:spcPct val="115000"/>
              </a:lnSpc>
              <a:spcAft>
                <a:spcPts val="1000"/>
              </a:spcAft>
            </a:pPr>
            <a:r>
              <a:rPr lang="en-US" sz="4000" dirty="0"/>
              <a:t>Faster R-CNN </a:t>
            </a:r>
            <a:endParaRPr lang="fr-FR" sz="4000" dirty="0"/>
          </a:p>
        </p:txBody>
      </p:sp>
      <p:grpSp>
        <p:nvGrpSpPr>
          <p:cNvPr id="2" name="Group 1">
            <a:extLst>
              <a:ext uri="{FF2B5EF4-FFF2-40B4-BE49-F238E27FC236}">
                <a16:creationId xmlns:a16="http://schemas.microsoft.com/office/drawing/2014/main" id="{CDD8EC20-65C4-798F-112F-8A166CBA434C}"/>
              </a:ext>
            </a:extLst>
          </p:cNvPr>
          <p:cNvGrpSpPr/>
          <p:nvPr/>
        </p:nvGrpSpPr>
        <p:grpSpPr>
          <a:xfrm>
            <a:off x="9540240" y="1"/>
            <a:ext cx="2651760" cy="634980"/>
            <a:chOff x="8758971" y="310479"/>
            <a:chExt cx="2538533" cy="524318"/>
          </a:xfrm>
        </p:grpSpPr>
        <p:grpSp>
          <p:nvGrpSpPr>
            <p:cNvPr id="4" name="Group 3">
              <a:extLst>
                <a:ext uri="{FF2B5EF4-FFF2-40B4-BE49-F238E27FC236}">
                  <a16:creationId xmlns:a16="http://schemas.microsoft.com/office/drawing/2014/main" id="{74B7B0BA-BA77-6203-BCEB-0776BF46DEA3}"/>
                </a:ext>
              </a:extLst>
            </p:cNvPr>
            <p:cNvGrpSpPr/>
            <p:nvPr/>
          </p:nvGrpSpPr>
          <p:grpSpPr>
            <a:xfrm>
              <a:off x="8758971" y="310479"/>
              <a:ext cx="2538533" cy="346380"/>
              <a:chOff x="8758971" y="310479"/>
              <a:chExt cx="2538533" cy="346380"/>
            </a:xfrm>
          </p:grpSpPr>
          <p:sp>
            <p:nvSpPr>
              <p:cNvPr id="6" name="Rectangle 5">
                <a:extLst>
                  <a:ext uri="{FF2B5EF4-FFF2-40B4-BE49-F238E27FC236}">
                    <a16:creationId xmlns:a16="http://schemas.microsoft.com/office/drawing/2014/main" id="{803CE9A3-994E-ADB9-9033-21D0A71761F9}"/>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Parallelogram 6">
                <a:extLst>
                  <a:ext uri="{FF2B5EF4-FFF2-40B4-BE49-F238E27FC236}">
                    <a16:creationId xmlns:a16="http://schemas.microsoft.com/office/drawing/2014/main" id="{43C637C2-0BAC-A8EB-1727-47CF82C81B2F}"/>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5" name="TextBox 4">
              <a:extLst>
                <a:ext uri="{FF2B5EF4-FFF2-40B4-BE49-F238E27FC236}">
                  <a16:creationId xmlns:a16="http://schemas.microsoft.com/office/drawing/2014/main" id="{A9777612-38C3-3B9F-1B46-B25E91E1C880}"/>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2802863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54D62-78BE-B08A-0C35-4312DCF88B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2D4E0A-5A18-351D-032C-7FA82563C024}"/>
              </a:ext>
            </a:extLst>
          </p:cNvPr>
          <p:cNvSpPr txBox="1"/>
          <p:nvPr/>
        </p:nvSpPr>
        <p:spPr>
          <a:xfrm>
            <a:off x="294640" y="205241"/>
            <a:ext cx="3708400" cy="523220"/>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en-US" dirty="0"/>
              <a:t>Loss Function Analysis:</a:t>
            </a:r>
            <a:endParaRPr lang="fr-FR" dirty="0"/>
          </a:p>
        </p:txBody>
      </p:sp>
      <p:pic>
        <p:nvPicPr>
          <p:cNvPr id="4" name="Image 4">
            <a:extLst>
              <a:ext uri="{FF2B5EF4-FFF2-40B4-BE49-F238E27FC236}">
                <a16:creationId xmlns:a16="http://schemas.microsoft.com/office/drawing/2014/main" id="{5641A85D-AA64-5528-D2DA-96EA9878D0F0}"/>
              </a:ext>
            </a:extLst>
          </p:cNvPr>
          <p:cNvPicPr>
            <a:picLocks noChangeAspect="1"/>
          </p:cNvPicPr>
          <p:nvPr/>
        </p:nvPicPr>
        <p:blipFill>
          <a:blip r:embed="rId2"/>
          <a:srcRect r="32247"/>
          <a:stretch/>
        </p:blipFill>
        <p:spPr>
          <a:xfrm>
            <a:off x="1128503" y="589537"/>
            <a:ext cx="9934993" cy="6230305"/>
          </a:xfrm>
          <a:prstGeom prst="rect">
            <a:avLst/>
          </a:prstGeom>
        </p:spPr>
      </p:pic>
      <p:sp>
        <p:nvSpPr>
          <p:cNvPr id="7" name="TextBox 6">
            <a:extLst>
              <a:ext uri="{FF2B5EF4-FFF2-40B4-BE49-F238E27FC236}">
                <a16:creationId xmlns:a16="http://schemas.microsoft.com/office/drawing/2014/main" id="{8FB8FD2B-AA69-5098-C12E-9198B1EA8D28}"/>
              </a:ext>
            </a:extLst>
          </p:cNvPr>
          <p:cNvSpPr txBox="1"/>
          <p:nvPr/>
        </p:nvSpPr>
        <p:spPr>
          <a:xfrm>
            <a:off x="3459480" y="-29087"/>
            <a:ext cx="5273040" cy="991875"/>
          </a:xfrm>
          <a:prstGeom prst="rect">
            <a:avLst/>
          </a:prstGeom>
          <a:noFill/>
        </p:spPr>
        <p:txBody>
          <a:bodyPr wrap="square">
            <a:spAutoFit/>
          </a:bodyPr>
          <a:lstStyle/>
          <a:p>
            <a:pPr marL="0" marR="0" algn="ctr">
              <a:lnSpc>
                <a:spcPct val="115000"/>
              </a:lnSpc>
              <a:spcAft>
                <a:spcPts val="1000"/>
              </a:spcAft>
            </a:pPr>
            <a:r>
              <a:rPr lang="en-US" sz="5400" dirty="0"/>
              <a:t>YOLOv11</a:t>
            </a:r>
            <a:endParaRPr lang="fr-FR" sz="5400" dirty="0"/>
          </a:p>
        </p:txBody>
      </p:sp>
      <p:grpSp>
        <p:nvGrpSpPr>
          <p:cNvPr id="2" name="Group 1">
            <a:extLst>
              <a:ext uri="{FF2B5EF4-FFF2-40B4-BE49-F238E27FC236}">
                <a16:creationId xmlns:a16="http://schemas.microsoft.com/office/drawing/2014/main" id="{7F180EF7-31E7-00AE-228E-919F48E84A51}"/>
              </a:ext>
            </a:extLst>
          </p:cNvPr>
          <p:cNvGrpSpPr/>
          <p:nvPr/>
        </p:nvGrpSpPr>
        <p:grpSpPr>
          <a:xfrm>
            <a:off x="9540240" y="1"/>
            <a:ext cx="2651760" cy="634980"/>
            <a:chOff x="8758971" y="310479"/>
            <a:chExt cx="2538533" cy="524318"/>
          </a:xfrm>
        </p:grpSpPr>
        <p:grpSp>
          <p:nvGrpSpPr>
            <p:cNvPr id="5" name="Group 4">
              <a:extLst>
                <a:ext uri="{FF2B5EF4-FFF2-40B4-BE49-F238E27FC236}">
                  <a16:creationId xmlns:a16="http://schemas.microsoft.com/office/drawing/2014/main" id="{C2AF6004-5A0D-55BD-8D36-685976C63D2D}"/>
                </a:ext>
              </a:extLst>
            </p:cNvPr>
            <p:cNvGrpSpPr/>
            <p:nvPr/>
          </p:nvGrpSpPr>
          <p:grpSpPr>
            <a:xfrm>
              <a:off x="8758971" y="310479"/>
              <a:ext cx="2538533" cy="346380"/>
              <a:chOff x="8758971" y="310479"/>
              <a:chExt cx="2538533" cy="346380"/>
            </a:xfrm>
          </p:grpSpPr>
          <p:sp>
            <p:nvSpPr>
              <p:cNvPr id="13" name="Rectangle 12">
                <a:extLst>
                  <a:ext uri="{FF2B5EF4-FFF2-40B4-BE49-F238E27FC236}">
                    <a16:creationId xmlns:a16="http://schemas.microsoft.com/office/drawing/2014/main" id="{05853411-D9D5-CAF5-9EB5-FEB899E1A403}"/>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Parallelogram 13">
                <a:extLst>
                  <a:ext uri="{FF2B5EF4-FFF2-40B4-BE49-F238E27FC236}">
                    <a16:creationId xmlns:a16="http://schemas.microsoft.com/office/drawing/2014/main" id="{A135282A-9ED2-45CB-4020-34C40A7496DE}"/>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6" name="TextBox 5">
              <a:extLst>
                <a:ext uri="{FF2B5EF4-FFF2-40B4-BE49-F238E27FC236}">
                  <a16:creationId xmlns:a16="http://schemas.microsoft.com/office/drawing/2014/main" id="{D9659325-0775-2984-C65E-18D210A92DA1}"/>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758378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91AE8-7610-1418-A41F-133B9F8859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006362-D719-1448-590D-64550084A4A9}"/>
              </a:ext>
            </a:extLst>
          </p:cNvPr>
          <p:cNvSpPr txBox="1"/>
          <p:nvPr/>
        </p:nvSpPr>
        <p:spPr>
          <a:xfrm>
            <a:off x="1691640" y="703080"/>
            <a:ext cx="3195320" cy="392159"/>
          </a:xfrm>
          <a:prstGeom prst="rect">
            <a:avLst/>
          </a:prstGeom>
          <a:noFill/>
        </p:spPr>
        <p:txBody>
          <a:bodyPr wrap="square">
            <a:spAutoFit/>
          </a:bodyPr>
          <a:lstStyle/>
          <a:p>
            <a:pPr marL="0" marR="0">
              <a:lnSpc>
                <a:spcPct val="115000"/>
              </a:lnSpc>
              <a:spcAft>
                <a:spcPts val="1000"/>
              </a:spcAft>
            </a:pPr>
            <a:r>
              <a:rPr lang="en-US" b="1" dirty="0">
                <a:latin typeface="Calibri" panose="020F0502020204030204" pitchFamily="34" charset="0"/>
                <a:ea typeface="Calibri" panose="020F0502020204030204" pitchFamily="34" charset="0"/>
                <a:cs typeface="Arial" panose="020B0604020202020204" pitchFamily="34" charset="0"/>
              </a:rPr>
              <a:t>Classification loss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en-US" sz="1800" dirty="0" err="1">
                <a:effectLst/>
                <a:latin typeface="Calibri" panose="020F0502020204030204" pitchFamily="34" charset="0"/>
                <a:ea typeface="Calibri" panose="020F0502020204030204" pitchFamily="34" charset="0"/>
                <a:cs typeface="Arial" panose="020B0604020202020204" pitchFamily="34" charset="0"/>
              </a:rPr>
              <a:t>cls_loss</a:t>
            </a:r>
            <a:r>
              <a:rPr lang="en-US" sz="1800" dirty="0">
                <a:effectLst/>
                <a:latin typeface="Calibri" panose="020F0502020204030204" pitchFamily="34" charset="0"/>
                <a:ea typeface="Calibri" panose="020F0502020204030204" pitchFamily="34" charset="0"/>
                <a:cs typeface="Arial" panose="020B0604020202020204" pitchFamily="34" charset="0"/>
              </a:rPr>
              <a:t>)</a:t>
            </a:r>
            <a:endParaRPr lang="fr-FR" sz="1400"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041F1076-20AA-94CC-30A0-7C5591969A38}"/>
              </a:ext>
            </a:extLst>
          </p:cNvPr>
          <p:cNvSpPr txBox="1"/>
          <p:nvPr/>
        </p:nvSpPr>
        <p:spPr>
          <a:xfrm>
            <a:off x="7934960" y="703080"/>
            <a:ext cx="3007360" cy="392159"/>
          </a:xfrm>
          <a:prstGeom prst="rect">
            <a:avLst/>
          </a:prstGeom>
          <a:noFill/>
        </p:spPr>
        <p:txBody>
          <a:bodyPr wrap="square">
            <a:spAutoFit/>
          </a:bodyPr>
          <a:lstStyle/>
          <a:p>
            <a:pPr marL="0" marR="0">
              <a:lnSpc>
                <a:spcPct val="115000"/>
              </a:lnSpc>
              <a:spcAft>
                <a:spcPts val="1000"/>
              </a:spcAft>
            </a:pPr>
            <a:r>
              <a:rPr lang="en-US" b="1" dirty="0">
                <a:latin typeface="Calibri" panose="020F0502020204030204" pitchFamily="34" charset="0"/>
                <a:ea typeface="Calibri" panose="020F0502020204030204" pitchFamily="34" charset="0"/>
                <a:cs typeface="Arial" panose="020B0604020202020204" pitchFamily="34" charset="0"/>
              </a:rPr>
              <a:t>Box regression loss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en-US" sz="1800" dirty="0" err="1">
                <a:effectLst/>
                <a:latin typeface="Calibri" panose="020F0502020204030204" pitchFamily="34" charset="0"/>
                <a:ea typeface="Calibri" panose="020F0502020204030204" pitchFamily="34" charset="0"/>
                <a:cs typeface="Arial" panose="020B0604020202020204" pitchFamily="34" charset="0"/>
              </a:rPr>
              <a:t>box_loss</a:t>
            </a:r>
            <a:r>
              <a:rPr lang="en-US" sz="1800" dirty="0">
                <a:effectLst/>
                <a:latin typeface="Calibri" panose="020F0502020204030204" pitchFamily="34" charset="0"/>
                <a:ea typeface="Calibri" panose="020F0502020204030204" pitchFamily="34" charset="0"/>
                <a:cs typeface="Arial" panose="020B0604020202020204" pitchFamily="34" charset="0"/>
              </a:rPr>
              <a:t>)</a:t>
            </a:r>
            <a:endParaRPr lang="fr-FR" sz="1400" b="1"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3F0958D5-85C0-DBB6-B498-5A0CB216430B}"/>
              </a:ext>
            </a:extLst>
          </p:cNvPr>
          <p:cNvGraphicFramePr>
            <a:graphicFrameLocks noGrp="1"/>
          </p:cNvGraphicFramePr>
          <p:nvPr>
            <p:extLst>
              <p:ext uri="{D42A27DB-BD31-4B8C-83A1-F6EECF244321}">
                <p14:modId xmlns:p14="http://schemas.microsoft.com/office/powerpoint/2010/main" val="49268630"/>
              </p:ext>
            </p:extLst>
          </p:nvPr>
        </p:nvGraphicFramePr>
        <p:xfrm>
          <a:off x="342899" y="1689512"/>
          <a:ext cx="5115561" cy="2090008"/>
        </p:xfrm>
        <a:graphic>
          <a:graphicData uri="http://schemas.openxmlformats.org/drawingml/2006/table">
            <a:tbl>
              <a:tblPr firstRow="1" firstCol="1" bandRow="1">
                <a:tableStyleId>{5C22544A-7EE6-4342-B048-85BDC9FD1C3A}</a:tableStyleId>
              </a:tblPr>
              <a:tblGrid>
                <a:gridCol w="1705187">
                  <a:extLst>
                    <a:ext uri="{9D8B030D-6E8A-4147-A177-3AD203B41FA5}">
                      <a16:colId xmlns:a16="http://schemas.microsoft.com/office/drawing/2014/main" val="3192868821"/>
                    </a:ext>
                  </a:extLst>
                </a:gridCol>
                <a:gridCol w="1705187">
                  <a:extLst>
                    <a:ext uri="{9D8B030D-6E8A-4147-A177-3AD203B41FA5}">
                      <a16:colId xmlns:a16="http://schemas.microsoft.com/office/drawing/2014/main" val="2364595720"/>
                    </a:ext>
                  </a:extLst>
                </a:gridCol>
                <a:gridCol w="1705187">
                  <a:extLst>
                    <a:ext uri="{9D8B030D-6E8A-4147-A177-3AD203B41FA5}">
                      <a16:colId xmlns:a16="http://schemas.microsoft.com/office/drawing/2014/main" val="3768739453"/>
                    </a:ext>
                  </a:extLst>
                </a:gridCol>
              </a:tblGrid>
              <a:tr h="522502">
                <a:tc>
                  <a:txBody>
                    <a:bodyPr/>
                    <a:lstStyle/>
                    <a:p>
                      <a:pPr marL="0" marR="0" algn="ctr">
                        <a:lnSpc>
                          <a:spcPct val="115000"/>
                        </a:lnSpc>
                        <a:spcAft>
                          <a:spcPts val="1000"/>
                        </a:spcAft>
                        <a:buNone/>
                      </a:pPr>
                      <a:r>
                        <a:rPr lang="fr-FR" sz="1400">
                          <a:effectLst/>
                        </a:rPr>
                        <a:t>Criterion</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dirty="0" err="1">
                          <a:effectLst/>
                        </a:rPr>
                        <a:t>Faster</a:t>
                      </a:r>
                      <a:r>
                        <a:rPr lang="fr-FR" sz="1400" dirty="0">
                          <a:effectLst/>
                        </a:rPr>
                        <a:t> R-CNN</a:t>
                      </a:r>
                      <a:endParaRPr lang="fr-FR" sz="12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YOLOv11</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813866633"/>
                  </a:ext>
                </a:extLst>
              </a:tr>
              <a:tr h="522502">
                <a:tc>
                  <a:txBody>
                    <a:bodyPr/>
                    <a:lstStyle/>
                    <a:p>
                      <a:pPr marL="0" marR="0" algn="ctr">
                        <a:lnSpc>
                          <a:spcPct val="115000"/>
                        </a:lnSpc>
                        <a:spcAft>
                          <a:spcPts val="1000"/>
                        </a:spcAft>
                        <a:buNone/>
                      </a:pPr>
                      <a:r>
                        <a:rPr lang="fr-FR" sz="1400">
                          <a:effectLst/>
                        </a:rPr>
                        <a:t>Curve Shape</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Quickly drops, stable</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Drops further</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647830624"/>
                  </a:ext>
                </a:extLst>
              </a:tr>
              <a:tr h="522502">
                <a:tc>
                  <a:txBody>
                    <a:bodyPr/>
                    <a:lstStyle/>
                    <a:p>
                      <a:pPr marL="0" marR="0" algn="ctr">
                        <a:lnSpc>
                          <a:spcPct val="115000"/>
                        </a:lnSpc>
                        <a:spcAft>
                          <a:spcPts val="1000"/>
                        </a:spcAft>
                        <a:buNone/>
                      </a:pPr>
                      <a:r>
                        <a:rPr lang="fr-FR" sz="1400">
                          <a:effectLst/>
                        </a:rPr>
                        <a:t>Final Values</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 0.02 - 0.04</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 0.3 (from 3.0)</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919066547"/>
                  </a:ext>
                </a:extLst>
              </a:tr>
              <a:tr h="522502">
                <a:tc>
                  <a:txBody>
                    <a:bodyPr/>
                    <a:lstStyle/>
                    <a:p>
                      <a:pPr marL="0" marR="0" algn="ctr">
                        <a:lnSpc>
                          <a:spcPct val="115000"/>
                        </a:lnSpc>
                        <a:spcAft>
                          <a:spcPts val="1000"/>
                        </a:spcAft>
                        <a:buNone/>
                      </a:pPr>
                      <a:r>
                        <a:rPr lang="fr-FR" sz="1400">
                          <a:effectLst/>
                        </a:rPr>
                        <a:t>Stability</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Very stable</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dirty="0" err="1">
                          <a:effectLst/>
                        </a:rPr>
                        <a:t>Slight</a:t>
                      </a:r>
                      <a:r>
                        <a:rPr lang="fr-FR" sz="1400" dirty="0">
                          <a:effectLst/>
                        </a:rPr>
                        <a:t> </a:t>
                      </a:r>
                      <a:r>
                        <a:rPr lang="fr-FR" sz="1400" dirty="0" err="1">
                          <a:effectLst/>
                        </a:rPr>
                        <a:t>early</a:t>
                      </a:r>
                      <a:r>
                        <a:rPr lang="fr-FR" sz="1400" dirty="0">
                          <a:effectLst/>
                        </a:rPr>
                        <a:t> noise</a:t>
                      </a:r>
                      <a:endParaRPr lang="fr-FR" sz="12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172981818"/>
                  </a:ext>
                </a:extLst>
              </a:tr>
            </a:tbl>
          </a:graphicData>
        </a:graphic>
      </p:graphicFrame>
      <p:graphicFrame>
        <p:nvGraphicFramePr>
          <p:cNvPr id="5" name="Table 4">
            <a:extLst>
              <a:ext uri="{FF2B5EF4-FFF2-40B4-BE49-F238E27FC236}">
                <a16:creationId xmlns:a16="http://schemas.microsoft.com/office/drawing/2014/main" id="{DED22208-138F-E270-E6BB-426FD0C9851B}"/>
              </a:ext>
            </a:extLst>
          </p:cNvPr>
          <p:cNvGraphicFramePr>
            <a:graphicFrameLocks noGrp="1"/>
          </p:cNvGraphicFramePr>
          <p:nvPr>
            <p:extLst>
              <p:ext uri="{D42A27DB-BD31-4B8C-83A1-F6EECF244321}">
                <p14:modId xmlns:p14="http://schemas.microsoft.com/office/powerpoint/2010/main" val="3719792638"/>
              </p:ext>
            </p:extLst>
          </p:nvPr>
        </p:nvGraphicFramePr>
        <p:xfrm>
          <a:off x="6583681" y="1689512"/>
          <a:ext cx="5265420" cy="2090008"/>
        </p:xfrm>
        <a:graphic>
          <a:graphicData uri="http://schemas.openxmlformats.org/drawingml/2006/table">
            <a:tbl>
              <a:tblPr firstRow="1" firstCol="1" bandRow="1">
                <a:tableStyleId>{5C22544A-7EE6-4342-B048-85BDC9FD1C3A}</a:tableStyleId>
              </a:tblPr>
              <a:tblGrid>
                <a:gridCol w="1755140">
                  <a:extLst>
                    <a:ext uri="{9D8B030D-6E8A-4147-A177-3AD203B41FA5}">
                      <a16:colId xmlns:a16="http://schemas.microsoft.com/office/drawing/2014/main" val="1337872429"/>
                    </a:ext>
                  </a:extLst>
                </a:gridCol>
                <a:gridCol w="1755140">
                  <a:extLst>
                    <a:ext uri="{9D8B030D-6E8A-4147-A177-3AD203B41FA5}">
                      <a16:colId xmlns:a16="http://schemas.microsoft.com/office/drawing/2014/main" val="1430320091"/>
                    </a:ext>
                  </a:extLst>
                </a:gridCol>
                <a:gridCol w="1755140">
                  <a:extLst>
                    <a:ext uri="{9D8B030D-6E8A-4147-A177-3AD203B41FA5}">
                      <a16:colId xmlns:a16="http://schemas.microsoft.com/office/drawing/2014/main" val="3414071562"/>
                    </a:ext>
                  </a:extLst>
                </a:gridCol>
              </a:tblGrid>
              <a:tr h="522502">
                <a:tc>
                  <a:txBody>
                    <a:bodyPr/>
                    <a:lstStyle/>
                    <a:p>
                      <a:pPr marL="0" marR="0" algn="ctr">
                        <a:lnSpc>
                          <a:spcPct val="115000"/>
                        </a:lnSpc>
                        <a:spcAft>
                          <a:spcPts val="1000"/>
                        </a:spcAft>
                        <a:buNone/>
                      </a:pPr>
                      <a:r>
                        <a:rPr lang="fr-FR" sz="1400">
                          <a:effectLst/>
                        </a:rPr>
                        <a:t>Criterion</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Faster R-CNN</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YOLOv11</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655682004"/>
                  </a:ext>
                </a:extLst>
              </a:tr>
              <a:tr h="522502">
                <a:tc>
                  <a:txBody>
                    <a:bodyPr/>
                    <a:lstStyle/>
                    <a:p>
                      <a:pPr marL="0" marR="0" algn="ctr">
                        <a:lnSpc>
                          <a:spcPct val="115000"/>
                        </a:lnSpc>
                        <a:spcAft>
                          <a:spcPts val="1000"/>
                        </a:spcAft>
                        <a:buNone/>
                      </a:pPr>
                      <a:r>
                        <a:rPr lang="fr-FR" sz="1400">
                          <a:effectLst/>
                        </a:rPr>
                        <a:t>Curve Shape</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Gradually decreases</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Starts high, drops</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986255738"/>
                  </a:ext>
                </a:extLst>
              </a:tr>
              <a:tr h="522502">
                <a:tc>
                  <a:txBody>
                    <a:bodyPr/>
                    <a:lstStyle/>
                    <a:p>
                      <a:pPr marL="0" marR="0" algn="ctr">
                        <a:lnSpc>
                          <a:spcPct val="115000"/>
                        </a:lnSpc>
                        <a:spcAft>
                          <a:spcPts val="1000"/>
                        </a:spcAft>
                        <a:buNone/>
                      </a:pPr>
                      <a:r>
                        <a:rPr lang="fr-FR" sz="1400">
                          <a:effectLst/>
                        </a:rPr>
                        <a:t>Final Values</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 0.02 - 0.03</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 0.3 - 0.4</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811904401"/>
                  </a:ext>
                </a:extLst>
              </a:tr>
              <a:tr h="522502">
                <a:tc>
                  <a:txBody>
                    <a:bodyPr/>
                    <a:lstStyle/>
                    <a:p>
                      <a:pPr marL="0" marR="0" algn="ctr">
                        <a:lnSpc>
                          <a:spcPct val="115000"/>
                        </a:lnSpc>
                        <a:spcAft>
                          <a:spcPts val="1000"/>
                        </a:spcAft>
                        <a:buNone/>
                      </a:pPr>
                      <a:r>
                        <a:rPr lang="fr-FR" sz="1400">
                          <a:effectLst/>
                        </a:rPr>
                        <a:t>Val/Train Gap</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a:effectLst/>
                        </a:rPr>
                        <a:t>Small</a:t>
                      </a:r>
                      <a:endParaRPr lang="fr-FR" sz="12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400" dirty="0" err="1">
                          <a:effectLst/>
                        </a:rPr>
                        <a:t>Larger</a:t>
                      </a:r>
                      <a:r>
                        <a:rPr lang="fr-FR" sz="1400" dirty="0">
                          <a:effectLst/>
                        </a:rPr>
                        <a:t> at first</a:t>
                      </a:r>
                      <a:endParaRPr lang="fr-FR" sz="12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346645903"/>
                  </a:ext>
                </a:extLst>
              </a:tr>
            </a:tbl>
          </a:graphicData>
        </a:graphic>
      </p:graphicFrame>
      <p:sp>
        <p:nvSpPr>
          <p:cNvPr id="7" name="TextBox 6">
            <a:extLst>
              <a:ext uri="{FF2B5EF4-FFF2-40B4-BE49-F238E27FC236}">
                <a16:creationId xmlns:a16="http://schemas.microsoft.com/office/drawing/2014/main" id="{16106C22-CD93-829A-81EB-FD7F35542EA0}"/>
              </a:ext>
            </a:extLst>
          </p:cNvPr>
          <p:cNvSpPr txBox="1"/>
          <p:nvPr/>
        </p:nvSpPr>
        <p:spPr>
          <a:xfrm>
            <a:off x="1945640" y="4653686"/>
            <a:ext cx="8300720" cy="1261627"/>
          </a:xfrm>
          <a:prstGeom prst="rect">
            <a:avLst/>
          </a:prstGeom>
          <a:noFill/>
        </p:spPr>
        <p:txBody>
          <a:bodyPr wrap="square">
            <a:spAutoFit/>
          </a:bodyPr>
          <a:lstStyle>
            <a:defPPr>
              <a:defRPr lang="fr-FR"/>
            </a:defPPr>
            <a:lvl1pPr marL="285750" marR="0" indent="-285750">
              <a:lnSpc>
                <a:spcPct val="115000"/>
              </a:lnSpc>
              <a:spcAft>
                <a:spcPts val="1000"/>
              </a:spcAft>
              <a:buFont typeface="Wingdings" panose="05000000000000000000" pitchFamily="2" charset="2"/>
              <a:buChar char="v"/>
              <a:defRPr sz="2000"/>
            </a:lvl1pPr>
          </a:lstStyle>
          <a:p>
            <a:r>
              <a:rPr lang="en-US" b="1" dirty="0"/>
              <a:t>Observation:</a:t>
            </a:r>
            <a:endParaRPr lang="fr-FR" b="1" dirty="0"/>
          </a:p>
          <a:p>
            <a:pPr marL="0" indent="0">
              <a:buNone/>
            </a:pPr>
            <a:r>
              <a:rPr lang="en-US" dirty="0"/>
              <a:t>Faster R-CNN has lower and more stable loss curves for both classification and box regression.</a:t>
            </a:r>
            <a:endParaRPr lang="fr-FR" dirty="0"/>
          </a:p>
        </p:txBody>
      </p:sp>
      <p:grpSp>
        <p:nvGrpSpPr>
          <p:cNvPr id="6" name="Group 5">
            <a:extLst>
              <a:ext uri="{FF2B5EF4-FFF2-40B4-BE49-F238E27FC236}">
                <a16:creationId xmlns:a16="http://schemas.microsoft.com/office/drawing/2014/main" id="{95D99502-952A-CB7B-8E97-2F7E8BBC8F60}"/>
              </a:ext>
            </a:extLst>
          </p:cNvPr>
          <p:cNvGrpSpPr/>
          <p:nvPr/>
        </p:nvGrpSpPr>
        <p:grpSpPr>
          <a:xfrm>
            <a:off x="9540240" y="1"/>
            <a:ext cx="2651760" cy="634980"/>
            <a:chOff x="8758971" y="310479"/>
            <a:chExt cx="2538533" cy="524318"/>
          </a:xfrm>
        </p:grpSpPr>
        <p:grpSp>
          <p:nvGrpSpPr>
            <p:cNvPr id="13" name="Group 12">
              <a:extLst>
                <a:ext uri="{FF2B5EF4-FFF2-40B4-BE49-F238E27FC236}">
                  <a16:creationId xmlns:a16="http://schemas.microsoft.com/office/drawing/2014/main" id="{62F1DD79-ABB3-BE5E-6071-CA7274217598}"/>
                </a:ext>
              </a:extLst>
            </p:cNvPr>
            <p:cNvGrpSpPr/>
            <p:nvPr/>
          </p:nvGrpSpPr>
          <p:grpSpPr>
            <a:xfrm>
              <a:off x="8758971" y="310479"/>
              <a:ext cx="2538533" cy="346380"/>
              <a:chOff x="8758971" y="310479"/>
              <a:chExt cx="2538533" cy="346380"/>
            </a:xfrm>
          </p:grpSpPr>
          <p:sp>
            <p:nvSpPr>
              <p:cNvPr id="15" name="Rectangle 14">
                <a:extLst>
                  <a:ext uri="{FF2B5EF4-FFF2-40B4-BE49-F238E27FC236}">
                    <a16:creationId xmlns:a16="http://schemas.microsoft.com/office/drawing/2014/main" id="{A5B7337A-E38E-21FE-0E40-9063A44D7785}"/>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Parallelogram 15">
                <a:extLst>
                  <a:ext uri="{FF2B5EF4-FFF2-40B4-BE49-F238E27FC236}">
                    <a16:creationId xmlns:a16="http://schemas.microsoft.com/office/drawing/2014/main" id="{085A6DF4-A31F-E5CE-49D5-45BE9B48C7EA}"/>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4" name="TextBox 13">
              <a:extLst>
                <a:ext uri="{FF2B5EF4-FFF2-40B4-BE49-F238E27FC236}">
                  <a16:creationId xmlns:a16="http://schemas.microsoft.com/office/drawing/2014/main" id="{FBF4474D-53ED-A09E-9CDE-49FBF6D4F4C1}"/>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3319213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471DA-7DA6-CE06-1E89-2028ED641A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81C7E72-0188-B391-1FDB-6F1230B302B8}"/>
              </a:ext>
            </a:extLst>
          </p:cNvPr>
          <p:cNvSpPr txBox="1"/>
          <p:nvPr/>
        </p:nvSpPr>
        <p:spPr>
          <a:xfrm>
            <a:off x="568960" y="672601"/>
            <a:ext cx="5527040" cy="558743"/>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en-US" dirty="0"/>
              <a:t>Scorpion Detection Discussion:</a:t>
            </a:r>
            <a:endParaRPr lang="fr-FR" dirty="0"/>
          </a:p>
        </p:txBody>
      </p:sp>
      <p:sp>
        <p:nvSpPr>
          <p:cNvPr id="5" name="TextBox 4">
            <a:extLst>
              <a:ext uri="{FF2B5EF4-FFF2-40B4-BE49-F238E27FC236}">
                <a16:creationId xmlns:a16="http://schemas.microsoft.com/office/drawing/2014/main" id="{59AB8209-C71B-AAA9-9B63-677004E6F6DC}"/>
              </a:ext>
            </a:extLst>
          </p:cNvPr>
          <p:cNvSpPr txBox="1"/>
          <p:nvPr/>
        </p:nvSpPr>
        <p:spPr>
          <a:xfrm>
            <a:off x="568960" y="1658194"/>
            <a:ext cx="11318240" cy="3000501"/>
          </a:xfrm>
          <a:prstGeom prst="rect">
            <a:avLst/>
          </a:prstGeom>
          <a:noFill/>
        </p:spPr>
        <p:txBody>
          <a:bodyPr wrap="square">
            <a:spAutoFit/>
          </a:bodyPr>
          <a:lstStyle/>
          <a:p>
            <a:pPr marL="285750" marR="0" indent="-285750">
              <a:lnSpc>
                <a:spcPct val="115000"/>
              </a:lnSpc>
              <a:spcAft>
                <a:spcPts val="1000"/>
              </a:spcAft>
              <a:buFont typeface="Wingdings" panose="05000000000000000000" pitchFamily="2" charset="2"/>
              <a:buChar char="q"/>
            </a:pPr>
            <a:r>
              <a:rPr lang="en-US" sz="2400" b="1" dirty="0">
                <a:effectLst/>
                <a:latin typeface="Calibri" panose="020F0502020204030204" pitchFamily="34" charset="0"/>
                <a:ea typeface="Calibri" panose="020F0502020204030204" pitchFamily="34" charset="0"/>
                <a:cs typeface="Arial" panose="020B0604020202020204" pitchFamily="34" charset="0"/>
              </a:rPr>
              <a:t>YOLOv11:</a:t>
            </a:r>
            <a:endParaRPr lang="fr-FR" b="1" dirty="0">
              <a:effectLst/>
              <a:latin typeface="Calibri" panose="020F0502020204030204" pitchFamily="34" charset="0"/>
              <a:ea typeface="Calibri" panose="020F0502020204030204" pitchFamily="34" charset="0"/>
              <a:cs typeface="Arial" panose="020B0604020202020204" pitchFamily="34" charset="0"/>
            </a:endParaRPr>
          </a:p>
          <a:p>
            <a:pPr marL="457200" marR="0">
              <a:lnSpc>
                <a:spcPct val="115000"/>
              </a:lnSpc>
              <a:spcAft>
                <a:spcPts val="1000"/>
              </a:spcAft>
            </a:pPr>
            <a:r>
              <a:rPr lang="en-US" sz="2400" dirty="0">
                <a:effectLst/>
                <a:latin typeface="Calibri" panose="020F0502020204030204" pitchFamily="34" charset="0"/>
                <a:ea typeface="Calibri" panose="020F0502020204030204" pitchFamily="34" charset="0"/>
                <a:cs typeface="Arial" panose="020B0604020202020204" pitchFamily="34" charset="0"/>
              </a:rPr>
              <a:t>Fast and efficient, ideal for real-time detection where speed matters more than perfect accuracy.</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15000"/>
              </a:lnSpc>
              <a:spcAft>
                <a:spcPts val="1000"/>
              </a:spcAft>
              <a:buFont typeface="Wingdings" panose="05000000000000000000" pitchFamily="2" charset="2"/>
              <a:buChar char="q"/>
            </a:pPr>
            <a:r>
              <a:rPr lang="en-US" sz="2400" b="1" dirty="0">
                <a:effectLst/>
                <a:latin typeface="Calibri" panose="020F0502020204030204" pitchFamily="34" charset="0"/>
                <a:ea typeface="Calibri" panose="020F0502020204030204" pitchFamily="34" charset="0"/>
                <a:cs typeface="Arial" panose="020B0604020202020204" pitchFamily="34" charset="0"/>
              </a:rPr>
              <a:t>Faster R-CNN:</a:t>
            </a:r>
            <a:endParaRPr lang="fr-FR" b="1"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spcAft>
                <a:spcPts val="1000"/>
              </a:spcAft>
            </a:pPr>
            <a:r>
              <a:rPr lang="en-US" sz="2400" dirty="0">
                <a:latin typeface="Calibri" panose="020F0502020204030204" pitchFamily="34" charset="0"/>
                <a:ea typeface="Calibri" panose="020F0502020204030204" pitchFamily="34" charset="0"/>
                <a:cs typeface="Arial" panose="020B0604020202020204" pitchFamily="34" charset="0"/>
              </a:rPr>
              <a:t>Highly accurate with excellent precision and recall, best for offline tasks where accuracy is critical and speed is less important.</a:t>
            </a:r>
            <a:endParaRPr lang="fr-FR" sz="2400" dirty="0">
              <a:latin typeface="Calibri" panose="020F0502020204030204" pitchFamily="34" charset="0"/>
              <a:ea typeface="Calibri" panose="020F050202020403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782258E7-4673-F4CA-F7D8-7AAE004AC6B4}"/>
              </a:ext>
            </a:extLst>
          </p:cNvPr>
          <p:cNvGrpSpPr/>
          <p:nvPr/>
        </p:nvGrpSpPr>
        <p:grpSpPr>
          <a:xfrm>
            <a:off x="9540240" y="1"/>
            <a:ext cx="2651760" cy="634980"/>
            <a:chOff x="8758971" y="310479"/>
            <a:chExt cx="2538533" cy="524318"/>
          </a:xfrm>
        </p:grpSpPr>
        <p:grpSp>
          <p:nvGrpSpPr>
            <p:cNvPr id="4" name="Group 3">
              <a:extLst>
                <a:ext uri="{FF2B5EF4-FFF2-40B4-BE49-F238E27FC236}">
                  <a16:creationId xmlns:a16="http://schemas.microsoft.com/office/drawing/2014/main" id="{03BF848B-609D-8321-B7A8-45DCFE97652A}"/>
                </a:ext>
              </a:extLst>
            </p:cNvPr>
            <p:cNvGrpSpPr/>
            <p:nvPr/>
          </p:nvGrpSpPr>
          <p:grpSpPr>
            <a:xfrm>
              <a:off x="8758971" y="310479"/>
              <a:ext cx="2538533" cy="346380"/>
              <a:chOff x="8758971" y="310479"/>
              <a:chExt cx="2538533" cy="346380"/>
            </a:xfrm>
          </p:grpSpPr>
          <p:sp>
            <p:nvSpPr>
              <p:cNvPr id="12" name="Rectangle 11">
                <a:extLst>
                  <a:ext uri="{FF2B5EF4-FFF2-40B4-BE49-F238E27FC236}">
                    <a16:creationId xmlns:a16="http://schemas.microsoft.com/office/drawing/2014/main" id="{E55CC107-BFEE-71D1-D85B-A5A0F514BEBD}"/>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Parallelogram 12">
                <a:extLst>
                  <a:ext uri="{FF2B5EF4-FFF2-40B4-BE49-F238E27FC236}">
                    <a16:creationId xmlns:a16="http://schemas.microsoft.com/office/drawing/2014/main" id="{12963128-17A9-7A4B-86CA-0F0E966B093D}"/>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1" name="TextBox 10">
              <a:extLst>
                <a:ext uri="{FF2B5EF4-FFF2-40B4-BE49-F238E27FC236}">
                  <a16:creationId xmlns:a16="http://schemas.microsoft.com/office/drawing/2014/main" id="{41432ADD-D93E-19AF-F1AA-274DB656452B}"/>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3469462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3244E-0A41-19ED-2E8A-592F98E44B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9BDC0B-7579-FA86-B62A-EDAE9C1AC265}"/>
              </a:ext>
            </a:extLst>
          </p:cNvPr>
          <p:cNvSpPr txBox="1"/>
          <p:nvPr/>
        </p:nvSpPr>
        <p:spPr>
          <a:xfrm>
            <a:off x="294640" y="205241"/>
            <a:ext cx="2753360" cy="523220"/>
          </a:xfrm>
          <a:prstGeom prst="rect">
            <a:avLst/>
          </a:prstGeom>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fr-FR" dirty="0" err="1">
                <a:latin typeface="Calibri" panose="020F0502020204030204" pitchFamily="34" charset="0"/>
                <a:ea typeface="Calibri" panose="020F0502020204030204" pitchFamily="34" charset="0"/>
              </a:rPr>
              <a:t>V</a:t>
            </a:r>
            <a:r>
              <a:rPr lang="fr-FR" dirty="0" err="1">
                <a:effectLst/>
                <a:latin typeface="Calibri" panose="020F0502020204030204" pitchFamily="34" charset="0"/>
                <a:ea typeface="Calibri" panose="020F0502020204030204" pitchFamily="34" charset="0"/>
                <a:cs typeface="Arial" panose="020B0604020202020204" pitchFamily="34" charset="0"/>
              </a:rPr>
              <a:t>ehicle</a:t>
            </a:r>
            <a:r>
              <a:rPr lang="fr-FR" dirty="0">
                <a:effectLst/>
                <a:latin typeface="Calibri" panose="020F0502020204030204" pitchFamily="34" charset="0"/>
                <a:ea typeface="Calibri" panose="020F0502020204030204" pitchFamily="34" charset="0"/>
                <a:cs typeface="Arial" panose="020B0604020202020204" pitchFamily="34" charset="0"/>
              </a:rPr>
              <a:t> </a:t>
            </a:r>
            <a:r>
              <a:rPr lang="fr-FR" dirty="0" err="1">
                <a:effectLst/>
                <a:latin typeface="Calibri" panose="020F0502020204030204" pitchFamily="34" charset="0"/>
                <a:ea typeface="Calibri" panose="020F0502020204030204" pitchFamily="34" charset="0"/>
                <a:cs typeface="Arial" panose="020B0604020202020204" pitchFamily="34" charset="0"/>
              </a:rPr>
              <a:t>detection</a:t>
            </a:r>
            <a:endParaRPr lang="fr-FR" dirty="0">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B604356-334D-4646-BD42-644AB0AEED2D}"/>
              </a:ext>
            </a:extLst>
          </p:cNvPr>
          <p:cNvSpPr txBox="1"/>
          <p:nvPr/>
        </p:nvSpPr>
        <p:spPr>
          <a:xfrm>
            <a:off x="4023360" y="582544"/>
            <a:ext cx="3708400" cy="492122"/>
          </a:xfrm>
          <a:prstGeom prst="rect">
            <a:avLst/>
          </a:prstGeom>
          <a:noFill/>
        </p:spPr>
        <p:txBody>
          <a:bodyPr wrap="square">
            <a:spAutoFit/>
          </a:bodyPr>
          <a:lstStyle/>
          <a:p>
            <a:pPr marL="0" marR="0">
              <a:lnSpc>
                <a:spcPct val="115000"/>
              </a:lnSpc>
              <a:spcAft>
                <a:spcPts val="1000"/>
              </a:spcAft>
            </a:pPr>
            <a:r>
              <a:rPr lang="en-US" sz="2400" dirty="0"/>
              <a:t>normalized confusion matrix</a:t>
            </a:r>
            <a:endParaRPr lang="fr-FR" sz="2400" dirty="0"/>
          </a:p>
        </p:txBody>
      </p:sp>
      <p:pic>
        <p:nvPicPr>
          <p:cNvPr id="5" name="Image 116">
            <a:extLst>
              <a:ext uri="{FF2B5EF4-FFF2-40B4-BE49-F238E27FC236}">
                <a16:creationId xmlns:a16="http://schemas.microsoft.com/office/drawing/2014/main" id="{9233EDB6-ED1C-78E0-0F1B-5752E747CD33}"/>
              </a:ext>
            </a:extLst>
          </p:cNvPr>
          <p:cNvPicPr>
            <a:picLocks/>
          </p:cNvPicPr>
          <p:nvPr/>
        </p:nvPicPr>
        <p:blipFill>
          <a:blip r:embed="rId2" cstate="print"/>
          <a:stretch>
            <a:fillRect/>
          </a:stretch>
        </p:blipFill>
        <p:spPr>
          <a:xfrm>
            <a:off x="6383972" y="1354455"/>
            <a:ext cx="5601335" cy="4718050"/>
          </a:xfrm>
          <a:prstGeom prst="rect">
            <a:avLst/>
          </a:prstGeom>
        </p:spPr>
      </p:pic>
      <p:sp>
        <p:nvSpPr>
          <p:cNvPr id="6" name="TextBox 5">
            <a:extLst>
              <a:ext uri="{FF2B5EF4-FFF2-40B4-BE49-F238E27FC236}">
                <a16:creationId xmlns:a16="http://schemas.microsoft.com/office/drawing/2014/main" id="{2343A132-988A-DD0F-B9A1-7C1AE026CA84}"/>
              </a:ext>
            </a:extLst>
          </p:cNvPr>
          <p:cNvSpPr txBox="1"/>
          <p:nvPr/>
        </p:nvSpPr>
        <p:spPr>
          <a:xfrm>
            <a:off x="7806690" y="6072505"/>
            <a:ext cx="2979420" cy="758669"/>
          </a:xfrm>
          <a:prstGeom prst="rect">
            <a:avLst/>
          </a:prstGeom>
          <a:noFill/>
        </p:spPr>
        <p:txBody>
          <a:bodyPr wrap="square">
            <a:spAutoFit/>
          </a:bodyPr>
          <a:lstStyle/>
          <a:p>
            <a:pPr marL="0" marR="0">
              <a:lnSpc>
                <a:spcPct val="115000"/>
              </a:lnSpc>
              <a:spcAft>
                <a:spcPts val="1000"/>
              </a:spcAft>
            </a:pPr>
            <a:r>
              <a:rPr lang="en-US" sz="4000" dirty="0"/>
              <a:t>Faster R-CNN </a:t>
            </a:r>
            <a:endParaRPr lang="fr-FR" sz="4000" dirty="0"/>
          </a:p>
        </p:txBody>
      </p:sp>
      <p:pic>
        <p:nvPicPr>
          <p:cNvPr id="7" name="Image 117">
            <a:extLst>
              <a:ext uri="{FF2B5EF4-FFF2-40B4-BE49-F238E27FC236}">
                <a16:creationId xmlns:a16="http://schemas.microsoft.com/office/drawing/2014/main" id="{53B92C17-4448-8C14-528B-1C48D81945C0}"/>
              </a:ext>
            </a:extLst>
          </p:cNvPr>
          <p:cNvPicPr>
            <a:picLocks/>
          </p:cNvPicPr>
          <p:nvPr/>
        </p:nvPicPr>
        <p:blipFill>
          <a:blip r:embed="rId3" cstate="print"/>
          <a:stretch>
            <a:fillRect/>
          </a:stretch>
        </p:blipFill>
        <p:spPr>
          <a:xfrm>
            <a:off x="697388" y="1074666"/>
            <a:ext cx="4578827" cy="4893302"/>
          </a:xfrm>
          <a:prstGeom prst="rect">
            <a:avLst/>
          </a:prstGeom>
        </p:spPr>
      </p:pic>
      <p:sp>
        <p:nvSpPr>
          <p:cNvPr id="8" name="TextBox 7">
            <a:extLst>
              <a:ext uri="{FF2B5EF4-FFF2-40B4-BE49-F238E27FC236}">
                <a16:creationId xmlns:a16="http://schemas.microsoft.com/office/drawing/2014/main" id="{59EE5FA7-C0B5-202A-A0EC-BF93A19BE344}"/>
              </a:ext>
            </a:extLst>
          </p:cNvPr>
          <p:cNvSpPr txBox="1"/>
          <p:nvPr/>
        </p:nvSpPr>
        <p:spPr>
          <a:xfrm>
            <a:off x="294640" y="6072504"/>
            <a:ext cx="5273040" cy="758669"/>
          </a:xfrm>
          <a:prstGeom prst="rect">
            <a:avLst/>
          </a:prstGeom>
          <a:noFill/>
        </p:spPr>
        <p:txBody>
          <a:bodyPr wrap="square">
            <a:spAutoFit/>
          </a:bodyPr>
          <a:lstStyle/>
          <a:p>
            <a:pPr marL="0" marR="0" algn="ctr">
              <a:lnSpc>
                <a:spcPct val="115000"/>
              </a:lnSpc>
              <a:spcAft>
                <a:spcPts val="1000"/>
              </a:spcAft>
            </a:pPr>
            <a:r>
              <a:rPr lang="en-US" sz="4000" dirty="0"/>
              <a:t>YOLOv11</a:t>
            </a:r>
            <a:endParaRPr lang="fr-FR" sz="4000" dirty="0"/>
          </a:p>
        </p:txBody>
      </p:sp>
      <p:grpSp>
        <p:nvGrpSpPr>
          <p:cNvPr id="4" name="Group 3">
            <a:extLst>
              <a:ext uri="{FF2B5EF4-FFF2-40B4-BE49-F238E27FC236}">
                <a16:creationId xmlns:a16="http://schemas.microsoft.com/office/drawing/2014/main" id="{CAC73B85-9416-D546-47EB-287D771DF8B4}"/>
              </a:ext>
            </a:extLst>
          </p:cNvPr>
          <p:cNvGrpSpPr/>
          <p:nvPr/>
        </p:nvGrpSpPr>
        <p:grpSpPr>
          <a:xfrm>
            <a:off x="9540240" y="1"/>
            <a:ext cx="2651760" cy="634980"/>
            <a:chOff x="8758971" y="310479"/>
            <a:chExt cx="2538533" cy="524318"/>
          </a:xfrm>
        </p:grpSpPr>
        <p:grpSp>
          <p:nvGrpSpPr>
            <p:cNvPr id="14" name="Group 13">
              <a:extLst>
                <a:ext uri="{FF2B5EF4-FFF2-40B4-BE49-F238E27FC236}">
                  <a16:creationId xmlns:a16="http://schemas.microsoft.com/office/drawing/2014/main" id="{1ACC6FAB-685D-BDF1-6F81-B551138569D9}"/>
                </a:ext>
              </a:extLst>
            </p:cNvPr>
            <p:cNvGrpSpPr/>
            <p:nvPr/>
          </p:nvGrpSpPr>
          <p:grpSpPr>
            <a:xfrm>
              <a:off x="8758971" y="310479"/>
              <a:ext cx="2538533" cy="346380"/>
              <a:chOff x="8758971" y="310479"/>
              <a:chExt cx="2538533" cy="346380"/>
            </a:xfrm>
          </p:grpSpPr>
          <p:sp>
            <p:nvSpPr>
              <p:cNvPr id="16" name="Rectangle 15">
                <a:extLst>
                  <a:ext uri="{FF2B5EF4-FFF2-40B4-BE49-F238E27FC236}">
                    <a16:creationId xmlns:a16="http://schemas.microsoft.com/office/drawing/2014/main" id="{49F6B699-0526-F432-CF6A-DF709F59771C}"/>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Parallelogram 16">
                <a:extLst>
                  <a:ext uri="{FF2B5EF4-FFF2-40B4-BE49-F238E27FC236}">
                    <a16:creationId xmlns:a16="http://schemas.microsoft.com/office/drawing/2014/main" id="{FCDCA23B-1428-76AB-4E96-84D5C8EAA483}"/>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5" name="TextBox 14">
              <a:extLst>
                <a:ext uri="{FF2B5EF4-FFF2-40B4-BE49-F238E27FC236}">
                  <a16:creationId xmlns:a16="http://schemas.microsoft.com/office/drawing/2014/main" id="{C1E6B976-7BAF-CA7F-09FB-1FF57FED4DB1}"/>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1921892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869A6-5706-00A0-2260-EA9587C580D6}"/>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E0A65A1-6801-843B-4B75-921E278FDA8E}"/>
              </a:ext>
            </a:extLst>
          </p:cNvPr>
          <p:cNvGraphicFramePr>
            <a:graphicFrameLocks noGrp="1"/>
          </p:cNvGraphicFramePr>
          <p:nvPr>
            <p:extLst>
              <p:ext uri="{D42A27DB-BD31-4B8C-83A1-F6EECF244321}">
                <p14:modId xmlns:p14="http://schemas.microsoft.com/office/powerpoint/2010/main" val="3824102772"/>
              </p:ext>
            </p:extLst>
          </p:nvPr>
        </p:nvGraphicFramePr>
        <p:xfrm>
          <a:off x="571500" y="532512"/>
          <a:ext cx="11049000" cy="2988816"/>
        </p:xfrm>
        <a:graphic>
          <a:graphicData uri="http://schemas.openxmlformats.org/drawingml/2006/table">
            <a:tbl>
              <a:tblPr firstRow="1" firstCol="1" bandRow="1">
                <a:tableStyleId>{5C22544A-7EE6-4342-B048-85BDC9FD1C3A}</a:tableStyleId>
              </a:tblPr>
              <a:tblGrid>
                <a:gridCol w="1711960">
                  <a:extLst>
                    <a:ext uri="{9D8B030D-6E8A-4147-A177-3AD203B41FA5}">
                      <a16:colId xmlns:a16="http://schemas.microsoft.com/office/drawing/2014/main" val="1632463477"/>
                    </a:ext>
                  </a:extLst>
                </a:gridCol>
                <a:gridCol w="1496060">
                  <a:extLst>
                    <a:ext uri="{9D8B030D-6E8A-4147-A177-3AD203B41FA5}">
                      <a16:colId xmlns:a16="http://schemas.microsoft.com/office/drawing/2014/main" val="2158407692"/>
                    </a:ext>
                  </a:extLst>
                </a:gridCol>
                <a:gridCol w="1412240">
                  <a:extLst>
                    <a:ext uri="{9D8B030D-6E8A-4147-A177-3AD203B41FA5}">
                      <a16:colId xmlns:a16="http://schemas.microsoft.com/office/drawing/2014/main" val="1114943379"/>
                    </a:ext>
                  </a:extLst>
                </a:gridCol>
                <a:gridCol w="6428740">
                  <a:extLst>
                    <a:ext uri="{9D8B030D-6E8A-4147-A177-3AD203B41FA5}">
                      <a16:colId xmlns:a16="http://schemas.microsoft.com/office/drawing/2014/main" val="2003844044"/>
                    </a:ext>
                  </a:extLst>
                </a:gridCol>
              </a:tblGrid>
              <a:tr h="809814">
                <a:tc>
                  <a:txBody>
                    <a:bodyPr/>
                    <a:lstStyle/>
                    <a:p>
                      <a:pPr marL="0" marR="0" algn="ctr">
                        <a:lnSpc>
                          <a:spcPct val="115000"/>
                        </a:lnSpc>
                        <a:spcAft>
                          <a:spcPts val="1000"/>
                        </a:spcAft>
                        <a:buNone/>
                      </a:pPr>
                      <a:r>
                        <a:rPr lang="fr-FR" sz="1600">
                          <a:effectLst/>
                        </a:rPr>
                        <a:t>Class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Faster R-CNN (Precision)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YOLOv11 (Precision)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Comparative </a:t>
                      </a:r>
                      <a:r>
                        <a:rPr lang="fr-FR" sz="1600" dirty="0" err="1">
                          <a:effectLst/>
                        </a:rPr>
                        <a:t>Analysis</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965552599"/>
                  </a:ext>
                </a:extLst>
              </a:tr>
              <a:tr h="406732">
                <a:tc>
                  <a:txBody>
                    <a:bodyPr/>
                    <a:lstStyle/>
                    <a:p>
                      <a:pPr marL="0" marR="0" algn="ctr">
                        <a:lnSpc>
                          <a:spcPct val="115000"/>
                        </a:lnSpc>
                        <a:spcAft>
                          <a:spcPts val="1000"/>
                        </a:spcAft>
                        <a:buNone/>
                      </a:pPr>
                      <a:r>
                        <a:rPr lang="fr-FR" sz="1600">
                          <a:effectLst/>
                        </a:rPr>
                        <a:t>Ambulance</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89%</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75%</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a:effectLst/>
                        </a:rPr>
                        <a:t>Faster R-CNN detects ambulances better, with less overall confusion.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417209543"/>
                  </a:ext>
                </a:extLst>
              </a:tr>
              <a:tr h="552074">
                <a:tc>
                  <a:txBody>
                    <a:bodyPr/>
                    <a:lstStyle/>
                    <a:p>
                      <a:pPr marL="0" marR="0" algn="ctr">
                        <a:lnSpc>
                          <a:spcPct val="115000"/>
                        </a:lnSpc>
                        <a:spcAft>
                          <a:spcPts val="1000"/>
                        </a:spcAft>
                        <a:buNone/>
                      </a:pPr>
                      <a:r>
                        <a:rPr lang="fr-FR" sz="1600">
                          <a:effectLst/>
                        </a:rPr>
                        <a:t>Bus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89%</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74%</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a:effectLst/>
                        </a:rPr>
                        <a:t>Faster R-CNN offers better stability and less confusion with the background.</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00338057"/>
                  </a:ext>
                </a:extLst>
              </a:tr>
              <a:tr h="406732">
                <a:tc>
                  <a:txBody>
                    <a:bodyPr/>
                    <a:lstStyle/>
                    <a:p>
                      <a:pPr marL="0" marR="0" algn="ctr">
                        <a:lnSpc>
                          <a:spcPct val="115000"/>
                        </a:lnSpc>
                        <a:spcAft>
                          <a:spcPts val="1000"/>
                        </a:spcAft>
                        <a:buNone/>
                      </a:pPr>
                      <a:r>
                        <a:rPr lang="fr-FR" sz="1600">
                          <a:effectLst/>
                        </a:rPr>
                        <a:t>Car</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97%</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49%</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a:effectLst/>
                        </a:rPr>
                        <a:t>Significant gap: Faster R-CNN clearly outperforms YOLOv11.</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478866180"/>
                  </a:ext>
                </a:extLst>
              </a:tr>
              <a:tr h="406732">
                <a:tc>
                  <a:txBody>
                    <a:bodyPr/>
                    <a:lstStyle/>
                    <a:p>
                      <a:pPr marL="0" marR="0" algn="ctr">
                        <a:lnSpc>
                          <a:spcPct val="115000"/>
                        </a:lnSpc>
                        <a:spcAft>
                          <a:spcPts val="1000"/>
                        </a:spcAft>
                        <a:buNone/>
                      </a:pPr>
                      <a:r>
                        <a:rPr lang="fr-FR" sz="1600">
                          <a:effectLst/>
                        </a:rPr>
                        <a:t>Motorcycle</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85%</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52%</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a:effectLst/>
                        </a:rPr>
                        <a:t>Despite a lower precision, Faster R-CNN still performs significantly better.</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398631385"/>
                  </a:ext>
                </a:extLst>
              </a:tr>
              <a:tr h="406732">
                <a:tc>
                  <a:txBody>
                    <a:bodyPr/>
                    <a:lstStyle/>
                    <a:p>
                      <a:pPr marL="0" marR="0" algn="ctr">
                        <a:lnSpc>
                          <a:spcPct val="115000"/>
                        </a:lnSpc>
                        <a:spcAft>
                          <a:spcPts val="1000"/>
                        </a:spcAft>
                        <a:buNone/>
                      </a:pPr>
                      <a:r>
                        <a:rPr lang="fr-FR" sz="1600">
                          <a:effectLst/>
                        </a:rPr>
                        <a:t>Truck</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80%</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20%</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dirty="0">
                          <a:effectLst/>
                        </a:rPr>
                        <a:t>YOLOv11 shows very poor performance; Faster R-CNN is far superior.</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752272521"/>
                  </a:ext>
                </a:extLst>
              </a:tr>
            </a:tbl>
          </a:graphicData>
        </a:graphic>
      </p:graphicFrame>
      <p:sp>
        <p:nvSpPr>
          <p:cNvPr id="4" name="TextBox 3">
            <a:extLst>
              <a:ext uri="{FF2B5EF4-FFF2-40B4-BE49-F238E27FC236}">
                <a16:creationId xmlns:a16="http://schemas.microsoft.com/office/drawing/2014/main" id="{9E950A3D-2C03-60E8-F48A-92D18087D32E}"/>
              </a:ext>
            </a:extLst>
          </p:cNvPr>
          <p:cNvSpPr txBox="1"/>
          <p:nvPr/>
        </p:nvSpPr>
        <p:spPr>
          <a:xfrm>
            <a:off x="810260" y="3767031"/>
            <a:ext cx="10810240" cy="2558457"/>
          </a:xfrm>
          <a:prstGeom prst="rect">
            <a:avLst/>
          </a:prstGeom>
          <a:noFill/>
        </p:spPr>
        <p:txBody>
          <a:bodyPr wrap="square">
            <a:spAutoFit/>
          </a:bodyPr>
          <a:lstStyle/>
          <a:p>
            <a:pPr marL="0" marR="0">
              <a:lnSpc>
                <a:spcPct val="115000"/>
              </a:lnSpc>
              <a:spcAft>
                <a:spcPts val="1000"/>
              </a:spcAft>
              <a:buNone/>
            </a:pPr>
            <a:r>
              <a:rPr lang="en-US" sz="1800" b="1" dirty="0">
                <a:effectLst/>
                <a:ea typeface="Times New Roman" panose="02020603050405020304" pitchFamily="18" charset="0"/>
                <a:cs typeface="Arial" panose="020B0604020202020204" pitchFamily="34" charset="0"/>
              </a:rPr>
              <a:t>Faster R-CNN</a:t>
            </a:r>
            <a:r>
              <a:rPr lang="en-US" sz="1800" dirty="0">
                <a:effectLst/>
                <a:ea typeface="Times New Roman" panose="02020603050405020304" pitchFamily="18" charset="0"/>
                <a:cs typeface="Arial" panose="020B0604020202020204" pitchFamily="34" charset="0"/>
              </a:rPr>
              <a:t> demonstrates </a:t>
            </a:r>
            <a:r>
              <a:rPr lang="en-US" sz="1800" b="1" dirty="0">
                <a:effectLst/>
                <a:ea typeface="Times New Roman" panose="02020603050405020304" pitchFamily="18" charset="0"/>
                <a:cs typeface="Arial" panose="020B0604020202020204" pitchFamily="34" charset="0"/>
              </a:rPr>
              <a:t>superior precision</a:t>
            </a:r>
            <a:r>
              <a:rPr lang="en-US" sz="1800" dirty="0">
                <a:effectLst/>
                <a:ea typeface="Times New Roman" panose="02020603050405020304" pitchFamily="18" charset="0"/>
                <a:cs typeface="Arial" panose="020B0604020202020204" pitchFamily="34" charset="0"/>
              </a:rPr>
              <a:t> and </a:t>
            </a:r>
            <a:r>
              <a:rPr lang="en-US" sz="1800" b="1" dirty="0">
                <a:effectLst/>
                <a:ea typeface="Times New Roman" panose="02020603050405020304" pitchFamily="18" charset="0"/>
                <a:cs typeface="Arial" panose="020B0604020202020204" pitchFamily="34" charset="0"/>
              </a:rPr>
              <a:t>better control over small or complex objects</a:t>
            </a:r>
            <a:r>
              <a:rPr lang="en-US" sz="1800" dirty="0">
                <a:effectLst/>
                <a:ea typeface="Times New Roman" panose="02020603050405020304" pitchFamily="18" charset="0"/>
                <a:cs typeface="Arial" panose="020B0604020202020204" pitchFamily="34" charset="0"/>
              </a:rPr>
              <a:t>, making it highly suitable for tasks requiring </a:t>
            </a:r>
            <a:r>
              <a:rPr lang="en-US" sz="1800" b="1" dirty="0">
                <a:effectLst/>
                <a:ea typeface="Times New Roman" panose="02020603050405020304" pitchFamily="18" charset="0"/>
                <a:cs typeface="Arial" panose="020B0604020202020204" pitchFamily="34" charset="0"/>
              </a:rPr>
              <a:t>high accuracy</a:t>
            </a:r>
            <a:r>
              <a:rPr lang="en-US" sz="1800" dirty="0">
                <a:effectLst/>
                <a:ea typeface="Times New Roman" panose="02020603050405020304" pitchFamily="18" charset="0"/>
                <a:cs typeface="Arial" panose="020B0604020202020204" pitchFamily="34" charset="0"/>
              </a:rPr>
              <a:t>. It shows </a:t>
            </a:r>
            <a:r>
              <a:rPr lang="en-US" sz="1800" b="1" dirty="0">
                <a:effectLst/>
                <a:ea typeface="Times New Roman" panose="02020603050405020304" pitchFamily="18" charset="0"/>
                <a:cs typeface="Arial" panose="020B0604020202020204" pitchFamily="34" charset="0"/>
              </a:rPr>
              <a:t>minimal confusion</a:t>
            </a:r>
            <a:r>
              <a:rPr lang="en-US" sz="1800" dirty="0">
                <a:effectLst/>
                <a:ea typeface="Times New Roman" panose="02020603050405020304" pitchFamily="18" charset="0"/>
                <a:cs typeface="Arial" panose="020B0604020202020204" pitchFamily="34" charset="0"/>
              </a:rPr>
              <a:t> between object classes and the background.</a:t>
            </a:r>
            <a:endParaRPr lang="fr-FR" sz="1600" dirty="0">
              <a:effectLst/>
              <a:ea typeface="Calibri" panose="020F0502020204030204" pitchFamily="34" charset="0"/>
              <a:cs typeface="Arial" panose="020B0604020202020204" pitchFamily="34" charset="0"/>
            </a:endParaRPr>
          </a:p>
          <a:p>
            <a:pPr marL="285750" marR="0" indent="-285750">
              <a:lnSpc>
                <a:spcPct val="115000"/>
              </a:lnSpc>
              <a:spcAft>
                <a:spcPts val="1000"/>
              </a:spcAft>
              <a:buFont typeface="Wingdings" panose="05000000000000000000" pitchFamily="2" charset="2"/>
              <a:buChar char="§"/>
            </a:pPr>
            <a:r>
              <a:rPr lang="en-US" sz="1800" b="1" dirty="0">
                <a:effectLst/>
                <a:ea typeface="Times New Roman" panose="02020603050405020304" pitchFamily="18" charset="0"/>
                <a:cs typeface="Arial" panose="020B0604020202020204" pitchFamily="34" charset="0"/>
              </a:rPr>
              <a:t>YOLOv11</a:t>
            </a:r>
            <a:r>
              <a:rPr lang="en-US" sz="1800" dirty="0">
                <a:effectLst/>
                <a:ea typeface="Times New Roman" panose="02020603050405020304" pitchFamily="18" charset="0"/>
                <a:cs typeface="Arial" panose="020B0604020202020204" pitchFamily="34" charset="0"/>
              </a:rPr>
              <a:t>, while </a:t>
            </a:r>
            <a:r>
              <a:rPr lang="en-US" sz="1800" b="1" dirty="0">
                <a:effectLst/>
                <a:ea typeface="Times New Roman" panose="02020603050405020304" pitchFamily="18" charset="0"/>
                <a:cs typeface="Arial" panose="020B0604020202020204" pitchFamily="34" charset="0"/>
              </a:rPr>
              <a:t>much faster</a:t>
            </a:r>
            <a:r>
              <a:rPr lang="en-US" sz="1800" dirty="0">
                <a:effectLst/>
                <a:ea typeface="Times New Roman" panose="02020603050405020304" pitchFamily="18" charset="0"/>
                <a:cs typeface="Arial" panose="020B0604020202020204" pitchFamily="34" charset="0"/>
              </a:rPr>
              <a:t>, suffers from </a:t>
            </a:r>
            <a:r>
              <a:rPr lang="en-US" sz="1800" b="1" dirty="0">
                <a:effectLst/>
                <a:ea typeface="Times New Roman" panose="02020603050405020304" pitchFamily="18" charset="0"/>
                <a:cs typeface="Arial" panose="020B0604020202020204" pitchFamily="34" charset="0"/>
              </a:rPr>
              <a:t>high confusion</a:t>
            </a:r>
            <a:r>
              <a:rPr lang="en-US" sz="1800" dirty="0">
                <a:effectLst/>
                <a:ea typeface="Times New Roman" panose="02020603050405020304" pitchFamily="18" charset="0"/>
                <a:cs typeface="Arial" panose="020B0604020202020204" pitchFamily="34" charset="0"/>
              </a:rPr>
              <a:t>, particularly for small or partially visible objects . It often </a:t>
            </a:r>
            <a:r>
              <a:rPr lang="en-US" sz="1800" b="1" dirty="0">
                <a:effectLst/>
                <a:ea typeface="Times New Roman" panose="02020603050405020304" pitchFamily="18" charset="0"/>
                <a:cs typeface="Arial" panose="020B0604020202020204" pitchFamily="34" charset="0"/>
              </a:rPr>
              <a:t>misclassifies these as background or other vehicles</a:t>
            </a:r>
            <a:r>
              <a:rPr lang="en-US" sz="1800" dirty="0">
                <a:effectLst/>
                <a:ea typeface="Times New Roman" panose="02020603050405020304" pitchFamily="18" charset="0"/>
                <a:cs typeface="Arial" panose="020B0604020202020204" pitchFamily="34" charset="0"/>
              </a:rPr>
              <a:t>, significantly lowering its precision.</a:t>
            </a:r>
            <a:endParaRPr lang="fr-FR" sz="1600" dirty="0">
              <a:effectLst/>
              <a:ea typeface="Calibri" panose="020F0502020204030204" pitchFamily="34" charset="0"/>
              <a:cs typeface="Arial" panose="020B0604020202020204" pitchFamily="34" charset="0"/>
            </a:endParaRPr>
          </a:p>
          <a:p>
            <a:pPr marL="285750" marR="0" indent="-285750">
              <a:lnSpc>
                <a:spcPct val="115000"/>
              </a:lnSpc>
              <a:spcAft>
                <a:spcPts val="1000"/>
              </a:spcAft>
              <a:buFont typeface="Wingdings" panose="05000000000000000000" pitchFamily="2" charset="2"/>
              <a:buChar char="§"/>
            </a:pPr>
            <a:r>
              <a:rPr lang="en-US" sz="1800" dirty="0">
                <a:effectLst/>
                <a:ea typeface="Times New Roman" panose="02020603050405020304" pitchFamily="18" charset="0"/>
                <a:cs typeface="Arial" panose="020B0604020202020204" pitchFamily="34" charset="0"/>
              </a:rPr>
              <a:t>In essence, </a:t>
            </a:r>
            <a:r>
              <a:rPr lang="en-US" sz="1800" b="1" dirty="0">
                <a:effectLst/>
                <a:ea typeface="Times New Roman" panose="02020603050405020304" pitchFamily="18" charset="0"/>
                <a:cs typeface="Arial" panose="020B0604020202020204" pitchFamily="34" charset="0"/>
              </a:rPr>
              <a:t>Faster R-CNN reduces class confusion and improves reliability</a:t>
            </a:r>
            <a:r>
              <a:rPr lang="en-US" sz="1800" dirty="0">
                <a:effectLst/>
                <a:ea typeface="Times New Roman" panose="02020603050405020304" pitchFamily="18" charset="0"/>
                <a:cs typeface="Arial" panose="020B0604020202020204" pitchFamily="34" charset="0"/>
              </a:rPr>
              <a:t>, while </a:t>
            </a:r>
            <a:r>
              <a:rPr lang="en-US" sz="1800" b="1" dirty="0">
                <a:effectLst/>
                <a:ea typeface="Times New Roman" panose="02020603050405020304" pitchFamily="18" charset="0"/>
                <a:cs typeface="Arial" panose="020B0604020202020204" pitchFamily="34" charset="0"/>
              </a:rPr>
              <a:t>YOLOv11 trades precision for speed</a:t>
            </a:r>
            <a:r>
              <a:rPr lang="en-US" sz="1800" dirty="0">
                <a:effectLst/>
                <a:ea typeface="Times New Roman" panose="02020603050405020304" pitchFamily="18" charset="0"/>
                <a:cs typeface="Arial" panose="020B0604020202020204" pitchFamily="34" charset="0"/>
              </a:rPr>
              <a:t>, making it more prone to errors in challenging detection scenarios.</a:t>
            </a:r>
            <a:endParaRPr lang="fr-FR" sz="1600" dirty="0">
              <a:effectLst/>
              <a:ea typeface="Calibri" panose="020F050202020403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C67AD2E8-DDB7-E8B2-7A83-8F4B4EAAF214}"/>
              </a:ext>
            </a:extLst>
          </p:cNvPr>
          <p:cNvGrpSpPr/>
          <p:nvPr/>
        </p:nvGrpSpPr>
        <p:grpSpPr>
          <a:xfrm>
            <a:off x="9540240" y="1"/>
            <a:ext cx="2651760" cy="634980"/>
            <a:chOff x="8758971" y="310479"/>
            <a:chExt cx="2538533" cy="524318"/>
          </a:xfrm>
        </p:grpSpPr>
        <p:grpSp>
          <p:nvGrpSpPr>
            <p:cNvPr id="10" name="Group 9">
              <a:extLst>
                <a:ext uri="{FF2B5EF4-FFF2-40B4-BE49-F238E27FC236}">
                  <a16:creationId xmlns:a16="http://schemas.microsoft.com/office/drawing/2014/main" id="{FC331039-F363-033D-7349-B8C23AEF0B5B}"/>
                </a:ext>
              </a:extLst>
            </p:cNvPr>
            <p:cNvGrpSpPr/>
            <p:nvPr/>
          </p:nvGrpSpPr>
          <p:grpSpPr>
            <a:xfrm>
              <a:off x="8758971" y="310479"/>
              <a:ext cx="2538533" cy="346380"/>
              <a:chOff x="8758971" y="310479"/>
              <a:chExt cx="2538533" cy="346380"/>
            </a:xfrm>
          </p:grpSpPr>
          <p:sp>
            <p:nvSpPr>
              <p:cNvPr id="12" name="Rectangle 11">
                <a:extLst>
                  <a:ext uri="{FF2B5EF4-FFF2-40B4-BE49-F238E27FC236}">
                    <a16:creationId xmlns:a16="http://schemas.microsoft.com/office/drawing/2014/main" id="{ABE18A99-C88E-9B08-B4A2-2CBAA4C8D282}"/>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Parallelogram 12">
                <a:extLst>
                  <a:ext uri="{FF2B5EF4-FFF2-40B4-BE49-F238E27FC236}">
                    <a16:creationId xmlns:a16="http://schemas.microsoft.com/office/drawing/2014/main" id="{E1882B0E-DB07-C887-7533-89E843F30766}"/>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1" name="TextBox 10">
              <a:extLst>
                <a:ext uri="{FF2B5EF4-FFF2-40B4-BE49-F238E27FC236}">
                  <a16:creationId xmlns:a16="http://schemas.microsoft.com/office/drawing/2014/main" id="{923DC8F3-E12C-2D0F-D95C-730D6912DFAB}"/>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905995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A0A97-6F8A-7060-144A-0CC90B296B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C0F382-E7F9-3F3B-E2D7-062897C68A78}"/>
              </a:ext>
            </a:extLst>
          </p:cNvPr>
          <p:cNvSpPr txBox="1"/>
          <p:nvPr/>
        </p:nvSpPr>
        <p:spPr>
          <a:xfrm>
            <a:off x="457200" y="449081"/>
            <a:ext cx="4561840" cy="523220"/>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en-US" dirty="0" err="1"/>
              <a:t>Vehicule</a:t>
            </a:r>
            <a:r>
              <a:rPr lang="en-US" dirty="0"/>
              <a:t> Detection Examples:</a:t>
            </a:r>
            <a:endParaRPr lang="fr-FR" dirty="0"/>
          </a:p>
        </p:txBody>
      </p:sp>
      <p:pic>
        <p:nvPicPr>
          <p:cNvPr id="8194" name="Image 119" descr="edd68982-44ca-44c1-bd87-0f1cb3a7159e.jpeg">
            <a:extLst>
              <a:ext uri="{FF2B5EF4-FFF2-40B4-BE49-F238E27FC236}">
                <a16:creationId xmlns:a16="http://schemas.microsoft.com/office/drawing/2014/main" id="{BDA4E482-1FB6-A961-CCD4-2543D00A113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8726" y="2062480"/>
            <a:ext cx="5801968" cy="2916488"/>
          </a:xfrm>
          <a:prstGeom prst="rect">
            <a:avLst/>
          </a:prstGeom>
          <a:noFill/>
          <a:extLst>
            <a:ext uri="{909E8E84-426E-40DD-AFC4-6F175D3DCCD1}">
              <a14:hiddenFill xmlns:a14="http://schemas.microsoft.com/office/drawing/2010/main">
                <a:solidFill>
                  <a:srgbClr val="FFFFFF"/>
                </a:solidFill>
              </a14:hiddenFill>
            </a:ext>
          </a:extLst>
        </p:spPr>
      </p:pic>
      <p:pic>
        <p:nvPicPr>
          <p:cNvPr id="8193" name="Image 120" descr="detected_output.jpg">
            <a:extLst>
              <a:ext uri="{FF2B5EF4-FFF2-40B4-BE49-F238E27FC236}">
                <a16:creationId xmlns:a16="http://schemas.microsoft.com/office/drawing/2014/main" id="{6D016D97-1DF0-5218-E2B3-820C450DC8E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308" y="2016510"/>
            <a:ext cx="5710517" cy="29624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2025024-C154-628A-4D62-698F1011CC11}"/>
              </a:ext>
            </a:extLst>
          </p:cNvPr>
          <p:cNvSpPr>
            <a:spLocks noChangeArrowheads="1"/>
          </p:cNvSpPr>
          <p:nvPr/>
        </p:nvSpPr>
        <p:spPr bwMode="auto">
          <a:xfrm>
            <a:off x="959487" y="160528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09370" tIns="837936" rIns="449121" bIns="723672" numCol="1" anchor="ctr" anchorCtr="0" compatLnSpc="1">
            <a:prstTxWarp prst="textNoShape">
              <a:avLst/>
            </a:prstTxWarp>
            <a:spAutoFit/>
          </a:bodyPr>
          <a:lstStyle/>
          <a:p>
            <a:endParaRPr lang="fr-FR"/>
          </a:p>
        </p:txBody>
      </p:sp>
      <p:sp>
        <p:nvSpPr>
          <p:cNvPr id="4" name="Rectangle 4">
            <a:extLst>
              <a:ext uri="{FF2B5EF4-FFF2-40B4-BE49-F238E27FC236}">
                <a16:creationId xmlns:a16="http://schemas.microsoft.com/office/drawing/2014/main" id="{29FF7C5A-AE06-70C7-12A9-8420A8FCA928}"/>
              </a:ext>
            </a:extLst>
          </p:cNvPr>
          <p:cNvSpPr>
            <a:spLocks noChangeArrowheads="1"/>
          </p:cNvSpPr>
          <p:nvPr/>
        </p:nvSpPr>
        <p:spPr bwMode="auto">
          <a:xfrm>
            <a:off x="6543197" y="5491162"/>
            <a:ext cx="51930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2400" b="1" i="0" u="none" strike="noStrike" cap="none" normalizeH="0" baseline="0" dirty="0">
                <a:ln>
                  <a:noFill/>
                </a:ln>
                <a:effectLst/>
                <a:latin typeface="Arial" panose="020B0604020202020204" pitchFamily="34" charset="0"/>
                <a:ea typeface="Times New Roman" panose="02020603050405020304" pitchFamily="18" charset="0"/>
              </a:rPr>
              <a:t>Vehicle Detection by Faster RCNN</a:t>
            </a:r>
            <a:endParaRPr kumimoji="0" lang="fr-FR" altLang="fr-FR" sz="1200" b="0" i="0" u="none" strike="noStrike" cap="none" normalizeH="0" baseline="0" dirty="0">
              <a:ln>
                <a:noFill/>
              </a:ln>
              <a:effectLst/>
              <a:latin typeface="Arial" panose="020B0604020202020204" pitchFamily="34" charset="0"/>
            </a:endParaRPr>
          </a:p>
        </p:txBody>
      </p:sp>
      <p:sp>
        <p:nvSpPr>
          <p:cNvPr id="5" name="Rectangle 5">
            <a:extLst>
              <a:ext uri="{FF2B5EF4-FFF2-40B4-BE49-F238E27FC236}">
                <a16:creationId xmlns:a16="http://schemas.microsoft.com/office/drawing/2014/main" id="{BFC0E2CF-0851-A721-BEF6-8B37026D1FA0}"/>
              </a:ext>
            </a:extLst>
          </p:cNvPr>
          <p:cNvSpPr>
            <a:spLocks noChangeArrowheads="1"/>
          </p:cNvSpPr>
          <p:nvPr/>
        </p:nvSpPr>
        <p:spPr bwMode="auto">
          <a:xfrm>
            <a:off x="759144" y="5498941"/>
            <a:ext cx="49014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2400" b="1" i="0" u="none" strike="noStrike" cap="none" normalizeH="0" baseline="0" dirty="0">
                <a:ln>
                  <a:noFill/>
                </a:ln>
                <a:effectLst/>
                <a:latin typeface="Arial" panose="020B0604020202020204" pitchFamily="34" charset="0"/>
                <a:ea typeface="Times New Roman" panose="02020603050405020304" pitchFamily="18" charset="0"/>
              </a:rPr>
              <a:t>Vehicle detection by YOLOv11</a:t>
            </a:r>
          </a:p>
        </p:txBody>
      </p:sp>
      <p:grpSp>
        <p:nvGrpSpPr>
          <p:cNvPr id="11" name="Group 10">
            <a:extLst>
              <a:ext uri="{FF2B5EF4-FFF2-40B4-BE49-F238E27FC236}">
                <a16:creationId xmlns:a16="http://schemas.microsoft.com/office/drawing/2014/main" id="{9B32C009-AC18-E6EB-023C-7BF0D2772F77}"/>
              </a:ext>
            </a:extLst>
          </p:cNvPr>
          <p:cNvGrpSpPr/>
          <p:nvPr/>
        </p:nvGrpSpPr>
        <p:grpSpPr>
          <a:xfrm>
            <a:off x="9540240" y="1"/>
            <a:ext cx="2651760" cy="634980"/>
            <a:chOff x="8758971" y="310479"/>
            <a:chExt cx="2538533" cy="524318"/>
          </a:xfrm>
        </p:grpSpPr>
        <p:grpSp>
          <p:nvGrpSpPr>
            <p:cNvPr id="12" name="Group 11">
              <a:extLst>
                <a:ext uri="{FF2B5EF4-FFF2-40B4-BE49-F238E27FC236}">
                  <a16:creationId xmlns:a16="http://schemas.microsoft.com/office/drawing/2014/main" id="{EC0A066D-F308-11EB-1232-AC1F7772054A}"/>
                </a:ext>
              </a:extLst>
            </p:cNvPr>
            <p:cNvGrpSpPr/>
            <p:nvPr/>
          </p:nvGrpSpPr>
          <p:grpSpPr>
            <a:xfrm>
              <a:off x="8758971" y="310479"/>
              <a:ext cx="2538533" cy="346380"/>
              <a:chOff x="8758971" y="310479"/>
              <a:chExt cx="2538533" cy="346380"/>
            </a:xfrm>
          </p:grpSpPr>
          <p:sp>
            <p:nvSpPr>
              <p:cNvPr id="14" name="Rectangle 13">
                <a:extLst>
                  <a:ext uri="{FF2B5EF4-FFF2-40B4-BE49-F238E27FC236}">
                    <a16:creationId xmlns:a16="http://schemas.microsoft.com/office/drawing/2014/main" id="{CD8C9FEB-C1D8-2AEA-AD6A-2FCCE500E983}"/>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Parallelogram 14">
                <a:extLst>
                  <a:ext uri="{FF2B5EF4-FFF2-40B4-BE49-F238E27FC236}">
                    <a16:creationId xmlns:a16="http://schemas.microsoft.com/office/drawing/2014/main" id="{BC215166-5D33-67A3-CE9C-101391C3CE0F}"/>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3" name="TextBox 12">
              <a:extLst>
                <a:ext uri="{FF2B5EF4-FFF2-40B4-BE49-F238E27FC236}">
                  <a16:creationId xmlns:a16="http://schemas.microsoft.com/office/drawing/2014/main" id="{9BA1F8D7-1365-0C68-A126-939D2230D15C}"/>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2279820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3E6D6-70EB-1919-68C4-3AD0B24A43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D8B7E4-B28D-0916-BE9C-A1DE30FE3B15}"/>
              </a:ext>
            </a:extLst>
          </p:cNvPr>
          <p:cNvSpPr txBox="1"/>
          <p:nvPr/>
        </p:nvSpPr>
        <p:spPr>
          <a:xfrm>
            <a:off x="294640" y="205241"/>
            <a:ext cx="2915920" cy="523220"/>
          </a:xfrm>
          <a:prstGeom prst="rect">
            <a:avLst/>
          </a:prstGeom>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fr-FR" dirty="0">
                <a:effectLst/>
                <a:latin typeface="Calibri" panose="020F0502020204030204" pitchFamily="34" charset="0"/>
                <a:ea typeface="Calibri" panose="020F0502020204030204" pitchFamily="34" charset="0"/>
                <a:cs typeface="Arial" panose="020B0604020202020204" pitchFamily="34" charset="0"/>
              </a:rPr>
              <a:t>satellite </a:t>
            </a:r>
            <a:r>
              <a:rPr lang="fr-FR" dirty="0" err="1">
                <a:effectLst/>
                <a:latin typeface="Calibri" panose="020F0502020204030204" pitchFamily="34" charset="0"/>
                <a:ea typeface="Calibri" panose="020F0502020204030204" pitchFamily="34" charset="0"/>
                <a:cs typeface="Arial" panose="020B0604020202020204" pitchFamily="34" charset="0"/>
              </a:rPr>
              <a:t>detection</a:t>
            </a:r>
            <a:endParaRPr lang="fr-FR" dirty="0">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F88B3CB4-C0CB-9157-C6E9-85197C1CCD24}"/>
              </a:ext>
            </a:extLst>
          </p:cNvPr>
          <p:cNvSpPr txBox="1"/>
          <p:nvPr/>
        </p:nvSpPr>
        <p:spPr>
          <a:xfrm>
            <a:off x="3713480" y="635638"/>
            <a:ext cx="3708400" cy="492122"/>
          </a:xfrm>
          <a:prstGeom prst="rect">
            <a:avLst/>
          </a:prstGeom>
          <a:noFill/>
        </p:spPr>
        <p:txBody>
          <a:bodyPr wrap="square">
            <a:spAutoFit/>
          </a:bodyPr>
          <a:lstStyle/>
          <a:p>
            <a:pPr marL="0" marR="0">
              <a:lnSpc>
                <a:spcPct val="115000"/>
              </a:lnSpc>
              <a:spcAft>
                <a:spcPts val="1000"/>
              </a:spcAft>
            </a:pPr>
            <a:r>
              <a:rPr lang="en-US" sz="2400" dirty="0"/>
              <a:t>normalized confusion matrix</a:t>
            </a:r>
            <a:endParaRPr lang="fr-FR" sz="2400" dirty="0"/>
          </a:p>
        </p:txBody>
      </p:sp>
      <p:sp>
        <p:nvSpPr>
          <p:cNvPr id="5" name="TextBox 4">
            <a:extLst>
              <a:ext uri="{FF2B5EF4-FFF2-40B4-BE49-F238E27FC236}">
                <a16:creationId xmlns:a16="http://schemas.microsoft.com/office/drawing/2014/main" id="{53711776-C90D-EAE1-8BC1-2BA19D890580}"/>
              </a:ext>
            </a:extLst>
          </p:cNvPr>
          <p:cNvSpPr txBox="1"/>
          <p:nvPr/>
        </p:nvSpPr>
        <p:spPr>
          <a:xfrm>
            <a:off x="7806690" y="6072505"/>
            <a:ext cx="2979420" cy="758669"/>
          </a:xfrm>
          <a:prstGeom prst="rect">
            <a:avLst/>
          </a:prstGeom>
          <a:noFill/>
        </p:spPr>
        <p:txBody>
          <a:bodyPr wrap="square">
            <a:spAutoFit/>
          </a:bodyPr>
          <a:lstStyle/>
          <a:p>
            <a:pPr marL="0" marR="0">
              <a:lnSpc>
                <a:spcPct val="115000"/>
              </a:lnSpc>
              <a:spcAft>
                <a:spcPts val="1000"/>
              </a:spcAft>
            </a:pPr>
            <a:r>
              <a:rPr lang="en-US" sz="4000" dirty="0"/>
              <a:t>Faster R-CNN </a:t>
            </a:r>
            <a:endParaRPr lang="fr-FR" sz="4000" dirty="0"/>
          </a:p>
        </p:txBody>
      </p:sp>
      <p:sp>
        <p:nvSpPr>
          <p:cNvPr id="7" name="TextBox 6">
            <a:extLst>
              <a:ext uri="{FF2B5EF4-FFF2-40B4-BE49-F238E27FC236}">
                <a16:creationId xmlns:a16="http://schemas.microsoft.com/office/drawing/2014/main" id="{91DFB581-173C-B4B2-DEFD-9EE7FBAD6707}"/>
              </a:ext>
            </a:extLst>
          </p:cNvPr>
          <p:cNvSpPr txBox="1"/>
          <p:nvPr/>
        </p:nvSpPr>
        <p:spPr>
          <a:xfrm>
            <a:off x="294640" y="6072504"/>
            <a:ext cx="5273040" cy="758669"/>
          </a:xfrm>
          <a:prstGeom prst="rect">
            <a:avLst/>
          </a:prstGeom>
          <a:noFill/>
        </p:spPr>
        <p:txBody>
          <a:bodyPr wrap="square">
            <a:spAutoFit/>
          </a:bodyPr>
          <a:lstStyle/>
          <a:p>
            <a:pPr marL="0" marR="0" algn="ctr">
              <a:lnSpc>
                <a:spcPct val="115000"/>
              </a:lnSpc>
              <a:spcAft>
                <a:spcPts val="1000"/>
              </a:spcAft>
            </a:pPr>
            <a:r>
              <a:rPr lang="en-US" sz="4000" dirty="0"/>
              <a:t>YOLOv11</a:t>
            </a:r>
            <a:endParaRPr lang="fr-FR" sz="4000" dirty="0"/>
          </a:p>
        </p:txBody>
      </p:sp>
      <p:pic>
        <p:nvPicPr>
          <p:cNvPr id="8" name="Image 125">
            <a:extLst>
              <a:ext uri="{FF2B5EF4-FFF2-40B4-BE49-F238E27FC236}">
                <a16:creationId xmlns:a16="http://schemas.microsoft.com/office/drawing/2014/main" id="{E4165C8C-2E24-ADA5-B272-B1596D8CF2A9}"/>
              </a:ext>
            </a:extLst>
          </p:cNvPr>
          <p:cNvPicPr>
            <a:picLocks/>
          </p:cNvPicPr>
          <p:nvPr/>
        </p:nvPicPr>
        <p:blipFill>
          <a:blip r:embed="rId2" cstate="print"/>
          <a:stretch>
            <a:fillRect/>
          </a:stretch>
        </p:blipFill>
        <p:spPr>
          <a:xfrm>
            <a:off x="6096000" y="1239838"/>
            <a:ext cx="5804535" cy="4630465"/>
          </a:xfrm>
          <a:prstGeom prst="rect">
            <a:avLst/>
          </a:prstGeom>
        </p:spPr>
      </p:pic>
      <p:pic>
        <p:nvPicPr>
          <p:cNvPr id="9" name="Image 126">
            <a:extLst>
              <a:ext uri="{FF2B5EF4-FFF2-40B4-BE49-F238E27FC236}">
                <a16:creationId xmlns:a16="http://schemas.microsoft.com/office/drawing/2014/main" id="{23334A27-633B-5FD9-6275-C19C96D4C611}"/>
              </a:ext>
            </a:extLst>
          </p:cNvPr>
          <p:cNvPicPr>
            <a:picLocks/>
          </p:cNvPicPr>
          <p:nvPr/>
        </p:nvPicPr>
        <p:blipFill>
          <a:blip r:embed="rId3" cstate="print"/>
          <a:stretch>
            <a:fillRect/>
          </a:stretch>
        </p:blipFill>
        <p:spPr>
          <a:xfrm>
            <a:off x="260984" y="1398112"/>
            <a:ext cx="5103495" cy="4301778"/>
          </a:xfrm>
          <a:prstGeom prst="rect">
            <a:avLst/>
          </a:prstGeom>
        </p:spPr>
      </p:pic>
      <p:grpSp>
        <p:nvGrpSpPr>
          <p:cNvPr id="4" name="Group 3">
            <a:extLst>
              <a:ext uri="{FF2B5EF4-FFF2-40B4-BE49-F238E27FC236}">
                <a16:creationId xmlns:a16="http://schemas.microsoft.com/office/drawing/2014/main" id="{9DC184CC-A012-833D-5E6F-0D0529D4D38F}"/>
              </a:ext>
            </a:extLst>
          </p:cNvPr>
          <p:cNvGrpSpPr/>
          <p:nvPr/>
        </p:nvGrpSpPr>
        <p:grpSpPr>
          <a:xfrm>
            <a:off x="9540240" y="1"/>
            <a:ext cx="2651760" cy="634980"/>
            <a:chOff x="8758971" y="310479"/>
            <a:chExt cx="2538533" cy="524318"/>
          </a:xfrm>
        </p:grpSpPr>
        <p:grpSp>
          <p:nvGrpSpPr>
            <p:cNvPr id="6" name="Group 5">
              <a:extLst>
                <a:ext uri="{FF2B5EF4-FFF2-40B4-BE49-F238E27FC236}">
                  <a16:creationId xmlns:a16="http://schemas.microsoft.com/office/drawing/2014/main" id="{34060785-3B42-EDF0-278E-1E97B956749A}"/>
                </a:ext>
              </a:extLst>
            </p:cNvPr>
            <p:cNvGrpSpPr/>
            <p:nvPr/>
          </p:nvGrpSpPr>
          <p:grpSpPr>
            <a:xfrm>
              <a:off x="8758971" y="310479"/>
              <a:ext cx="2538533" cy="346380"/>
              <a:chOff x="8758971" y="310479"/>
              <a:chExt cx="2538533" cy="346380"/>
            </a:xfrm>
          </p:grpSpPr>
          <p:sp>
            <p:nvSpPr>
              <p:cNvPr id="16" name="Rectangle 15">
                <a:extLst>
                  <a:ext uri="{FF2B5EF4-FFF2-40B4-BE49-F238E27FC236}">
                    <a16:creationId xmlns:a16="http://schemas.microsoft.com/office/drawing/2014/main" id="{87394DF3-9535-12A4-8284-853A86392E59}"/>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Parallelogram 16">
                <a:extLst>
                  <a:ext uri="{FF2B5EF4-FFF2-40B4-BE49-F238E27FC236}">
                    <a16:creationId xmlns:a16="http://schemas.microsoft.com/office/drawing/2014/main" id="{212E57FA-6F35-0F47-7DBA-09361049ABB4}"/>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5" name="TextBox 14">
              <a:extLst>
                <a:ext uri="{FF2B5EF4-FFF2-40B4-BE49-F238E27FC236}">
                  <a16:creationId xmlns:a16="http://schemas.microsoft.com/office/drawing/2014/main" id="{998A40DB-DA6A-B49A-4CD8-237C41CC6809}"/>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2499715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3387E-4441-E5FE-660C-666A26384E05}"/>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FF63F8E-90BE-0B96-5C65-DDB1F73611A2}"/>
              </a:ext>
            </a:extLst>
          </p:cNvPr>
          <p:cNvGraphicFramePr>
            <a:graphicFrameLocks noGrp="1"/>
          </p:cNvGraphicFramePr>
          <p:nvPr>
            <p:extLst>
              <p:ext uri="{D42A27DB-BD31-4B8C-83A1-F6EECF244321}">
                <p14:modId xmlns:p14="http://schemas.microsoft.com/office/powerpoint/2010/main" val="3504250783"/>
              </p:ext>
            </p:extLst>
          </p:nvPr>
        </p:nvGraphicFramePr>
        <p:xfrm>
          <a:off x="416560" y="1149126"/>
          <a:ext cx="11389360" cy="3152949"/>
        </p:xfrm>
        <a:graphic>
          <a:graphicData uri="http://schemas.openxmlformats.org/drawingml/2006/table">
            <a:tbl>
              <a:tblPr firstRow="1" firstCol="1" bandRow="1">
                <a:tableStyleId>{5C22544A-7EE6-4342-B048-85BDC9FD1C3A}</a:tableStyleId>
              </a:tblPr>
              <a:tblGrid>
                <a:gridCol w="2847340">
                  <a:extLst>
                    <a:ext uri="{9D8B030D-6E8A-4147-A177-3AD203B41FA5}">
                      <a16:colId xmlns:a16="http://schemas.microsoft.com/office/drawing/2014/main" val="2939076300"/>
                    </a:ext>
                  </a:extLst>
                </a:gridCol>
                <a:gridCol w="2847340">
                  <a:extLst>
                    <a:ext uri="{9D8B030D-6E8A-4147-A177-3AD203B41FA5}">
                      <a16:colId xmlns:a16="http://schemas.microsoft.com/office/drawing/2014/main" val="794108183"/>
                    </a:ext>
                  </a:extLst>
                </a:gridCol>
                <a:gridCol w="2847340">
                  <a:extLst>
                    <a:ext uri="{9D8B030D-6E8A-4147-A177-3AD203B41FA5}">
                      <a16:colId xmlns:a16="http://schemas.microsoft.com/office/drawing/2014/main" val="4094490288"/>
                    </a:ext>
                  </a:extLst>
                </a:gridCol>
                <a:gridCol w="2847340">
                  <a:extLst>
                    <a:ext uri="{9D8B030D-6E8A-4147-A177-3AD203B41FA5}">
                      <a16:colId xmlns:a16="http://schemas.microsoft.com/office/drawing/2014/main" val="971093418"/>
                    </a:ext>
                  </a:extLst>
                </a:gridCol>
              </a:tblGrid>
              <a:tr h="327506">
                <a:tc>
                  <a:txBody>
                    <a:bodyPr/>
                    <a:lstStyle/>
                    <a:p>
                      <a:pPr marL="0" marR="0" algn="ctr">
                        <a:lnSpc>
                          <a:spcPct val="115000"/>
                        </a:lnSpc>
                        <a:spcAft>
                          <a:spcPts val="1000"/>
                        </a:spcAft>
                        <a:buNone/>
                      </a:pPr>
                      <a:r>
                        <a:rPr lang="fr-FR" sz="1600">
                          <a:effectLst/>
                        </a:rPr>
                        <a:t>Criterion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Faster R-CNN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YOLOv11</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Comment</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727635748"/>
                  </a:ext>
                </a:extLst>
              </a:tr>
              <a:tr h="644855">
                <a:tc>
                  <a:txBody>
                    <a:bodyPr/>
                    <a:lstStyle/>
                    <a:p>
                      <a:pPr marL="0" marR="0" algn="ctr">
                        <a:lnSpc>
                          <a:spcPct val="115000"/>
                        </a:lnSpc>
                        <a:spcAft>
                          <a:spcPts val="1000"/>
                        </a:spcAft>
                        <a:buNone/>
                      </a:pPr>
                      <a:r>
                        <a:rPr lang="fr-FR" sz="1600">
                          <a:effectLst/>
                        </a:rPr>
                        <a:t>Small objects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Better detection</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Less effective</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a:effectLst/>
                        </a:rPr>
                        <a:t>Faster R-CNN benefits from its two-stage structure</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60738005"/>
                  </a:ext>
                </a:extLst>
              </a:tr>
              <a:tr h="644855">
                <a:tc>
                  <a:txBody>
                    <a:bodyPr/>
                    <a:lstStyle/>
                    <a:p>
                      <a:pPr marL="0" marR="0" algn="ctr">
                        <a:lnSpc>
                          <a:spcPct val="115000"/>
                        </a:lnSpc>
                        <a:spcAft>
                          <a:spcPts val="1000"/>
                        </a:spcAft>
                        <a:buNone/>
                      </a:pPr>
                      <a:r>
                        <a:rPr lang="fr-FR" sz="1600">
                          <a:effectLst/>
                        </a:rPr>
                        <a:t>False negatives / Background</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a:effectLst/>
                        </a:rPr>
                        <a:t>High for truck, camper, motorcycle</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a:effectLst/>
                        </a:rPr>
                        <a:t>High for truck, boat, camper, other</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a:effectLst/>
                        </a:rPr>
                        <a:t>Both models struggle with low-salience objects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179397458"/>
                  </a:ext>
                </a:extLst>
              </a:tr>
              <a:tr h="327506">
                <a:tc>
                  <a:txBody>
                    <a:bodyPr/>
                    <a:lstStyle/>
                    <a:p>
                      <a:pPr marL="0" marR="0" algn="ctr">
                        <a:lnSpc>
                          <a:spcPct val="115000"/>
                        </a:lnSpc>
                        <a:spcAft>
                          <a:spcPts val="1000"/>
                        </a:spcAft>
                        <a:buNone/>
                      </a:pPr>
                      <a:r>
                        <a:rPr lang="fr-FR" sz="1600">
                          <a:effectLst/>
                        </a:rPr>
                        <a:t>Confusion between similar classes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Present (van/pickup/truck)</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a:effectLst/>
                        </a:rPr>
                        <a:t>Strong (van/pickup/camper/truck)</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More pronounced in YOLOv11</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086707782"/>
                  </a:ext>
                </a:extLst>
              </a:tr>
              <a:tr h="327506">
                <a:tc>
                  <a:txBody>
                    <a:bodyPr/>
                    <a:lstStyle/>
                    <a:p>
                      <a:pPr marL="0" marR="0" algn="ctr">
                        <a:lnSpc>
                          <a:spcPct val="115000"/>
                        </a:lnSpc>
                        <a:spcAft>
                          <a:spcPts val="1000"/>
                        </a:spcAft>
                        <a:buNone/>
                      </a:pPr>
                      <a:r>
                        <a:rPr lang="fr-FR" sz="1600">
                          <a:effectLst/>
                        </a:rPr>
                        <a:t>Robustness on frequent objects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a:effectLst/>
                        </a:rPr>
                        <a:t>Good on cars and clear classes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Also good</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dirty="0">
                          <a:effectLst/>
                        </a:rPr>
                        <a:t>Comparable</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330935457"/>
                  </a:ext>
                </a:extLst>
              </a:tr>
              <a:tr h="644855">
                <a:tc>
                  <a:txBody>
                    <a:bodyPr/>
                    <a:lstStyle/>
                    <a:p>
                      <a:pPr marL="0" marR="0" algn="ctr">
                        <a:lnSpc>
                          <a:spcPct val="115000"/>
                        </a:lnSpc>
                        <a:spcAft>
                          <a:spcPts val="1000"/>
                        </a:spcAft>
                        <a:buNone/>
                      </a:pPr>
                      <a:r>
                        <a:rPr lang="fr-FR" sz="1600">
                          <a:effectLst/>
                        </a:rPr>
                        <a:t>Robustness on rare objects</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Moderate</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fr-FR" sz="1600">
                          <a:effectLst/>
                        </a:rPr>
                        <a:t>Poor</a:t>
                      </a:r>
                      <a:endParaRPr lang="fr-FR" sz="14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1000"/>
                        </a:spcAft>
                        <a:buNone/>
                      </a:pPr>
                      <a:r>
                        <a:rPr lang="en-US" sz="1600" dirty="0">
                          <a:effectLst/>
                        </a:rPr>
                        <a:t>YOLOv11 needs more examples or better tuning</a:t>
                      </a:r>
                      <a:endParaRPr lang="fr-FR" sz="14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997362789"/>
                  </a:ext>
                </a:extLst>
              </a:tr>
            </a:tbl>
          </a:graphicData>
        </a:graphic>
      </p:graphicFrame>
      <p:sp>
        <p:nvSpPr>
          <p:cNvPr id="5" name="TextBox 4">
            <a:extLst>
              <a:ext uri="{FF2B5EF4-FFF2-40B4-BE49-F238E27FC236}">
                <a16:creationId xmlns:a16="http://schemas.microsoft.com/office/drawing/2014/main" id="{C66C3BEA-259A-BA27-C65C-271801772FA5}"/>
              </a:ext>
            </a:extLst>
          </p:cNvPr>
          <p:cNvSpPr txBox="1"/>
          <p:nvPr/>
        </p:nvSpPr>
        <p:spPr>
          <a:xfrm>
            <a:off x="924560" y="4722740"/>
            <a:ext cx="10749280" cy="1546834"/>
          </a:xfrm>
          <a:prstGeom prst="rect">
            <a:avLst/>
          </a:prstGeom>
          <a:noFill/>
        </p:spPr>
        <p:txBody>
          <a:bodyPr wrap="square">
            <a:spAutoFit/>
          </a:bodyPr>
          <a:lstStyle/>
          <a:p>
            <a:pPr marL="342900" marR="0" indent="-342900">
              <a:lnSpc>
                <a:spcPct val="115000"/>
              </a:lnSpc>
              <a:spcAft>
                <a:spcPts val="1000"/>
              </a:spcAft>
              <a:buFont typeface="Wingdings" panose="05000000000000000000" pitchFamily="2" charset="2"/>
              <a:buChar char="v"/>
            </a:pPr>
            <a:r>
              <a:rPr lang="en-US" sz="2000" dirty="0">
                <a:effectLst/>
                <a:latin typeface="Calibri" panose="020F0502020204030204" pitchFamily="34" charset="0"/>
                <a:ea typeface="Calibri" panose="020F0502020204030204" pitchFamily="34" charset="0"/>
                <a:cs typeface="Arial" panose="020B0604020202020204" pitchFamily="34" charset="0"/>
              </a:rPr>
              <a:t>For blurry and noisy  images, </a:t>
            </a:r>
            <a:r>
              <a:rPr lang="en-US" sz="2000" b="1" dirty="0">
                <a:effectLst/>
                <a:latin typeface="Calibri" panose="020F0502020204030204" pitchFamily="34" charset="0"/>
                <a:ea typeface="Calibri" panose="020F0502020204030204" pitchFamily="34" charset="0"/>
                <a:cs typeface="Arial" panose="020B0604020202020204" pitchFamily="34" charset="0"/>
              </a:rPr>
              <a:t>Faster R-CNN</a:t>
            </a:r>
            <a:r>
              <a:rPr lang="en-US" sz="2000" dirty="0">
                <a:effectLst/>
                <a:latin typeface="Calibri" panose="020F0502020204030204" pitchFamily="34" charset="0"/>
                <a:ea typeface="Calibri" panose="020F0502020204030204" pitchFamily="34" charset="0"/>
                <a:cs typeface="Arial" panose="020B0604020202020204" pitchFamily="34" charset="0"/>
              </a:rPr>
              <a:t> is more </a:t>
            </a:r>
            <a:r>
              <a:rPr lang="en-US" sz="2000" b="1" dirty="0">
                <a:effectLst/>
                <a:latin typeface="Calibri" panose="020F0502020204030204" pitchFamily="34" charset="0"/>
                <a:ea typeface="Calibri" panose="020F0502020204030204" pitchFamily="34" charset="0"/>
                <a:cs typeface="Arial" panose="020B0604020202020204" pitchFamily="34" charset="0"/>
              </a:rPr>
              <a:t>robust and accurate</a:t>
            </a:r>
            <a:r>
              <a:rPr lang="en-US" sz="2000" dirty="0">
                <a:effectLst/>
                <a:latin typeface="Calibri" panose="020F0502020204030204" pitchFamily="34" charset="0"/>
                <a:ea typeface="Calibri" panose="020F0502020204030204" pitchFamily="34" charset="0"/>
                <a:cs typeface="Arial" panose="020B0604020202020204" pitchFamily="34" charset="0"/>
              </a:rPr>
              <a:t>, especially for small or rare objects, due to its two-stage detection. </a:t>
            </a:r>
            <a:endParaRPr lang="fr-FR" sz="12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15000"/>
              </a:lnSpc>
              <a:spcAft>
                <a:spcPts val="1000"/>
              </a:spcAft>
              <a:buFont typeface="Wingdings" panose="05000000000000000000" pitchFamily="2" charset="2"/>
              <a:buChar char="v"/>
            </a:pPr>
            <a:r>
              <a:rPr lang="en-US" b="1" dirty="0">
                <a:effectLst/>
                <a:latin typeface="Calibri" panose="020F0502020204030204" pitchFamily="34" charset="0"/>
                <a:ea typeface="Calibri" panose="020F0502020204030204" pitchFamily="34" charset="0"/>
                <a:cs typeface="Arial" panose="020B0604020202020204" pitchFamily="34" charset="0"/>
              </a:rPr>
              <a:t>YOLOv11</a:t>
            </a:r>
            <a:r>
              <a:rPr lang="en-US" dirty="0">
                <a:effectLst/>
                <a:latin typeface="Calibri" panose="020F0502020204030204" pitchFamily="34" charset="0"/>
                <a:ea typeface="Calibri" panose="020F0502020204030204" pitchFamily="34" charset="0"/>
                <a:cs typeface="Arial" panose="020B0604020202020204" pitchFamily="34" charset="0"/>
              </a:rPr>
              <a:t> is  more sensitive to noise and confusion between similar classes, making it less reliable in poor image conditions</a:t>
            </a:r>
            <a:r>
              <a:rPr lang="en-US" sz="1200" dirty="0">
                <a:effectLst/>
                <a:latin typeface="Calibri" panose="020F0502020204030204" pitchFamily="34" charset="0"/>
                <a:ea typeface="Calibri" panose="020F0502020204030204" pitchFamily="34" charset="0"/>
                <a:cs typeface="Arial" panose="020B0604020202020204" pitchFamily="34" charset="0"/>
              </a:rPr>
              <a:t>.</a:t>
            </a:r>
            <a:endParaRPr lang="fr-FR" sz="1200" dirty="0">
              <a:effectLst/>
              <a:latin typeface="Calibri" panose="020F0502020204030204" pitchFamily="34" charset="0"/>
              <a:ea typeface="Calibri" panose="020F050202020403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BE0FFD2C-1F59-3B8F-4329-C78B18D7AEF8}"/>
              </a:ext>
            </a:extLst>
          </p:cNvPr>
          <p:cNvGrpSpPr/>
          <p:nvPr/>
        </p:nvGrpSpPr>
        <p:grpSpPr>
          <a:xfrm>
            <a:off x="9540240" y="1"/>
            <a:ext cx="2651760" cy="634980"/>
            <a:chOff x="8758971" y="310479"/>
            <a:chExt cx="2538533" cy="524318"/>
          </a:xfrm>
        </p:grpSpPr>
        <p:grpSp>
          <p:nvGrpSpPr>
            <p:cNvPr id="4" name="Group 3">
              <a:extLst>
                <a:ext uri="{FF2B5EF4-FFF2-40B4-BE49-F238E27FC236}">
                  <a16:creationId xmlns:a16="http://schemas.microsoft.com/office/drawing/2014/main" id="{0509A6B2-C6E3-A568-5ED7-F6EDA007EBDF}"/>
                </a:ext>
              </a:extLst>
            </p:cNvPr>
            <p:cNvGrpSpPr/>
            <p:nvPr/>
          </p:nvGrpSpPr>
          <p:grpSpPr>
            <a:xfrm>
              <a:off x="8758971" y="310479"/>
              <a:ext cx="2538533" cy="346380"/>
              <a:chOff x="8758971" y="310479"/>
              <a:chExt cx="2538533" cy="346380"/>
            </a:xfrm>
          </p:grpSpPr>
          <p:sp>
            <p:nvSpPr>
              <p:cNvPr id="12" name="Rectangle 11">
                <a:extLst>
                  <a:ext uri="{FF2B5EF4-FFF2-40B4-BE49-F238E27FC236}">
                    <a16:creationId xmlns:a16="http://schemas.microsoft.com/office/drawing/2014/main" id="{7FD9BC2F-2637-B309-EE7D-D5786426FC0F}"/>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Parallelogram 12">
                <a:extLst>
                  <a:ext uri="{FF2B5EF4-FFF2-40B4-BE49-F238E27FC236}">
                    <a16:creationId xmlns:a16="http://schemas.microsoft.com/office/drawing/2014/main" id="{4A0369D3-DF7C-1DB5-2778-AD13FE350D1A}"/>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1" name="TextBox 10">
              <a:extLst>
                <a:ext uri="{FF2B5EF4-FFF2-40B4-BE49-F238E27FC236}">
                  <a16:creationId xmlns:a16="http://schemas.microsoft.com/office/drawing/2014/main" id="{E0A5EB78-4FEE-9765-E588-76BB59EDDBCA}"/>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3273046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DD0E6-BF94-7C0E-7B80-2A7E3098BA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2F857F-FF34-0C15-994C-0D6B3975DE8D}"/>
              </a:ext>
            </a:extLst>
          </p:cNvPr>
          <p:cNvSpPr txBox="1"/>
          <p:nvPr/>
        </p:nvSpPr>
        <p:spPr>
          <a:xfrm>
            <a:off x="457200" y="449081"/>
            <a:ext cx="4561840" cy="523220"/>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fr-FR"/>
            </a:defPPr>
            <a:lvl1pPr algn="just">
              <a:defRPr sz="2800" b="1">
                <a:latin typeface="Tw Cen MT" panose="020B0602020104020603" pitchFamily="34" charset="0"/>
                <a:ea typeface="Tahoma" panose="020B0604030504040204" pitchFamily="34" charset="0"/>
                <a:cs typeface="Arial" panose="020B0604020202020204" pitchFamily="34" charset="0"/>
              </a:defRPr>
            </a:lvl1pPr>
          </a:lstStyle>
          <a:p>
            <a:r>
              <a:rPr lang="fr-FR" dirty="0">
                <a:latin typeface="Calibri" panose="020F0502020204030204" pitchFamily="34" charset="0"/>
                <a:ea typeface="Calibri" panose="020F0502020204030204" pitchFamily="34" charset="0"/>
              </a:rPr>
              <a:t>S</a:t>
            </a:r>
            <a:r>
              <a:rPr lang="fr-FR" dirty="0">
                <a:effectLst/>
                <a:latin typeface="Calibri" panose="020F0502020204030204" pitchFamily="34" charset="0"/>
                <a:ea typeface="Calibri" panose="020F0502020204030204" pitchFamily="34" charset="0"/>
                <a:cs typeface="Arial" panose="020B0604020202020204" pitchFamily="34" charset="0"/>
              </a:rPr>
              <a:t>atellite</a:t>
            </a:r>
            <a:r>
              <a:rPr lang="en-US" dirty="0"/>
              <a:t> Detection Examples:</a:t>
            </a:r>
            <a:endParaRPr lang="fr-FR" dirty="0"/>
          </a:p>
        </p:txBody>
      </p:sp>
      <p:sp>
        <p:nvSpPr>
          <p:cNvPr id="3" name="Rectangle 3">
            <a:extLst>
              <a:ext uri="{FF2B5EF4-FFF2-40B4-BE49-F238E27FC236}">
                <a16:creationId xmlns:a16="http://schemas.microsoft.com/office/drawing/2014/main" id="{C9FCE752-CF2B-2BFD-3F6B-B86BC86ED419}"/>
              </a:ext>
            </a:extLst>
          </p:cNvPr>
          <p:cNvSpPr>
            <a:spLocks noChangeArrowheads="1"/>
          </p:cNvSpPr>
          <p:nvPr/>
        </p:nvSpPr>
        <p:spPr bwMode="auto">
          <a:xfrm>
            <a:off x="959487" y="160528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09370" tIns="837936" rIns="449121" bIns="723672" numCol="1" anchor="ctr" anchorCtr="0" compatLnSpc="1">
            <a:prstTxWarp prst="textNoShape">
              <a:avLst/>
            </a:prstTxWarp>
            <a:spAutoFit/>
          </a:bodyPr>
          <a:lstStyle/>
          <a:p>
            <a:endParaRPr lang="fr-FR"/>
          </a:p>
        </p:txBody>
      </p:sp>
      <p:sp>
        <p:nvSpPr>
          <p:cNvPr id="4" name="Rectangle 4">
            <a:extLst>
              <a:ext uri="{FF2B5EF4-FFF2-40B4-BE49-F238E27FC236}">
                <a16:creationId xmlns:a16="http://schemas.microsoft.com/office/drawing/2014/main" id="{A6264C87-ABF8-17AB-D3BE-E29D129FF947}"/>
              </a:ext>
            </a:extLst>
          </p:cNvPr>
          <p:cNvSpPr>
            <a:spLocks noChangeArrowheads="1"/>
          </p:cNvSpPr>
          <p:nvPr/>
        </p:nvSpPr>
        <p:spPr bwMode="auto">
          <a:xfrm>
            <a:off x="6331601" y="5268108"/>
            <a:ext cx="54974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2400" b="1" dirty="0">
                <a:latin typeface="Arial" panose="020B0604020202020204" pitchFamily="34" charset="0"/>
              </a:rPr>
              <a:t>Satellite</a:t>
            </a:r>
            <a:r>
              <a:rPr kumimoji="0" lang="en-US" altLang="fr-FR" sz="2400" b="1" i="0" u="none" strike="noStrike" cap="none" normalizeH="0" baseline="0" dirty="0">
                <a:ln>
                  <a:noFill/>
                </a:ln>
                <a:effectLst/>
                <a:latin typeface="Arial" panose="020B0604020202020204" pitchFamily="34" charset="0"/>
                <a:ea typeface="Times New Roman" panose="02020603050405020304" pitchFamily="18" charset="0"/>
              </a:rPr>
              <a:t> Detection by Faster RCNN</a:t>
            </a:r>
            <a:endParaRPr kumimoji="0" lang="fr-FR" altLang="fr-FR" sz="1200" b="0" i="0" u="none" strike="noStrike" cap="none" normalizeH="0" baseline="0" dirty="0">
              <a:ln>
                <a:noFill/>
              </a:ln>
              <a:effectLst/>
              <a:latin typeface="Arial" panose="020B0604020202020204" pitchFamily="34" charset="0"/>
            </a:endParaRPr>
          </a:p>
        </p:txBody>
      </p:sp>
      <p:sp>
        <p:nvSpPr>
          <p:cNvPr id="5" name="Rectangle 5">
            <a:extLst>
              <a:ext uri="{FF2B5EF4-FFF2-40B4-BE49-F238E27FC236}">
                <a16:creationId xmlns:a16="http://schemas.microsoft.com/office/drawing/2014/main" id="{B43CF9DA-CAFD-A88A-3414-48B0B63EB109}"/>
              </a:ext>
            </a:extLst>
          </p:cNvPr>
          <p:cNvSpPr>
            <a:spLocks noChangeArrowheads="1"/>
          </p:cNvSpPr>
          <p:nvPr/>
        </p:nvSpPr>
        <p:spPr bwMode="auto">
          <a:xfrm>
            <a:off x="789624" y="5270488"/>
            <a:ext cx="49014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2400" b="1" dirty="0">
                <a:latin typeface="Arial" panose="020B0604020202020204" pitchFamily="34" charset="0"/>
              </a:rPr>
              <a:t>Satellite</a:t>
            </a:r>
            <a:r>
              <a:rPr kumimoji="0" lang="en-US" altLang="fr-FR" sz="2400" b="1" i="0" u="none" strike="noStrike" cap="none" normalizeH="0" baseline="0" dirty="0">
                <a:ln>
                  <a:noFill/>
                </a:ln>
                <a:effectLst/>
                <a:latin typeface="Arial" panose="020B0604020202020204" pitchFamily="34" charset="0"/>
                <a:ea typeface="Times New Roman" panose="02020603050405020304" pitchFamily="18" charset="0"/>
              </a:rPr>
              <a:t> detection by YOLOv11</a:t>
            </a:r>
          </a:p>
        </p:txBody>
      </p:sp>
      <p:pic>
        <p:nvPicPr>
          <p:cNvPr id="6" name="Image 127">
            <a:extLst>
              <a:ext uri="{FF2B5EF4-FFF2-40B4-BE49-F238E27FC236}">
                <a16:creationId xmlns:a16="http://schemas.microsoft.com/office/drawing/2014/main" id="{EF2864CA-B3C5-D8CB-82AF-E296BCE1AFD2}"/>
              </a:ext>
            </a:extLst>
          </p:cNvPr>
          <p:cNvPicPr>
            <a:picLocks/>
          </p:cNvPicPr>
          <p:nvPr/>
        </p:nvPicPr>
        <p:blipFill>
          <a:blip r:embed="rId2" cstate="print"/>
          <a:stretch>
            <a:fillRect/>
          </a:stretch>
        </p:blipFill>
        <p:spPr>
          <a:xfrm>
            <a:off x="6190494" y="1833880"/>
            <a:ext cx="5638604" cy="2851150"/>
          </a:xfrm>
          <a:prstGeom prst="rect">
            <a:avLst/>
          </a:prstGeom>
        </p:spPr>
      </p:pic>
      <p:pic>
        <p:nvPicPr>
          <p:cNvPr id="7" name="Image 128">
            <a:extLst>
              <a:ext uri="{FF2B5EF4-FFF2-40B4-BE49-F238E27FC236}">
                <a16:creationId xmlns:a16="http://schemas.microsoft.com/office/drawing/2014/main" id="{C2121920-9D6C-1D13-A53C-20CAFE6C1DFF}"/>
              </a:ext>
            </a:extLst>
          </p:cNvPr>
          <p:cNvPicPr>
            <a:picLocks/>
          </p:cNvPicPr>
          <p:nvPr/>
        </p:nvPicPr>
        <p:blipFill>
          <a:blip r:embed="rId3" cstate="print"/>
          <a:stretch>
            <a:fillRect/>
          </a:stretch>
        </p:blipFill>
        <p:spPr>
          <a:xfrm>
            <a:off x="240982" y="1833881"/>
            <a:ext cx="5602310" cy="2851149"/>
          </a:xfrm>
          <a:prstGeom prst="rect">
            <a:avLst/>
          </a:prstGeom>
        </p:spPr>
      </p:pic>
      <p:grpSp>
        <p:nvGrpSpPr>
          <p:cNvPr id="13" name="Group 12">
            <a:extLst>
              <a:ext uri="{FF2B5EF4-FFF2-40B4-BE49-F238E27FC236}">
                <a16:creationId xmlns:a16="http://schemas.microsoft.com/office/drawing/2014/main" id="{00F44EB9-C8D2-DA13-8E35-2D16EE9794A7}"/>
              </a:ext>
            </a:extLst>
          </p:cNvPr>
          <p:cNvGrpSpPr/>
          <p:nvPr/>
        </p:nvGrpSpPr>
        <p:grpSpPr>
          <a:xfrm>
            <a:off x="9540240" y="1"/>
            <a:ext cx="2651760" cy="634980"/>
            <a:chOff x="8758971" y="310479"/>
            <a:chExt cx="2538533" cy="524318"/>
          </a:xfrm>
        </p:grpSpPr>
        <p:grpSp>
          <p:nvGrpSpPr>
            <p:cNvPr id="14" name="Group 13">
              <a:extLst>
                <a:ext uri="{FF2B5EF4-FFF2-40B4-BE49-F238E27FC236}">
                  <a16:creationId xmlns:a16="http://schemas.microsoft.com/office/drawing/2014/main" id="{51AC679D-554B-8104-4E0D-9DBD943DEFF2}"/>
                </a:ext>
              </a:extLst>
            </p:cNvPr>
            <p:cNvGrpSpPr/>
            <p:nvPr/>
          </p:nvGrpSpPr>
          <p:grpSpPr>
            <a:xfrm>
              <a:off x="8758971" y="310479"/>
              <a:ext cx="2538533" cy="346380"/>
              <a:chOff x="8758971" y="310479"/>
              <a:chExt cx="2538533" cy="346380"/>
            </a:xfrm>
          </p:grpSpPr>
          <p:sp>
            <p:nvSpPr>
              <p:cNvPr id="16" name="Rectangle 15">
                <a:extLst>
                  <a:ext uri="{FF2B5EF4-FFF2-40B4-BE49-F238E27FC236}">
                    <a16:creationId xmlns:a16="http://schemas.microsoft.com/office/drawing/2014/main" id="{94CEC340-99E6-7881-B19B-E137A52A4106}"/>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Parallelogram 16">
                <a:extLst>
                  <a:ext uri="{FF2B5EF4-FFF2-40B4-BE49-F238E27FC236}">
                    <a16:creationId xmlns:a16="http://schemas.microsoft.com/office/drawing/2014/main" id="{77282052-79B3-945A-ED59-611AD4277167}"/>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5" name="TextBox 14">
              <a:extLst>
                <a:ext uri="{FF2B5EF4-FFF2-40B4-BE49-F238E27FC236}">
                  <a16:creationId xmlns:a16="http://schemas.microsoft.com/office/drawing/2014/main" id="{F8C0086A-B808-5C49-98D6-45F6E27B4052}"/>
                </a:ext>
              </a:extLst>
            </p:cNvPr>
            <p:cNvSpPr txBox="1"/>
            <p:nvPr/>
          </p:nvSpPr>
          <p:spPr>
            <a:xfrm>
              <a:off x="8870601" y="341986"/>
              <a:ext cx="2388333" cy="492811"/>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YOLO vs Faster R-CNN</a:t>
              </a:r>
              <a:endParaRPr lang="fr-FR" sz="1700" dirty="0">
                <a:effectLst/>
              </a:endParaRPr>
            </a:p>
          </p:txBody>
        </p:sp>
      </p:grpSp>
    </p:spTree>
    <p:extLst>
      <p:ext uri="{BB962C8B-B14F-4D97-AF65-F5344CB8AC3E}">
        <p14:creationId xmlns:p14="http://schemas.microsoft.com/office/powerpoint/2010/main" val="2444173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68182-53B6-F6C2-775A-3B7B49B88A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A22702-735C-81A1-22A3-D22F67EFE7C9}"/>
              </a:ext>
            </a:extLst>
          </p:cNvPr>
          <p:cNvSpPr txBox="1"/>
          <p:nvPr/>
        </p:nvSpPr>
        <p:spPr>
          <a:xfrm>
            <a:off x="436880" y="1536199"/>
            <a:ext cx="11338560" cy="3629007"/>
          </a:xfrm>
          <a:prstGeom prst="rect">
            <a:avLst/>
          </a:prstGeom>
          <a:noFill/>
        </p:spPr>
        <p:txBody>
          <a:bodyPr wrap="square">
            <a:spAutoFit/>
          </a:bodyPr>
          <a:lstStyle/>
          <a:p>
            <a:pPr marL="0" marR="0">
              <a:lnSpc>
                <a:spcPct val="115000"/>
              </a:lnSpc>
              <a:spcAft>
                <a:spcPts val="1000"/>
              </a:spcAft>
              <a:buNone/>
            </a:pPr>
            <a:r>
              <a:rPr lang="en-US" sz="2800" dirty="0">
                <a:effectLst/>
                <a:ea typeface="Calibri" panose="020F0502020204030204" pitchFamily="34" charset="0"/>
                <a:cs typeface="Arial" panose="020B0604020202020204" pitchFamily="34" charset="0"/>
              </a:rPr>
              <a:t>Conclusion</a:t>
            </a:r>
            <a:endParaRPr lang="fr-FR" sz="1600" dirty="0">
              <a:effectLst/>
              <a:ea typeface="Calibri" panose="020F0502020204030204" pitchFamily="34" charset="0"/>
              <a:cs typeface="Arial" panose="020B0604020202020204" pitchFamily="34" charset="0"/>
            </a:endParaRPr>
          </a:p>
          <a:p>
            <a:pPr marL="0" marR="0">
              <a:lnSpc>
                <a:spcPct val="115000"/>
              </a:lnSpc>
              <a:spcAft>
                <a:spcPts val="1000"/>
              </a:spcAft>
              <a:buNone/>
            </a:pPr>
            <a:r>
              <a:rPr lang="en-US" sz="1800" dirty="0">
                <a:effectLst/>
                <a:ea typeface="Times New Roman" panose="02020603050405020304" pitchFamily="18" charset="0"/>
                <a:cs typeface="Arial" panose="020B0604020202020204" pitchFamily="34" charset="0"/>
              </a:rPr>
              <a:t>In summary, the choice between YOLOv11 and Faster R-CNN for object detection depends on the balance between speed and accuracy:</a:t>
            </a:r>
            <a:endParaRPr lang="fr-FR" sz="1600" dirty="0">
              <a:effectLst/>
              <a:ea typeface="Calibri" panose="020F0502020204030204" pitchFamily="34" charset="0"/>
              <a:cs typeface="Arial" panose="020B0604020202020204" pitchFamily="34"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b="1" dirty="0">
                <a:effectLst/>
                <a:ea typeface="Times New Roman" panose="02020603050405020304" pitchFamily="18" charset="0"/>
                <a:cs typeface="Arial" panose="020B0604020202020204" pitchFamily="34" charset="0"/>
              </a:rPr>
              <a:t>YOLOv11</a:t>
            </a:r>
            <a:r>
              <a:rPr lang="en-US" sz="1800" dirty="0">
                <a:effectLst/>
                <a:ea typeface="Times New Roman" panose="02020603050405020304" pitchFamily="18" charset="0"/>
                <a:cs typeface="Arial" panose="020B0604020202020204" pitchFamily="34" charset="0"/>
              </a:rPr>
              <a:t> is fast and efficient, ideal for real-time applications where speed is crucial, but may sacrifice accuracy for small or complex objects.</a:t>
            </a:r>
            <a:endParaRPr lang="fr-FR" sz="1600" dirty="0">
              <a:effectLst/>
              <a:ea typeface="Calibri" panose="020F0502020204030204" pitchFamily="34" charset="0"/>
              <a:cs typeface="Arial" panose="020B0604020202020204" pitchFamily="34" charset="0"/>
            </a:endParaRPr>
          </a:p>
          <a:p>
            <a:pPr marL="342900" marR="0" lvl="0" indent="-342900">
              <a:lnSpc>
                <a:spcPct val="115000"/>
              </a:lnSpc>
              <a:spcAft>
                <a:spcPts val="1000"/>
              </a:spcAft>
              <a:buSzPts val="1000"/>
              <a:buFont typeface="Symbol" panose="05050102010706020507" pitchFamily="18" charset="2"/>
              <a:buChar char=""/>
              <a:tabLst>
                <a:tab pos="457200" algn="l"/>
              </a:tabLst>
            </a:pPr>
            <a:r>
              <a:rPr lang="en-US" sz="1800" b="1" dirty="0">
                <a:effectLst/>
                <a:ea typeface="Times New Roman" panose="02020603050405020304" pitchFamily="18" charset="0"/>
                <a:cs typeface="Arial" panose="020B0604020202020204" pitchFamily="34" charset="0"/>
              </a:rPr>
              <a:t>Faster R-CNN</a:t>
            </a:r>
            <a:r>
              <a:rPr lang="en-US" sz="1800" dirty="0">
                <a:effectLst/>
                <a:ea typeface="Times New Roman" panose="02020603050405020304" pitchFamily="18" charset="0"/>
                <a:cs typeface="Arial" panose="020B0604020202020204" pitchFamily="34" charset="0"/>
              </a:rPr>
              <a:t> provides high accuracy and is better for detecting small or complex objects, but is slower and less suitable for real-time tasks.</a:t>
            </a:r>
            <a:endParaRPr lang="fr-FR" sz="1600" dirty="0">
              <a:effectLst/>
              <a:ea typeface="Calibri" panose="020F0502020204030204" pitchFamily="34" charset="0"/>
              <a:cs typeface="Arial" panose="020B0604020202020204" pitchFamily="34" charset="0"/>
            </a:endParaRPr>
          </a:p>
          <a:p>
            <a:pPr marL="0" marR="0">
              <a:lnSpc>
                <a:spcPct val="115000"/>
              </a:lnSpc>
              <a:spcAft>
                <a:spcPts val="1000"/>
              </a:spcAft>
            </a:pPr>
            <a:r>
              <a:rPr lang="en-US" sz="1800" b="1" dirty="0">
                <a:effectLst/>
                <a:ea typeface="Times New Roman" panose="02020603050405020304" pitchFamily="18" charset="0"/>
                <a:cs typeface="Arial" panose="020B0604020202020204" pitchFamily="34" charset="0"/>
              </a:rPr>
              <a:t>YOLOv11</a:t>
            </a:r>
            <a:r>
              <a:rPr lang="en-US" sz="1800" dirty="0">
                <a:effectLst/>
                <a:ea typeface="Times New Roman" panose="02020603050405020304" pitchFamily="18" charset="0"/>
                <a:cs typeface="Arial" panose="020B0604020202020204" pitchFamily="34" charset="0"/>
              </a:rPr>
              <a:t> is preferred for speed-focused tasks, while </a:t>
            </a:r>
            <a:r>
              <a:rPr lang="en-US" sz="1800" b="1" dirty="0">
                <a:effectLst/>
                <a:ea typeface="Times New Roman" panose="02020603050405020304" pitchFamily="18" charset="0"/>
                <a:cs typeface="Arial" panose="020B0604020202020204" pitchFamily="34" charset="0"/>
              </a:rPr>
              <a:t>Faster R-CNN</a:t>
            </a:r>
            <a:r>
              <a:rPr lang="en-US" sz="1800" dirty="0">
                <a:effectLst/>
                <a:ea typeface="Times New Roman" panose="02020603050405020304" pitchFamily="18" charset="0"/>
                <a:cs typeface="Arial" panose="020B0604020202020204" pitchFamily="34" charset="0"/>
              </a:rPr>
              <a:t> is best for tasks requiring high precision without strict time constraints.</a:t>
            </a:r>
            <a:endParaRPr lang="fr-FR" sz="1600" dirty="0">
              <a:effectLst/>
              <a:ea typeface="Calibri" panose="020F050202020403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2243724C-AF18-5D77-9F4A-FE0EEA3171C6}"/>
              </a:ext>
            </a:extLst>
          </p:cNvPr>
          <p:cNvGrpSpPr/>
          <p:nvPr/>
        </p:nvGrpSpPr>
        <p:grpSpPr>
          <a:xfrm>
            <a:off x="9766344" y="0"/>
            <a:ext cx="2425656" cy="432651"/>
            <a:chOff x="8758971" y="310479"/>
            <a:chExt cx="2538533" cy="346380"/>
          </a:xfrm>
        </p:grpSpPr>
        <p:grpSp>
          <p:nvGrpSpPr>
            <p:cNvPr id="5" name="Group 4">
              <a:extLst>
                <a:ext uri="{FF2B5EF4-FFF2-40B4-BE49-F238E27FC236}">
                  <a16:creationId xmlns:a16="http://schemas.microsoft.com/office/drawing/2014/main" id="{FB67244C-2F9A-3684-9E8B-D7E259E77016}"/>
                </a:ext>
              </a:extLst>
            </p:cNvPr>
            <p:cNvGrpSpPr/>
            <p:nvPr/>
          </p:nvGrpSpPr>
          <p:grpSpPr>
            <a:xfrm>
              <a:off x="8758971" y="310479"/>
              <a:ext cx="2538533" cy="346380"/>
              <a:chOff x="8758971" y="310479"/>
              <a:chExt cx="2538533" cy="346380"/>
            </a:xfrm>
          </p:grpSpPr>
          <p:sp>
            <p:nvSpPr>
              <p:cNvPr id="7" name="Rectangle 6">
                <a:extLst>
                  <a:ext uri="{FF2B5EF4-FFF2-40B4-BE49-F238E27FC236}">
                    <a16:creationId xmlns:a16="http://schemas.microsoft.com/office/drawing/2014/main" id="{2C9FEE8C-AD8D-04E4-D45E-8CD6008C523A}"/>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Parallelogram 7">
                <a:extLst>
                  <a:ext uri="{FF2B5EF4-FFF2-40B4-BE49-F238E27FC236}">
                    <a16:creationId xmlns:a16="http://schemas.microsoft.com/office/drawing/2014/main" id="{EB4BBA1C-1CE4-2F34-D486-9EB391E83A01}"/>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6" name="TextBox 5">
              <a:extLst>
                <a:ext uri="{FF2B5EF4-FFF2-40B4-BE49-F238E27FC236}">
                  <a16:creationId xmlns:a16="http://schemas.microsoft.com/office/drawing/2014/main" id="{145FF18B-0A20-A246-715E-69B64AC1CC37}"/>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CONCLUSION</a:t>
              </a:r>
              <a:endParaRPr lang="fr-FR" sz="1700" dirty="0">
                <a:effectLst/>
              </a:endParaRPr>
            </a:p>
          </p:txBody>
        </p:sp>
      </p:grpSp>
    </p:spTree>
    <p:extLst>
      <p:ext uri="{BB962C8B-B14F-4D97-AF65-F5344CB8AC3E}">
        <p14:creationId xmlns:p14="http://schemas.microsoft.com/office/powerpoint/2010/main" val="960606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1DF0BB81-B238-D80A-34AC-643789454E03}"/>
              </a:ext>
            </a:extLst>
          </p:cNvPr>
          <p:cNvGrpSpPr/>
          <p:nvPr/>
        </p:nvGrpSpPr>
        <p:grpSpPr>
          <a:xfrm>
            <a:off x="2187479" y="1870062"/>
            <a:ext cx="7817041" cy="3117876"/>
            <a:chOff x="2610152" y="1854584"/>
            <a:chExt cx="7817041" cy="3117876"/>
          </a:xfrm>
        </p:grpSpPr>
        <p:grpSp>
          <p:nvGrpSpPr>
            <p:cNvPr id="2" name="Group 1">
              <a:extLst>
                <a:ext uri="{FF2B5EF4-FFF2-40B4-BE49-F238E27FC236}">
                  <a16:creationId xmlns:a16="http://schemas.microsoft.com/office/drawing/2014/main" id="{A12E937C-07B7-9145-E1A1-36044B35092D}"/>
                </a:ext>
              </a:extLst>
            </p:cNvPr>
            <p:cNvGrpSpPr/>
            <p:nvPr/>
          </p:nvGrpSpPr>
          <p:grpSpPr>
            <a:xfrm>
              <a:off x="6018227" y="2105561"/>
              <a:ext cx="4408966" cy="2646878"/>
              <a:chOff x="4136103" y="2121039"/>
              <a:chExt cx="4408966" cy="2646878"/>
            </a:xfrm>
          </p:grpSpPr>
          <p:sp>
            <p:nvSpPr>
              <p:cNvPr id="3" name="TextBox 2">
                <a:extLst>
                  <a:ext uri="{FF2B5EF4-FFF2-40B4-BE49-F238E27FC236}">
                    <a16:creationId xmlns:a16="http://schemas.microsoft.com/office/drawing/2014/main" id="{A10BDCB6-731D-EC29-51DB-BBACF1514D64}"/>
                  </a:ext>
                </a:extLst>
              </p:cNvPr>
              <p:cNvSpPr txBox="1"/>
              <p:nvPr/>
            </p:nvSpPr>
            <p:spPr>
              <a:xfrm>
                <a:off x="4136103" y="2121039"/>
                <a:ext cx="4408966" cy="1938992"/>
              </a:xfrm>
              <a:prstGeom prst="rect">
                <a:avLst/>
              </a:prstGeom>
              <a:noFill/>
            </p:spPr>
            <p:txBody>
              <a:bodyPr wrap="square" rtlCol="0">
                <a:spAutoFit/>
              </a:bodyPr>
              <a:lstStyle/>
              <a:p>
                <a:r>
                  <a:rPr lang="en-US" sz="4000" b="1" dirty="0">
                    <a:solidFill>
                      <a:schemeClr val="tx1">
                        <a:lumMod val="65000"/>
                        <a:lumOff val="35000"/>
                      </a:schemeClr>
                    </a:solidFill>
                    <a:latin typeface="Tw Cen MT" panose="020B0602020104020603" pitchFamily="34" charset="0"/>
                  </a:rPr>
                  <a:t>Thanks for </a:t>
                </a:r>
                <a:r>
                  <a:rPr lang="en-US" sz="4000" b="1" dirty="0">
                    <a:solidFill>
                      <a:srgbClr val="1CA6DB"/>
                    </a:solidFill>
                    <a:latin typeface="Tw Cen MT" panose="020B0602020104020603" pitchFamily="34" charset="0"/>
                  </a:rPr>
                  <a:t>Listening</a:t>
                </a:r>
                <a:r>
                  <a:rPr lang="en-US" sz="4000" b="1" dirty="0">
                    <a:solidFill>
                      <a:srgbClr val="FF5969"/>
                    </a:solidFill>
                    <a:latin typeface="Tw Cen MT" panose="020B0602020104020603" pitchFamily="34" charset="0"/>
                  </a:rPr>
                  <a:t> </a:t>
                </a:r>
                <a:r>
                  <a:rPr lang="en-US" sz="4000" b="1" dirty="0">
                    <a:solidFill>
                      <a:schemeClr val="tx1">
                        <a:lumMod val="65000"/>
                        <a:lumOff val="35000"/>
                      </a:schemeClr>
                    </a:solidFill>
                    <a:latin typeface="Tw Cen MT" panose="020B0602020104020603" pitchFamily="34" charset="0"/>
                  </a:rPr>
                  <a:t>with great patience</a:t>
                </a:r>
              </a:p>
            </p:txBody>
          </p:sp>
          <p:sp>
            <p:nvSpPr>
              <p:cNvPr id="4" name="TextBox 3">
                <a:extLst>
                  <a:ext uri="{FF2B5EF4-FFF2-40B4-BE49-F238E27FC236}">
                    <a16:creationId xmlns:a16="http://schemas.microsoft.com/office/drawing/2014/main" id="{FD9B867B-0FEC-3CF1-3541-533F81526A99}"/>
                  </a:ext>
                </a:extLst>
              </p:cNvPr>
              <p:cNvSpPr txBox="1"/>
              <p:nvPr/>
            </p:nvSpPr>
            <p:spPr>
              <a:xfrm>
                <a:off x="4136103" y="4060031"/>
                <a:ext cx="4408966" cy="707886"/>
              </a:xfrm>
              <a:prstGeom prst="rect">
                <a:avLst/>
              </a:prstGeom>
              <a:noFill/>
            </p:spPr>
            <p:txBody>
              <a:bodyPr wrap="square" rtlCol="0">
                <a:spAutoFit/>
              </a:bodyPr>
              <a:lstStyle/>
              <a:p>
                <a:r>
                  <a:rPr lang="en-US" sz="2000" b="1" dirty="0">
                    <a:solidFill>
                      <a:schemeClr val="tx1">
                        <a:lumMod val="65000"/>
                        <a:lumOff val="35000"/>
                      </a:schemeClr>
                    </a:solidFill>
                    <a:latin typeface="Tw Cen MT" panose="020B0602020104020603" pitchFamily="34" charset="0"/>
                  </a:rPr>
                  <a:t>We are pleased we shared our experience and </a:t>
                </a:r>
                <a:r>
                  <a:rPr lang="en-US" sz="2000" b="1" dirty="0" err="1">
                    <a:solidFill>
                      <a:schemeClr val="tx1">
                        <a:lumMod val="65000"/>
                        <a:lumOff val="35000"/>
                      </a:schemeClr>
                    </a:solidFill>
                    <a:latin typeface="Tw Cen MT" panose="020B0602020104020603" pitchFamily="34" charset="0"/>
                  </a:rPr>
                  <a:t>informations</a:t>
                </a:r>
                <a:r>
                  <a:rPr lang="en-US" sz="2000" b="1" dirty="0">
                    <a:solidFill>
                      <a:schemeClr val="tx1">
                        <a:lumMod val="65000"/>
                        <a:lumOff val="35000"/>
                      </a:schemeClr>
                    </a:solidFill>
                    <a:latin typeface="Tw Cen MT" panose="020B0602020104020603" pitchFamily="34" charset="0"/>
                  </a:rPr>
                  <a:t> with you!</a:t>
                </a:r>
              </a:p>
            </p:txBody>
          </p:sp>
        </p:grpSp>
        <p:sp>
          <p:nvSpPr>
            <p:cNvPr id="5" name="Oval 4">
              <a:extLst>
                <a:ext uri="{FF2B5EF4-FFF2-40B4-BE49-F238E27FC236}">
                  <a16:creationId xmlns:a16="http://schemas.microsoft.com/office/drawing/2014/main" id="{6C7CD66C-10BE-C061-F7DC-CCD0D9AD9C56}"/>
                </a:ext>
              </a:extLst>
            </p:cNvPr>
            <p:cNvSpPr/>
            <p:nvPr/>
          </p:nvSpPr>
          <p:spPr>
            <a:xfrm>
              <a:off x="2610152" y="1854584"/>
              <a:ext cx="3117876" cy="3117876"/>
            </a:xfrm>
            <a:prstGeom prst="ellipse">
              <a:avLst/>
            </a:prstGeom>
            <a:solidFill>
              <a:schemeClr val="bg1">
                <a:lumMod val="95000"/>
              </a:schemeClr>
            </a:solidFill>
            <a:ln>
              <a:noFill/>
            </a:ln>
            <a:effectLst>
              <a:outerShdw blurRad="101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25544E8-E14F-22DD-B2FE-34547D361597}"/>
                </a:ext>
              </a:extLst>
            </p:cNvPr>
            <p:cNvSpPr/>
            <p:nvPr/>
          </p:nvSpPr>
          <p:spPr>
            <a:xfrm>
              <a:off x="2949113" y="2193545"/>
              <a:ext cx="2439954" cy="2439954"/>
            </a:xfrm>
            <a:prstGeom prst="ellipse">
              <a:avLst/>
            </a:prstGeom>
            <a:solidFill>
              <a:srgbClr val="1CA6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92FFE77-AEE5-092D-7277-B09A8CB2A07D}"/>
                </a:ext>
              </a:extLst>
            </p:cNvPr>
            <p:cNvSpPr/>
            <p:nvPr/>
          </p:nvSpPr>
          <p:spPr>
            <a:xfrm>
              <a:off x="3165278" y="2409710"/>
              <a:ext cx="2007624" cy="2007624"/>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F02A1909-E5CB-0248-C1FC-7F3BC9B9C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361" y="2539793"/>
              <a:ext cx="1747457" cy="1747457"/>
            </a:xfrm>
            <a:prstGeom prst="rect">
              <a:avLst/>
            </a:prstGeom>
          </p:spPr>
        </p:pic>
      </p:grpSp>
      <p:grpSp>
        <p:nvGrpSpPr>
          <p:cNvPr id="29" name="Group 28">
            <a:extLst>
              <a:ext uri="{FF2B5EF4-FFF2-40B4-BE49-F238E27FC236}">
                <a16:creationId xmlns:a16="http://schemas.microsoft.com/office/drawing/2014/main" id="{984BA413-B91D-34BC-457C-5CB4350FE085}"/>
              </a:ext>
            </a:extLst>
          </p:cNvPr>
          <p:cNvGrpSpPr/>
          <p:nvPr/>
        </p:nvGrpSpPr>
        <p:grpSpPr>
          <a:xfrm>
            <a:off x="9766344" y="0"/>
            <a:ext cx="2425656" cy="432651"/>
            <a:chOff x="8758971" y="310479"/>
            <a:chExt cx="2538533" cy="346380"/>
          </a:xfrm>
        </p:grpSpPr>
        <p:grpSp>
          <p:nvGrpSpPr>
            <p:cNvPr id="30" name="Group 29">
              <a:extLst>
                <a:ext uri="{FF2B5EF4-FFF2-40B4-BE49-F238E27FC236}">
                  <a16:creationId xmlns:a16="http://schemas.microsoft.com/office/drawing/2014/main" id="{90CE4EDD-4BD3-C769-FB4E-533A41E654FA}"/>
                </a:ext>
              </a:extLst>
            </p:cNvPr>
            <p:cNvGrpSpPr/>
            <p:nvPr/>
          </p:nvGrpSpPr>
          <p:grpSpPr>
            <a:xfrm>
              <a:off x="8758971" y="310479"/>
              <a:ext cx="2538533" cy="346380"/>
              <a:chOff x="8758971" y="310479"/>
              <a:chExt cx="2538533" cy="346380"/>
            </a:xfrm>
          </p:grpSpPr>
          <p:sp>
            <p:nvSpPr>
              <p:cNvPr id="32" name="Rectangle 31">
                <a:extLst>
                  <a:ext uri="{FF2B5EF4-FFF2-40B4-BE49-F238E27FC236}">
                    <a16:creationId xmlns:a16="http://schemas.microsoft.com/office/drawing/2014/main" id="{C5B9F6EA-E2A0-3A80-B470-53E7D8153552}"/>
                  </a:ext>
                </a:extLst>
              </p:cNvPr>
              <p:cNvSpPr/>
              <p:nvPr/>
            </p:nvSpPr>
            <p:spPr>
              <a:xfrm>
                <a:off x="9418928" y="310479"/>
                <a:ext cx="1878576" cy="346380"/>
              </a:xfrm>
              <a:prstGeom prst="rect">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Parallelogram 32">
                <a:extLst>
                  <a:ext uri="{FF2B5EF4-FFF2-40B4-BE49-F238E27FC236}">
                    <a16:creationId xmlns:a16="http://schemas.microsoft.com/office/drawing/2014/main" id="{B0E0CD36-2655-3188-17C9-0B02F316C0B7}"/>
                  </a:ext>
                </a:extLst>
              </p:cNvPr>
              <p:cNvSpPr/>
              <p:nvPr/>
            </p:nvSpPr>
            <p:spPr>
              <a:xfrm rot="10800000">
                <a:off x="8758971" y="310481"/>
                <a:ext cx="2438400" cy="346378"/>
              </a:xfrm>
              <a:prstGeom prst="parallelogram">
                <a:avLst/>
              </a:prstGeom>
              <a:solidFill>
                <a:srgbClr val="1CA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31" name="TextBox 30">
              <a:extLst>
                <a:ext uri="{FF2B5EF4-FFF2-40B4-BE49-F238E27FC236}">
                  <a16:creationId xmlns:a16="http://schemas.microsoft.com/office/drawing/2014/main" id="{BEF1133D-92AD-007A-DFBD-E081EB229F79}"/>
                </a:ext>
              </a:extLst>
            </p:cNvPr>
            <p:cNvSpPr txBox="1"/>
            <p:nvPr/>
          </p:nvSpPr>
          <p:spPr>
            <a:xfrm>
              <a:off x="8870601" y="341986"/>
              <a:ext cx="2388333" cy="283366"/>
            </a:xfrm>
            <a:prstGeom prst="rect">
              <a:avLst/>
            </a:prstGeom>
            <a:noFill/>
          </p:spPr>
          <p:txBody>
            <a:bodyPr wrap="square" rtlCol="0">
              <a:spAutoFit/>
            </a:bodyPr>
            <a:lstStyle/>
            <a:p>
              <a:pPr algn="ctr"/>
              <a:r>
                <a:rPr lang="en-US" sz="1700" kern="1200" dirty="0">
                  <a:solidFill>
                    <a:srgbClr val="FFFFFF"/>
                  </a:solidFill>
                  <a:effectLst/>
                  <a:latin typeface="Trebuchet MS" panose="020B0603020202020204" pitchFamily="34" charset="0"/>
                  <a:ea typeface="+mn-ea"/>
                  <a:cs typeface="+mn-cs"/>
                </a:rPr>
                <a:t>THE END</a:t>
              </a:r>
              <a:endParaRPr lang="fr-FR" sz="1700" dirty="0">
                <a:effectLst/>
              </a:endParaRPr>
            </a:p>
          </p:txBody>
        </p:sp>
      </p:grpSp>
    </p:spTree>
    <p:extLst>
      <p:ext uri="{BB962C8B-B14F-4D97-AF65-F5344CB8AC3E}">
        <p14:creationId xmlns:p14="http://schemas.microsoft.com/office/powerpoint/2010/main" val="25745580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3174</TotalTime>
  <Words>1970</Words>
  <Application>Microsoft Office PowerPoint</Application>
  <PresentationFormat>Grand écran</PresentationFormat>
  <Paragraphs>294</Paragraphs>
  <Slides>28</Slides>
  <Notes>3</Notes>
  <HiddenSlides>0</HiddenSlides>
  <MMClips>0</MMClips>
  <ScaleCrop>false</ScaleCrop>
  <HeadingPairs>
    <vt:vector size="6" baseType="variant">
      <vt:variant>
        <vt:lpstr>Polices utilisées</vt:lpstr>
      </vt:variant>
      <vt:variant>
        <vt:i4>13</vt:i4>
      </vt:variant>
      <vt:variant>
        <vt:lpstr>Thème</vt:lpstr>
      </vt:variant>
      <vt:variant>
        <vt:i4>3</vt:i4>
      </vt:variant>
      <vt:variant>
        <vt:lpstr>Titres des diapositives</vt:lpstr>
      </vt:variant>
      <vt:variant>
        <vt:i4>28</vt:i4>
      </vt:variant>
    </vt:vector>
  </HeadingPairs>
  <TitlesOfParts>
    <vt:vector size="44" baseType="lpstr">
      <vt:lpstr>Arial</vt:lpstr>
      <vt:lpstr>Calibri</vt:lpstr>
      <vt:lpstr>Calibri Light</vt:lpstr>
      <vt:lpstr>Cambria</vt:lpstr>
      <vt:lpstr>Courier New</vt:lpstr>
      <vt:lpstr>Segoe UI Historic</vt:lpstr>
      <vt:lpstr>Symbol</vt:lpstr>
      <vt:lpstr>Tahoma</vt:lpstr>
      <vt:lpstr>Times New Roman</vt:lpstr>
      <vt:lpstr>Trebuchet MS</vt:lpstr>
      <vt:lpstr>Tw Cen MT</vt:lpstr>
      <vt:lpstr>Wingdings</vt:lpstr>
      <vt:lpstr>Wingdings 3</vt:lpstr>
      <vt:lpstr>Office Theme</vt:lpstr>
      <vt:lpstr>Custom Design</vt:lpstr>
      <vt:lpstr>Facet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bouguelta</dc:creator>
  <cp:lastModifiedBy>omar bouguelta</cp:lastModifiedBy>
  <cp:revision>25</cp:revision>
  <dcterms:created xsi:type="dcterms:W3CDTF">2025-05-10T13:28:00Z</dcterms:created>
  <dcterms:modified xsi:type="dcterms:W3CDTF">2026-03-24T18:11:29Z</dcterms:modified>
</cp:coreProperties>
</file>